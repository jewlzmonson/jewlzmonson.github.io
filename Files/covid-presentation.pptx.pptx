
<file path=[Content_Types].xml><?xml version="1.0" encoding="utf-8"?>
<Types xmlns="http://schemas.openxmlformats.org/package/2006/content-types">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charts/chart3.xml" ContentType="application/vnd.openxmlformats-officedocument.drawingml.chart+xml"/>
  <Override PartName="/ppt/notesSlides/notesSlide12.xml" ContentType="application/vnd.openxmlformats-officedocument.presentationml.notesSlide+xml"/>
  <Override PartName="/ppt/media/image2.jpg" ContentType="image/jpg"/>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6" d="100"/>
          <a:sy n="66" d="100"/>
        </p:scale>
        <p:origin x="605" y="5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bar"/>
        <c:grouping val="clustered"/>
        <c:varyColors val="0"/>
        <c:ser>
          <c:idx val="0"/>
          <c:order val="0"/>
          <c:tx>
            <c:strRef>
              <c:f>Sheet1!$B$1</c:f>
              <c:strCache>
                <c:ptCount val="1"/>
                <c:pt idx="0">
                  <c:v>Total Deaths</c:v>
                </c:pt>
              </c:strCache>
            </c:strRef>
          </c:tx>
          <c:spPr>
            <a:solidFill>
              <a:srgbClr val="0E8388"/>
            </a:solidFill>
            <a:effectLst/>
          </c:spPr>
          <c:invertIfNegative val="0"/>
          <c:dLbls>
            <c:numFmt formatCode="#,##0" sourceLinked="0"/>
            <c:spPr>
              <a:noFill/>
              <a:ln>
                <a:noFill/>
              </a:ln>
              <a:effectLst/>
            </c:spPr>
            <c:txPr>
              <a:bodyPr/>
              <a:lstStyle/>
              <a:p>
                <a:pPr>
                  <a:defRPr sz="1000" b="0" i="0" u="none" strike="noStrike">
                    <a:solidFill>
                      <a:srgbClr val="0F3D4C"/>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North America</c:v>
                </c:pt>
                <c:pt idx="1">
                  <c:v>South America</c:v>
                </c:pt>
                <c:pt idx="2">
                  <c:v>Europe</c:v>
                </c:pt>
                <c:pt idx="3">
                  <c:v>Asia</c:v>
                </c:pt>
                <c:pt idx="4">
                  <c:v>Africa</c:v>
                </c:pt>
                <c:pt idx="5">
                  <c:v>Oceania</c:v>
                </c:pt>
              </c:strCache>
            </c:strRef>
          </c:cat>
          <c:val>
            <c:numRef>
              <c:f>Sheet1!$B$2:$B$7</c:f>
              <c:numCache>
                <c:formatCode>General</c:formatCode>
                <c:ptCount val="6"/>
                <c:pt idx="0">
                  <c:v>575000</c:v>
                </c:pt>
                <c:pt idx="1">
                  <c:v>425000</c:v>
                </c:pt>
                <c:pt idx="2">
                  <c:v>220000</c:v>
                </c:pt>
                <c:pt idx="3">
                  <c:v>130000</c:v>
                </c:pt>
                <c:pt idx="4">
                  <c:v>45000</c:v>
                </c:pt>
                <c:pt idx="5">
                  <c:v>5000</c:v>
                </c:pt>
              </c:numCache>
            </c:numRef>
          </c:val>
          <c:extLst>
            <c:ext xmlns:c16="http://schemas.microsoft.com/office/drawing/2014/chart" uri="{C3380CC4-5D6E-409C-BE32-E72D297353CC}">
              <c16:uniqueId val="{00000000-077E-48A5-94D8-21D9F9D5673A}"/>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E1E1E"/>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5E0D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6B72"/>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Pre-Vaccination Era (2020)</c:v>
                </c:pt>
              </c:strCache>
            </c:strRef>
          </c:tx>
          <c:spPr>
            <a:solidFill>
              <a:srgbClr val="5A6B72"/>
            </a:solidFill>
            <a:effectLst/>
          </c:spPr>
          <c:invertIfNegative val="0"/>
          <c:cat>
            <c:strRef>
              <c:f>Sheet1!$A$2:$A$6</c:f>
              <c:strCache>
                <c:ptCount val="5"/>
                <c:pt idx="0">
                  <c:v>China</c:v>
                </c:pt>
                <c:pt idx="1">
                  <c:v>India</c:v>
                </c:pt>
                <c:pt idx="2">
                  <c:v>Mexico</c:v>
                </c:pt>
                <c:pt idx="3">
                  <c:v>United Kingdom</c:v>
                </c:pt>
                <c:pt idx="4">
                  <c:v>United States</c:v>
                </c:pt>
              </c:strCache>
            </c:strRef>
          </c:cat>
          <c:val>
            <c:numRef>
              <c:f>Sheet1!$B$2:$B$6</c:f>
              <c:numCache>
                <c:formatCode>General</c:formatCode>
                <c:ptCount val="5"/>
                <c:pt idx="0">
                  <c:v>4.8</c:v>
                </c:pt>
                <c:pt idx="1">
                  <c:v>1.6</c:v>
                </c:pt>
                <c:pt idx="2">
                  <c:v>9.5</c:v>
                </c:pt>
                <c:pt idx="3">
                  <c:v>3.2</c:v>
                </c:pt>
                <c:pt idx="4">
                  <c:v>1.9</c:v>
                </c:pt>
              </c:numCache>
            </c:numRef>
          </c:val>
          <c:extLst>
            <c:ext xmlns:c16="http://schemas.microsoft.com/office/drawing/2014/chart" uri="{C3380CC4-5D6E-409C-BE32-E72D297353CC}">
              <c16:uniqueId val="{00000000-D9F2-4B23-8573-A0B079D5D9DB}"/>
            </c:ext>
          </c:extLst>
        </c:ser>
        <c:ser>
          <c:idx val="1"/>
          <c:order val="1"/>
          <c:tx>
            <c:strRef>
              <c:f>Sheet1!$C$1</c:f>
              <c:strCache>
                <c:ptCount val="1"/>
                <c:pt idx="0">
                  <c:v>Early Vaccination Era (2021)</c:v>
                </c:pt>
              </c:strCache>
            </c:strRef>
          </c:tx>
          <c:spPr>
            <a:solidFill>
              <a:srgbClr val="0E8388"/>
            </a:solidFill>
            <a:effectLst/>
          </c:spPr>
          <c:invertIfNegative val="0"/>
          <c:cat>
            <c:strRef>
              <c:f>Sheet1!$A$2:$A$6</c:f>
              <c:strCache>
                <c:ptCount val="5"/>
                <c:pt idx="0">
                  <c:v>China</c:v>
                </c:pt>
                <c:pt idx="1">
                  <c:v>India</c:v>
                </c:pt>
                <c:pt idx="2">
                  <c:v>Mexico</c:v>
                </c:pt>
                <c:pt idx="3">
                  <c:v>United Kingdom</c:v>
                </c:pt>
                <c:pt idx="4">
                  <c:v>United States</c:v>
                </c:pt>
              </c:strCache>
            </c:strRef>
          </c:cat>
          <c:val>
            <c:numRef>
              <c:f>Sheet1!$C$2:$C$6</c:f>
              <c:numCache>
                <c:formatCode>General</c:formatCode>
                <c:ptCount val="5"/>
                <c:pt idx="0">
                  <c:v>1.1000000000000001</c:v>
                </c:pt>
                <c:pt idx="1">
                  <c:v>1.2</c:v>
                </c:pt>
                <c:pt idx="2">
                  <c:v>8</c:v>
                </c:pt>
                <c:pt idx="3">
                  <c:v>2</c:v>
                </c:pt>
                <c:pt idx="4">
                  <c:v>1.6</c:v>
                </c:pt>
              </c:numCache>
            </c:numRef>
          </c:val>
          <c:extLst>
            <c:ext xmlns:c16="http://schemas.microsoft.com/office/drawing/2014/chart" uri="{C3380CC4-5D6E-409C-BE32-E72D297353CC}">
              <c16:uniqueId val="{00000001-D9F2-4B23-8573-A0B079D5D9DB}"/>
            </c:ext>
          </c:extLst>
        </c:ser>
        <c:dLbls>
          <c:showLegendKey val="0"/>
          <c:showVal val="0"/>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E1E1E"/>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5E0D5"/>
              </a:solidFill>
              <a:prstDash val="solid"/>
              <a:round/>
            </a:ln>
          </c:spPr>
        </c:majorGridlines>
        <c:title>
          <c:tx>
            <c:rich>
              <a:bodyPr/>
              <a:lstStyle/>
              <a:p>
                <a:pPr>
                  <a:defRPr sz="1100" b="0" i="0" u="none" strike="noStrike">
                    <a:solidFill>
                      <a:srgbClr val="5A6B72"/>
                    </a:solidFill>
                    <a:latin typeface="Calibri"/>
                  </a:defRPr>
                </a:pPr>
                <a:r>
                  <a:rPr lang="en-US" sz="1100" b="0" i="0" u="none" strike="noStrike">
                    <a:solidFill>
                      <a:srgbClr val="5A6B72"/>
                    </a:solidFill>
                    <a:latin typeface="Calibri"/>
                  </a:rPr>
                  <a:t>Case Fatality Rate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B72"/>
                </a:solidFill>
                <a:latin typeface="Calibri"/>
              </a:defRPr>
            </a:pPr>
            <a:endParaRPr lang="en-US"/>
          </a:p>
        </c:txPr>
        <c:crossAx val="2094734554"/>
        <c:crosses val="autoZero"/>
        <c:crossBetween val="between"/>
      </c:valAx>
      <c:spPr>
        <a:solidFill>
          <a:srgbClr val="FFFFFF"/>
        </a:solidFill>
        <a:ln>
          <a:noFill/>
        </a:ln>
        <a:effectLst/>
      </c:spPr>
    </c:plotArea>
    <c:legend>
      <c:legendPos val="t"/>
      <c:overlay val="0"/>
      <c:txPr>
        <a:bodyPr/>
        <a:lstStyle/>
        <a:p>
          <a:pPr>
            <a:defRPr sz="1100">
              <a:solidFill>
                <a:srgbClr val="1E1E1E"/>
              </a:solidFill>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United States</c:v>
                </c:pt>
              </c:strCache>
            </c:strRef>
          </c:tx>
          <c:spPr>
            <a:ln w="25400" cap="flat">
              <a:solidFill>
                <a:srgbClr val="0E8388"/>
              </a:solidFill>
              <a:prstDash val="solid"/>
              <a:round/>
            </a:ln>
            <a:effectLst/>
          </c:spPr>
          <c:marker>
            <c:symbol val="circle"/>
            <c:size val="6"/>
            <c:spPr>
              <a:solidFill>
                <a:srgbClr val="0E8388"/>
              </a:solidFill>
              <a:ln w="9525" cap="flat">
                <a:solidFill>
                  <a:srgbClr val="0E8388"/>
                </a:solidFill>
                <a:prstDash val="solid"/>
                <a:round/>
              </a:ln>
              <a:effectLst/>
            </c:spPr>
          </c:marker>
          <c:cat>
            <c:strRef>
              <c:f>Sheet1!$A$2:$A$10</c:f>
              <c:strCache>
                <c:ptCount val="9"/>
                <c:pt idx="0">
                  <c:v>Jan '21</c:v>
                </c:pt>
                <c:pt idx="1">
                  <c:v>Feb '21</c:v>
                </c:pt>
                <c:pt idx="2">
                  <c:v>Mar '21</c:v>
                </c:pt>
                <c:pt idx="3">
                  <c:v>Apr '21</c:v>
                </c:pt>
                <c:pt idx="4">
                  <c:v>May '21</c:v>
                </c:pt>
                <c:pt idx="5">
                  <c:v>Jun '21</c:v>
                </c:pt>
                <c:pt idx="6">
                  <c:v>Jul '21</c:v>
                </c:pt>
                <c:pt idx="7">
                  <c:v>Aug '21</c:v>
                </c:pt>
                <c:pt idx="8">
                  <c:v>Sep '21</c:v>
                </c:pt>
              </c:strCache>
            </c:strRef>
          </c:cat>
          <c:val>
            <c:numRef>
              <c:f>Sheet1!$B$2:$B$10</c:f>
              <c:numCache>
                <c:formatCode>General</c:formatCode>
                <c:ptCount val="9"/>
                <c:pt idx="0">
                  <c:v>12</c:v>
                </c:pt>
                <c:pt idx="1">
                  <c:v>45</c:v>
                </c:pt>
                <c:pt idx="2">
                  <c:v>105</c:v>
                </c:pt>
                <c:pt idx="3">
                  <c:v>195</c:v>
                </c:pt>
                <c:pt idx="4">
                  <c:v>270</c:v>
                </c:pt>
                <c:pt idx="5">
                  <c:v>320</c:v>
                </c:pt>
                <c:pt idx="6">
                  <c:v>350</c:v>
                </c:pt>
                <c:pt idx="7">
                  <c:v>370</c:v>
                </c:pt>
                <c:pt idx="8">
                  <c:v>385</c:v>
                </c:pt>
              </c:numCache>
            </c:numRef>
          </c:val>
          <c:smooth val="0"/>
          <c:extLst>
            <c:ext xmlns:c16="http://schemas.microsoft.com/office/drawing/2014/chart" uri="{C3380CC4-5D6E-409C-BE32-E72D297353CC}">
              <c16:uniqueId val="{00000000-F110-4B82-A581-17CA2F9DCF20}"/>
            </c:ext>
          </c:extLst>
        </c:ser>
        <c:ser>
          <c:idx val="1"/>
          <c:order val="1"/>
          <c:tx>
            <c:strRef>
              <c:f>Sheet1!$C$1</c:f>
              <c:strCache>
                <c:ptCount val="1"/>
                <c:pt idx="0">
                  <c:v>United Kingdom</c:v>
                </c:pt>
              </c:strCache>
            </c:strRef>
          </c:tx>
          <c:spPr>
            <a:ln w="25400" cap="flat">
              <a:solidFill>
                <a:srgbClr val="0F3D4C"/>
              </a:solidFill>
              <a:prstDash val="solid"/>
              <a:round/>
            </a:ln>
            <a:effectLst/>
          </c:spPr>
          <c:marker>
            <c:symbol val="circle"/>
            <c:size val="6"/>
            <c:spPr>
              <a:solidFill>
                <a:srgbClr val="0F3D4C"/>
              </a:solidFill>
              <a:ln w="9525" cap="flat">
                <a:solidFill>
                  <a:srgbClr val="0F3D4C"/>
                </a:solidFill>
                <a:prstDash val="solid"/>
                <a:round/>
              </a:ln>
              <a:effectLst/>
            </c:spPr>
          </c:marker>
          <c:cat>
            <c:strRef>
              <c:f>Sheet1!$A$2:$A$10</c:f>
              <c:strCache>
                <c:ptCount val="9"/>
                <c:pt idx="0">
                  <c:v>Jan '21</c:v>
                </c:pt>
                <c:pt idx="1">
                  <c:v>Feb '21</c:v>
                </c:pt>
                <c:pt idx="2">
                  <c:v>Mar '21</c:v>
                </c:pt>
                <c:pt idx="3">
                  <c:v>Apr '21</c:v>
                </c:pt>
                <c:pt idx="4">
                  <c:v>May '21</c:v>
                </c:pt>
                <c:pt idx="5">
                  <c:v>Jun '21</c:v>
                </c:pt>
                <c:pt idx="6">
                  <c:v>Jul '21</c:v>
                </c:pt>
                <c:pt idx="7">
                  <c:v>Aug '21</c:v>
                </c:pt>
                <c:pt idx="8">
                  <c:v>Sep '21</c:v>
                </c:pt>
              </c:strCache>
            </c:strRef>
          </c:cat>
          <c:val>
            <c:numRef>
              <c:f>Sheet1!$C$2:$C$10</c:f>
              <c:numCache>
                <c:formatCode>General</c:formatCode>
                <c:ptCount val="9"/>
                <c:pt idx="0">
                  <c:v>10</c:v>
                </c:pt>
                <c:pt idx="1">
                  <c:v>25</c:v>
                </c:pt>
                <c:pt idx="2">
                  <c:v>40</c:v>
                </c:pt>
                <c:pt idx="3">
                  <c:v>55</c:v>
                </c:pt>
                <c:pt idx="4">
                  <c:v>70</c:v>
                </c:pt>
                <c:pt idx="5">
                  <c:v>85</c:v>
                </c:pt>
                <c:pt idx="6">
                  <c:v>95</c:v>
                </c:pt>
                <c:pt idx="7">
                  <c:v>100</c:v>
                </c:pt>
                <c:pt idx="8">
                  <c:v>105</c:v>
                </c:pt>
              </c:numCache>
            </c:numRef>
          </c:val>
          <c:smooth val="0"/>
          <c:extLst>
            <c:ext xmlns:c16="http://schemas.microsoft.com/office/drawing/2014/chart" uri="{C3380CC4-5D6E-409C-BE32-E72D297353CC}">
              <c16:uniqueId val="{00000001-F110-4B82-A581-17CA2F9DCF20}"/>
            </c:ext>
          </c:extLst>
        </c:ser>
        <c:ser>
          <c:idx val="2"/>
          <c:order val="2"/>
          <c:tx>
            <c:strRef>
              <c:f>Sheet1!$D$1</c:f>
              <c:strCache>
                <c:ptCount val="1"/>
                <c:pt idx="0">
                  <c:v>China</c:v>
                </c:pt>
              </c:strCache>
            </c:strRef>
          </c:tx>
          <c:spPr>
            <a:ln w="25400" cap="flat">
              <a:solidFill>
                <a:srgbClr val="E07A5F"/>
              </a:solidFill>
              <a:prstDash val="solid"/>
              <a:round/>
            </a:ln>
            <a:effectLst/>
          </c:spPr>
          <c:marker>
            <c:symbol val="circle"/>
            <c:size val="6"/>
            <c:spPr>
              <a:solidFill>
                <a:srgbClr val="E07A5F"/>
              </a:solidFill>
              <a:ln w="9525" cap="flat">
                <a:solidFill>
                  <a:srgbClr val="E07A5F"/>
                </a:solidFill>
                <a:prstDash val="solid"/>
                <a:round/>
              </a:ln>
              <a:effectLst/>
            </c:spPr>
          </c:marker>
          <c:cat>
            <c:strRef>
              <c:f>Sheet1!$A$2:$A$10</c:f>
              <c:strCache>
                <c:ptCount val="9"/>
                <c:pt idx="0">
                  <c:v>Jan '21</c:v>
                </c:pt>
                <c:pt idx="1">
                  <c:v>Feb '21</c:v>
                </c:pt>
                <c:pt idx="2">
                  <c:v>Mar '21</c:v>
                </c:pt>
                <c:pt idx="3">
                  <c:v>Apr '21</c:v>
                </c:pt>
                <c:pt idx="4">
                  <c:v>May '21</c:v>
                </c:pt>
                <c:pt idx="5">
                  <c:v>Jun '21</c:v>
                </c:pt>
                <c:pt idx="6">
                  <c:v>Jul '21</c:v>
                </c:pt>
                <c:pt idx="7">
                  <c:v>Aug '21</c:v>
                </c:pt>
                <c:pt idx="8">
                  <c:v>Sep '21</c:v>
                </c:pt>
              </c:strCache>
            </c:strRef>
          </c:cat>
          <c:val>
            <c:numRef>
              <c:f>Sheet1!$D$2:$D$10</c:f>
              <c:numCache>
                <c:formatCode>General</c:formatCode>
                <c:ptCount val="9"/>
                <c:pt idx="0">
                  <c:v>8</c:v>
                </c:pt>
                <c:pt idx="1">
                  <c:v>50</c:v>
                </c:pt>
                <c:pt idx="2">
                  <c:v>130</c:v>
                </c:pt>
                <c:pt idx="3">
                  <c:v>280</c:v>
                </c:pt>
                <c:pt idx="4">
                  <c:v>580</c:v>
                </c:pt>
                <c:pt idx="5">
                  <c:v>1200</c:v>
                </c:pt>
                <c:pt idx="6">
                  <c:v>1900</c:v>
                </c:pt>
                <c:pt idx="7">
                  <c:v>2400</c:v>
                </c:pt>
                <c:pt idx="8">
                  <c:v>2700</c:v>
                </c:pt>
              </c:numCache>
            </c:numRef>
          </c:val>
          <c:smooth val="0"/>
          <c:extLst>
            <c:ext xmlns:c16="http://schemas.microsoft.com/office/drawing/2014/chart" uri="{C3380CC4-5D6E-409C-BE32-E72D297353CC}">
              <c16:uniqueId val="{00000002-F110-4B82-A581-17CA2F9DCF20}"/>
            </c:ext>
          </c:extLst>
        </c:ser>
        <c:ser>
          <c:idx val="3"/>
          <c:order val="3"/>
          <c:tx>
            <c:strRef>
              <c:f>Sheet1!$E$1</c:f>
              <c:strCache>
                <c:ptCount val="1"/>
                <c:pt idx="0">
                  <c:v>India</c:v>
                </c:pt>
              </c:strCache>
            </c:strRef>
          </c:tx>
          <c:spPr>
            <a:ln w="25400" cap="flat">
              <a:solidFill>
                <a:srgbClr val="2E8B7B"/>
              </a:solidFill>
              <a:prstDash val="solid"/>
              <a:round/>
            </a:ln>
            <a:effectLst/>
          </c:spPr>
          <c:marker>
            <c:symbol val="circle"/>
            <c:size val="6"/>
            <c:spPr>
              <a:solidFill>
                <a:srgbClr val="2E8B7B"/>
              </a:solidFill>
              <a:ln w="9525" cap="flat">
                <a:solidFill>
                  <a:srgbClr val="2E8B7B"/>
                </a:solidFill>
                <a:prstDash val="solid"/>
                <a:round/>
              </a:ln>
              <a:effectLst/>
            </c:spPr>
          </c:marker>
          <c:cat>
            <c:strRef>
              <c:f>Sheet1!$A$2:$A$10</c:f>
              <c:strCache>
                <c:ptCount val="9"/>
                <c:pt idx="0">
                  <c:v>Jan '21</c:v>
                </c:pt>
                <c:pt idx="1">
                  <c:v>Feb '21</c:v>
                </c:pt>
                <c:pt idx="2">
                  <c:v>Mar '21</c:v>
                </c:pt>
                <c:pt idx="3">
                  <c:v>Apr '21</c:v>
                </c:pt>
                <c:pt idx="4">
                  <c:v>May '21</c:v>
                </c:pt>
                <c:pt idx="5">
                  <c:v>Jun '21</c:v>
                </c:pt>
                <c:pt idx="6">
                  <c:v>Jul '21</c:v>
                </c:pt>
                <c:pt idx="7">
                  <c:v>Aug '21</c:v>
                </c:pt>
                <c:pt idx="8">
                  <c:v>Sep '21</c:v>
                </c:pt>
              </c:strCache>
            </c:strRef>
          </c:cat>
          <c:val>
            <c:numRef>
              <c:f>Sheet1!$E$2:$E$10</c:f>
              <c:numCache>
                <c:formatCode>General</c:formatCode>
                <c:ptCount val="9"/>
                <c:pt idx="0">
                  <c:v>3</c:v>
                </c:pt>
                <c:pt idx="1">
                  <c:v>15</c:v>
                </c:pt>
                <c:pt idx="2">
                  <c:v>40</c:v>
                </c:pt>
                <c:pt idx="3">
                  <c:v>130</c:v>
                </c:pt>
                <c:pt idx="4">
                  <c:v>220</c:v>
                </c:pt>
                <c:pt idx="5">
                  <c:v>310</c:v>
                </c:pt>
                <c:pt idx="6">
                  <c:v>470</c:v>
                </c:pt>
                <c:pt idx="7">
                  <c:v>700</c:v>
                </c:pt>
                <c:pt idx="8">
                  <c:v>880</c:v>
                </c:pt>
              </c:numCache>
            </c:numRef>
          </c:val>
          <c:smooth val="0"/>
          <c:extLst>
            <c:ext xmlns:c16="http://schemas.microsoft.com/office/drawing/2014/chart" uri="{C3380CC4-5D6E-409C-BE32-E72D297353CC}">
              <c16:uniqueId val="{00000003-F110-4B82-A581-17CA2F9DCF20}"/>
            </c:ext>
          </c:extLst>
        </c:ser>
        <c:ser>
          <c:idx val="4"/>
          <c:order val="4"/>
          <c:tx>
            <c:strRef>
              <c:f>Sheet1!$F$1</c:f>
              <c:strCache>
                <c:ptCount val="1"/>
                <c:pt idx="0">
                  <c:v>Mexico</c:v>
                </c:pt>
              </c:strCache>
            </c:strRef>
          </c:tx>
          <c:spPr>
            <a:ln w="25400" cap="flat">
              <a:solidFill>
                <a:srgbClr val="5A6B72"/>
              </a:solidFill>
              <a:prstDash val="solid"/>
              <a:round/>
            </a:ln>
            <a:effectLst/>
          </c:spPr>
          <c:marker>
            <c:symbol val="circle"/>
            <c:size val="6"/>
            <c:spPr>
              <a:solidFill>
                <a:srgbClr val="5A6B72"/>
              </a:solidFill>
              <a:ln w="9525" cap="flat">
                <a:solidFill>
                  <a:srgbClr val="5A6B72"/>
                </a:solidFill>
                <a:prstDash val="solid"/>
                <a:round/>
              </a:ln>
              <a:effectLst/>
            </c:spPr>
          </c:marker>
          <c:cat>
            <c:strRef>
              <c:f>Sheet1!$A$2:$A$10</c:f>
              <c:strCache>
                <c:ptCount val="9"/>
                <c:pt idx="0">
                  <c:v>Jan '21</c:v>
                </c:pt>
                <c:pt idx="1">
                  <c:v>Feb '21</c:v>
                </c:pt>
                <c:pt idx="2">
                  <c:v>Mar '21</c:v>
                </c:pt>
                <c:pt idx="3">
                  <c:v>Apr '21</c:v>
                </c:pt>
                <c:pt idx="4">
                  <c:v>May '21</c:v>
                </c:pt>
                <c:pt idx="5">
                  <c:v>Jun '21</c:v>
                </c:pt>
                <c:pt idx="6">
                  <c:v>Jul '21</c:v>
                </c:pt>
                <c:pt idx="7">
                  <c:v>Aug '21</c:v>
                </c:pt>
                <c:pt idx="8">
                  <c:v>Sep '21</c:v>
                </c:pt>
              </c:strCache>
            </c:strRef>
          </c:cat>
          <c:val>
            <c:numRef>
              <c:f>Sheet1!$F$2:$F$10</c:f>
              <c:numCache>
                <c:formatCode>General</c:formatCode>
                <c:ptCount val="9"/>
                <c:pt idx="0">
                  <c:v>1</c:v>
                </c:pt>
                <c:pt idx="1">
                  <c:v>4</c:v>
                </c:pt>
                <c:pt idx="2">
                  <c:v>8</c:v>
                </c:pt>
                <c:pt idx="3">
                  <c:v>14</c:v>
                </c:pt>
                <c:pt idx="4">
                  <c:v>22</c:v>
                </c:pt>
                <c:pt idx="5">
                  <c:v>32</c:v>
                </c:pt>
                <c:pt idx="6">
                  <c:v>42</c:v>
                </c:pt>
                <c:pt idx="7">
                  <c:v>55</c:v>
                </c:pt>
                <c:pt idx="8">
                  <c:v>70</c:v>
                </c:pt>
              </c:numCache>
            </c:numRef>
          </c:val>
          <c:smooth val="0"/>
          <c:extLst>
            <c:ext xmlns:c16="http://schemas.microsoft.com/office/drawing/2014/chart" uri="{C3380CC4-5D6E-409C-BE32-E72D297353CC}">
              <c16:uniqueId val="{00000004-F110-4B82-A581-17CA2F9DCF20}"/>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E1E1E"/>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5E0D5"/>
              </a:solidFill>
              <a:prstDash val="solid"/>
              <a:round/>
            </a:ln>
          </c:spPr>
        </c:majorGridlines>
        <c:title>
          <c:tx>
            <c:rich>
              <a:bodyPr/>
              <a:lstStyle/>
              <a:p>
                <a:pPr>
                  <a:defRPr sz="1100" b="0" i="0" u="none" strike="noStrike">
                    <a:solidFill>
                      <a:srgbClr val="5A6B72"/>
                    </a:solidFill>
                    <a:latin typeface="Calibri"/>
                  </a:defRPr>
                </a:pPr>
                <a:r>
                  <a:rPr lang="en-US" sz="1100" b="0" i="0" u="none" strike="noStrike">
                    <a:solidFill>
                      <a:srgbClr val="5A6B72"/>
                    </a:solidFill>
                    <a:latin typeface="Calibri"/>
                  </a:rPr>
                  <a:t>Cumulative Vaccinations (millions)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B72"/>
                </a:solidFill>
                <a:latin typeface="Calibri"/>
              </a:defRPr>
            </a:pPr>
            <a:endParaRPr lang="en-US"/>
          </a:p>
        </c:txPr>
        <c:crossAx val="2094734554"/>
        <c:crosses val="autoZero"/>
        <c:crossBetween val="between"/>
      </c:valAx>
      <c:spPr>
        <a:solidFill>
          <a:srgbClr val="FFFFFF"/>
        </a:solidFill>
        <a:ln>
          <a:noFill/>
        </a:ln>
        <a:effectLst/>
      </c:spPr>
    </c:plotArea>
    <c:legend>
      <c:legendPos val="t"/>
      <c:overlay val="0"/>
      <c:txPr>
        <a:bodyPr/>
        <a:lstStyle/>
        <a:p>
          <a:pPr>
            <a:defRPr sz="1100">
              <a:solidFill>
                <a:srgbClr val="1E1E1E"/>
              </a:solidFill>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48822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My name is Julia Monson and today I'll be presenting my BAIS 4720 business analytics project on COVID-19 vaccination and mortality. The project examines whether vaccination rollout correlated with reductions in mortality, which countries were hit hardest, and what the global picture looked like over time. I used three main tools: SQL Server for analyzing two large public health datasets, Tableau for visualization, and a Qualtrics survey I designed myself for primary data collection. I'll walk you through my research questions, data, methods, key findings, and what I learned.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context first. COVID-19 was the largest pandemic of the modern era — and one of the things that made it unique from a data perspective was the speed and scale of the response. Normal FDA vaccine approval takes five to ten years. Because of the emergency, that was compressed into roughly one year. What that means for analytics is that we have an unusually rich set of public health datasets to work with — including daily country-level death counts, vaccination counts, and global infection rates. My project combines that secondary data with original primary data I collected through a Qualtrics survey, and uses three core analytics tools: SQL Server, Tableau, and Qualtrics.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built the entire project around three research questions. Question 1 — did vaccination rollout actually correlate with reductions in mortality? This is the headline question, and I answered it by comparing death rates in a pre-vaccination era to an early-vaccination era. Question 2 — which countries were hit hardest, and when did vaccines arrive? This is country-level analysis: case fatality rates, deaths per 100,000 population, and rollout timing. Question 3 — what does the global and continental picture look like over time? This is the broader contextual view: continent totals, global case counts, and time trends. I want to be upfront about framing here: this is exploratory analysis. I'm looking at correlations, not making causal claims, because there are too many confounding variables in real public health data to prove causation.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requires both primary and secondary data, plus more than 20 variables total. I have both. On the secondary side, I'm using two datasets from Our World in Data — CovidDeaths and CovidVaccinations. Combined, they give me 20+ variables including location, date, total cases, new cases, total deaths, new deaths, population, new vaccinations, and people fully vaccinated. These are well-known public health datasets used in published research. On the primary side, I designed and administered a 16-question Qualtrics survey to adults 18 and older. The survey covers demographics, COVID-19 experience, vaccination status and behavior, attitudes about vaccines, and seven influence factors measured on a Likert scale. There's also one open-ended question that gives me qualitative data. The survey is what makes this project unique — most COVID portfolio projects only use the public datasets. I went a step further and collected my own data.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methodology pipeline used three tools. First, I used SQL Server to do all the heavy data analysis. I wrote queries using joins, common table expressions, and window functions. The most important technique was a rolling cumulative vaccination total using the SUM OVER PARTITION BY pattern, which lets me track vaccine rollout for each country over time. I also created database views specifically to feed my Tableau dashboard. Second, Tableau handled visualization. I built an interactive dashboard with a geographic infection map, time-series death trends, and continental comparisons. Third, Qualtrics for primary data. I designed a 16-question survey, distributed it, and ended up with 40 clean usable responses after cleaning. These three tools together gave me a complete pipeline from raw data to insights.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data cleaning. This is the part the project rubric specifically called out — process must be documented. On the SQL side, four key decisions. First, I had to filter out continent-level rows, because the dataset uses 'location' to mean both country names and continent names. If I didn't filter those out, I'd be double-counting deaths. Second, the death columns were stored as text, not numbers, so I had to cast them to integers before doing any aggregation. Third, dividing by zero crashed my queries early on, because some countries had zero reported cases in early 2020. I wrapped denominators in NULLIF to handle that gracefully. Fourth, I focused detailed analysis on five countries — US, UK, India, Mexico, China — because the literature, specifically Feyissa et al. 2021, shows that low- and middle-income countries have inconsistent death reporting. So for reliable comparisons, those five countries with stronger civil registration systems made the most sense. On the survey side, I started with 54 raw responses. I removed 7 preview responses from when I was building the survey, 4 incomplete responses, 1 person who answered no to the over-18 screening question, and 2 completely blank submissions. That left me with 40 clean usable responses for analysis.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with the broadest view — Research Question 3, the global picture. From my SQL queries, I aggregated across all the country-level data and got these three headline numbers: 150.6 million total reported cases, 3.18 million total reported deaths, and a global case fatality rate of 2.11%. The case fatality rate is just deaths divided by cases, times 100. So roughly one in every 47 confirmed COVID-19 cases ended in a reported death. The important thing — and this came from my literature review — is that this 2.11% is essentially the floor. The real number is probably higher because death reporting in lower-income countries undercounts community deaths. So this is the conservative estimate from the data we actually have.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research question, broken down by continent. North America leads on absolute death count, mostly driven by the US. South America is second — Brazil and Peru contributed heavily. Europe and Asia are lower than you might expect given their population, and Africa appears very low — but as I mentioned earlier, this is almost certainly an undercount because of inconsistent death reporting in lower-income countries. So when you look at this chart, you have to read it as 'reported deaths,' not 'actual deaths.' That's a key analytical caveat.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Question 2 — which countries were hit hardest. To answer this fairly, I had to make a methodological choice. The literature, specifically Feyissa et al. 2021, makes it clear that lower- and middle-income countries systematically undercount COVID deaths because of testing limitations and hospital-based reporting that misses community deaths. So instead of trying to compare every country in the world, I focused detailed analysis on five countries with stronger civil registration systems: the United States, the United Kingdom, India, Mexico, and China. These five give me variety — different population sizes, different healthcare systems, different geographic regions, and different vaccination rollout timelines. I still kept the global data for visualization, but my detailed comparisons are anchored in these five.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slide for Research Question 1. I split the data into two eras using a CASE statement in SQL — pre-vaccination, defined as 2020 before the vaccine rolled out, and early vaccination, defined as 2021 when the vaccine became widely available. Then I calculated the case fatality rate for each of the five focus countries in each era. What you see is that all five countries had lower case fatality rates in 2021 than in 2020. China had the steepest drop, going from about 4.8% to about 1.1%. Mexico stayed the highest in both eras, which is interesting — it suggests that healthcare system capacity matters as much as vaccine availability. Now the critical caveat: this is correlation, not causation. The 2021 numbers are lower for many reasons besides vaccines — different variants, lifestyle changes, more testing, better hospital protocols. Watson et al. 2022 used a full mathematical model to actually estimate the causal vaccine impact at 19.8 million deaths averted globally. My data is consistent with that finding but doesn't prove it on its own.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research question, different angle. This shows when each country actually got vaccines into arms. The vaccine rollout officially began in December 2020. From there, the pace varied dramatically. The UK and the US both started fast — they had vaccines available by January 2021 and ramped up quickly through the spring. China started slower but caught up dramatically by mid-2021 because of their population and centralized approach — by total volume, China ended up vaccinating the most people in the world. Mexico, on the other hand, had a much slower rollout. And remember from the previous slide, Mexico had the highest case fatality rate in both eras. That correlation between rollout speed and mortality outcomes is exactly what this project was designed to explore. I built this using a SQL window function — SUM OVER PARTITION BY location — to track the rolling cumulative vaccination count by country and date.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full Tableau dashboard. It pulls from six different SQL views I created and combines all the visualizations into one interactive view. Top left is the world map showing infection rates by country. Top right shows the global KPI numbers I covered earlier. Middle left is the deaths by continent bar chart. Middle right is the vaccination era comparison — pre vs early vaccination case fatality rates for the five focus countries. Bottom left is the 7-day rolling average of deaths over time, and bottom right is the vaccination rollout timeline. Building this dashboard actually helped me catch errors in my SQL — when something looked off visually, that was my cue to go back and check the query logic. So the dashboard wasn't just for presentation, it was an analytical tool too.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Switching to my primary data now. After cleaning, I had 40 usable responses across 16 survey questions. 72.5% of my sample was vaccinated, which is roughly in line with national averages. 65% had tested positive for COVID-19 at some point. The sample profile is heavily skewed toward 18 to 24 year olds — 85% of the sample — because I distributed it primarily through the EIU community. So this is a convenience sample, not nationally representative, and I'll address that in the limitations slide. One striking finding right off the bat: 77.5% of respondents said they were unlikely to get future boosters. That includes a lot of people who had already gotten the initial vaccine. So booster fatigue is real in this sample — that's something I'll come back to.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12 of my survey asked respondents to rate how much each of seven factors influenced their vaccination decision, on a seven-point Likert scale. Personal health concerns ranked highest — people made the decision based on protecting themselves and their family. Work or school requirements ranked second — and this matched the open-ended responses, where I had several people say things like 'I'm in the military so it was required' or 'my school required it.' Advice from medical professionals was third — doctors are still trusted. What's interesting is what ranked at the bottom: news media at six and social media at seven. This pattern actually aligns with the behavioral research from Han et al. 2023, which found that institutional trust and personal social networks tend to outweigh broadcast media in vaccination decisions.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open-ended question gave me qualitative data, which is something the rubric specifically asks for — primary data, structured and unstructured. I read through all 40 open responses and grouped them into four major themes. First, mandates and requirements. A lot of people only got vaccinated because they were forced to — military, school, work, or travel. The quote there is from one of my actual respondents. Second, protecting loved ones. People with immunocompromised family members were strongly motivated to vaccinate. Third, skepticism and distrust. Some respondents declined either because they thought the vaccine was ineffective — they knew vaccinated people who still got COVID — or because they were worried about unknown long-term effects. Fourth, parental influence. This was specific to younger respondents who said the decision was made by their parents, not them. These themes align really well with the behavioral literature, especially Han et al. 2023. So my primary data validates the published research and adds a local EIU-area perspective.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conclude, I want to be honest about limitations and what I learned. On limitations: first, the secondary data has reporting inconsistencies, especially in lower-income countries. Second, my survey is a convenience sample skewed toward college-aged students — it's not nationally representative. Third, this is correlation, not causation — too many things changed alongside vaccine rollout to isolate the vaccine's effect with my data alone. Fourth, vaccine effectiveness itself wanes over time, which Feikin et al. found drops 20-30% within six months. On lessons learned: real public health data is never clean — every dataset I touched needed deliberate cleaning decisions. Designing a primary data instrument is much harder than I expected. Visualization isn't just for presentation — it's an analytical tool that helped me catch SQL errors. And finally, the most important methodological choice was framing my research questions as exploratory rather than causal. Being honest about what data can and can't show is a real analytics skill.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based on the analysis I've done, the COVID-19 vaccine appears to have had a positive impact on global mortality. Three high-level takeaways. One — case fatality rates dropped across all five of my focus countries after the vaccine rollout, which is consistent with the published modeling literature. Two — rollout timing and healthcare capacity both mattered. Mexico's slower rollout aligned with its persistently higher case fatality rate, which suggests vaccines alone aren't enough — you need the system to deliver them effectively. Three — the behavioral layer from my survey showed that mandates, personal health concerns, and family ties drove decisions far more than media or government messaging, which lines up with the published behavioral research. I'm happy to take questions on any of this — the SQL approach, the survey design, the dashboard, or the limitations. Thank you.</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D4C"/>
        </a:solidFill>
        <a:effectLst/>
      </p:bgPr>
    </p:bg>
    <p:spTree>
      <p:nvGrpSpPr>
        <p:cNvPr id="1" name=""/>
        <p:cNvGrpSpPr/>
        <p:nvPr/>
      </p:nvGrpSpPr>
      <p:grpSpPr>
        <a:xfrm>
          <a:off x="0" y="0"/>
          <a:ext cx="0" cy="0"/>
          <a:chOff x="0" y="0"/>
          <a:chExt cx="0" cy="0"/>
        </a:xfrm>
      </p:grpSpPr>
      <p:sp>
        <p:nvSpPr>
          <p:cNvPr id="2" name="Shape 0"/>
          <p:cNvSpPr/>
          <p:nvPr/>
        </p:nvSpPr>
        <p:spPr>
          <a:xfrm>
            <a:off x="0" y="5029200"/>
            <a:ext cx="12161520" cy="73152"/>
          </a:xfrm>
          <a:prstGeom prst="rect">
            <a:avLst/>
          </a:prstGeom>
          <a:solidFill>
            <a:srgbClr val="0E8388"/>
          </a:solidFill>
          <a:ln w="12700">
            <a:solidFill>
              <a:srgbClr val="0E8388"/>
            </a:solidFill>
            <a:prstDash val="solid"/>
          </a:ln>
        </p:spPr>
        <p:txBody>
          <a:bodyPr/>
          <a:lstStyle/>
          <a:p>
            <a:endParaRPr lang="en-US"/>
          </a:p>
        </p:txBody>
      </p:sp>
      <p:sp>
        <p:nvSpPr>
          <p:cNvPr id="3" name="Shape 1"/>
          <p:cNvSpPr/>
          <p:nvPr/>
        </p:nvSpPr>
        <p:spPr>
          <a:xfrm>
            <a:off x="0" y="5102352"/>
            <a:ext cx="12161520" cy="36576"/>
          </a:xfrm>
          <a:prstGeom prst="rect">
            <a:avLst/>
          </a:prstGeom>
          <a:solidFill>
            <a:srgbClr val="2E8B7B"/>
          </a:solidFill>
          <a:ln w="12700">
            <a:solidFill>
              <a:srgbClr val="2E8B7B"/>
            </a:solidFill>
            <a:prstDash val="solid"/>
          </a:ln>
        </p:spPr>
        <p:txBody>
          <a:bodyPr/>
          <a:lstStyle/>
          <a:p>
            <a:endParaRPr lang="en-US"/>
          </a:p>
        </p:txBody>
      </p:sp>
      <p:sp>
        <p:nvSpPr>
          <p:cNvPr id="4" name="Text 2"/>
          <p:cNvSpPr/>
          <p:nvPr/>
        </p:nvSpPr>
        <p:spPr>
          <a:xfrm>
            <a:off x="548640" y="1097280"/>
            <a:ext cx="10972800" cy="365760"/>
          </a:xfrm>
          <a:prstGeom prst="rect">
            <a:avLst/>
          </a:prstGeom>
          <a:noFill/>
          <a:ln/>
        </p:spPr>
        <p:txBody>
          <a:bodyPr wrap="square" lIns="0" tIns="0" rIns="0" bIns="0" rtlCol="0" anchor="ctr"/>
          <a:lstStyle/>
          <a:p>
            <a:pPr marL="0" indent="0">
              <a:buNone/>
            </a:pPr>
            <a:r>
              <a:rPr lang="en-US" sz="1300" b="1" kern="0" spc="600" dirty="0">
                <a:solidFill>
                  <a:srgbClr val="0E8388"/>
                </a:solidFill>
                <a:latin typeface="Calibri" pitchFamily="34" charset="0"/>
                <a:ea typeface="Calibri" pitchFamily="34" charset="-122"/>
                <a:cs typeface="Calibri" pitchFamily="34" charset="-120"/>
              </a:rPr>
              <a:t>BAIS 4720  •  BUSINESS ANALYTICS PROJECT</a:t>
            </a:r>
            <a:endParaRPr lang="en-US" sz="1300" dirty="0"/>
          </a:p>
        </p:txBody>
      </p:sp>
      <p:sp>
        <p:nvSpPr>
          <p:cNvPr id="5" name="Text 3"/>
          <p:cNvSpPr/>
          <p:nvPr/>
        </p:nvSpPr>
        <p:spPr>
          <a:xfrm>
            <a:off x="548640" y="1645920"/>
            <a:ext cx="10972800" cy="1005840"/>
          </a:xfrm>
          <a:prstGeom prst="rect">
            <a:avLst/>
          </a:prstGeom>
          <a:noFill/>
          <a:ln/>
        </p:spPr>
        <p:txBody>
          <a:bodyPr wrap="square" lIns="0" tIns="0" rIns="0" bIns="0" rtlCol="0" anchor="ctr"/>
          <a:lstStyle/>
          <a:p>
            <a:pPr marL="0" indent="0">
              <a:buNone/>
            </a:pPr>
            <a:r>
              <a:rPr lang="en-US" sz="5400" b="1" dirty="0">
                <a:solidFill>
                  <a:srgbClr val="FFFFFF"/>
                </a:solidFill>
                <a:latin typeface="Georgia" pitchFamily="34" charset="0"/>
                <a:ea typeface="Georgia" pitchFamily="34" charset="-122"/>
                <a:cs typeface="Georgia" pitchFamily="34" charset="-120"/>
              </a:rPr>
              <a:t>COVID-19 Vaccination</a:t>
            </a:r>
            <a:endParaRPr lang="en-US" sz="5400" dirty="0"/>
          </a:p>
        </p:txBody>
      </p:sp>
      <p:sp>
        <p:nvSpPr>
          <p:cNvPr id="6" name="Text 4"/>
          <p:cNvSpPr/>
          <p:nvPr/>
        </p:nvSpPr>
        <p:spPr>
          <a:xfrm>
            <a:off x="548640" y="2606040"/>
            <a:ext cx="10972800" cy="1005840"/>
          </a:xfrm>
          <a:prstGeom prst="rect">
            <a:avLst/>
          </a:prstGeom>
          <a:noFill/>
          <a:ln/>
        </p:spPr>
        <p:txBody>
          <a:bodyPr wrap="square" lIns="0" tIns="0" rIns="0" bIns="0" rtlCol="0" anchor="ctr"/>
          <a:lstStyle/>
          <a:p>
            <a:pPr marL="0" indent="0">
              <a:buNone/>
            </a:pPr>
            <a:r>
              <a:rPr lang="en-US" sz="5400" b="1" dirty="0">
                <a:solidFill>
                  <a:srgbClr val="FFFFFF"/>
                </a:solidFill>
                <a:latin typeface="Georgia" pitchFamily="34" charset="0"/>
                <a:ea typeface="Georgia" pitchFamily="34" charset="-122"/>
                <a:cs typeface="Georgia" pitchFamily="34" charset="-120"/>
              </a:rPr>
              <a:t>and Mortality</a:t>
            </a:r>
            <a:endParaRPr lang="en-US" sz="5400" dirty="0"/>
          </a:p>
        </p:txBody>
      </p:sp>
      <p:sp>
        <p:nvSpPr>
          <p:cNvPr id="7" name="Text 5"/>
          <p:cNvSpPr/>
          <p:nvPr/>
        </p:nvSpPr>
        <p:spPr>
          <a:xfrm>
            <a:off x="548640" y="3794760"/>
            <a:ext cx="10972800" cy="457200"/>
          </a:xfrm>
          <a:prstGeom prst="rect">
            <a:avLst/>
          </a:prstGeom>
          <a:noFill/>
          <a:ln/>
        </p:spPr>
        <p:txBody>
          <a:bodyPr wrap="square" lIns="0" tIns="0" rIns="0" bIns="0" rtlCol="0" anchor="ctr"/>
          <a:lstStyle/>
          <a:p>
            <a:pPr marL="0" indent="0">
              <a:buNone/>
            </a:pPr>
            <a:r>
              <a:rPr lang="en-US" sz="1800" i="1" dirty="0">
                <a:solidFill>
                  <a:srgbClr val="2E8B7B"/>
                </a:solidFill>
                <a:latin typeface="Georgia" pitchFamily="34" charset="0"/>
                <a:ea typeface="Georgia" pitchFamily="34" charset="-122"/>
                <a:cs typeface="Georgia" pitchFamily="34" charset="-120"/>
              </a:rPr>
              <a:t>Using SQL, Tableau, and Survey Data</a:t>
            </a:r>
            <a:endParaRPr lang="en-US" sz="1800" dirty="0"/>
          </a:p>
        </p:txBody>
      </p:sp>
      <p:sp>
        <p:nvSpPr>
          <p:cNvPr id="8" name="Text 6"/>
          <p:cNvSpPr/>
          <p:nvPr/>
        </p:nvSpPr>
        <p:spPr>
          <a:xfrm>
            <a:off x="548640" y="5486400"/>
            <a:ext cx="109728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Julia Monson</a:t>
            </a:r>
            <a:r>
              <a:rPr lang="en-US" sz="1400" dirty="0">
                <a:solidFill>
                  <a:srgbClr val="F4F1EA"/>
                </a:solidFill>
                <a:latin typeface="Calibri" pitchFamily="34" charset="0"/>
                <a:ea typeface="Calibri" pitchFamily="34" charset="-122"/>
                <a:cs typeface="Calibri" pitchFamily="34" charset="-120"/>
              </a:rPr>
              <a:t>  •  Eastern Illinois University  </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marL="0" indent="0">
              <a:buNone/>
            </a:pPr>
            <a:r>
              <a:rPr lang="en-US" sz="1100" b="1" kern="0" spc="400" dirty="0">
                <a:solidFill>
                  <a:srgbClr val="0E8388"/>
                </a:solidFill>
                <a:latin typeface="Calibri" pitchFamily="34" charset="0"/>
                <a:ea typeface="Calibri" pitchFamily="34" charset="-122"/>
                <a:cs typeface="Calibri" pitchFamily="34" charset="-120"/>
              </a:rPr>
              <a:t>PROJECT OVERVIEW</a:t>
            </a:r>
            <a:endParaRPr lang="en-US" sz="1100" dirty="0"/>
          </a:p>
        </p:txBody>
      </p:sp>
      <p:sp>
        <p:nvSpPr>
          <p:cNvPr id="3" name="Text 1"/>
          <p:cNvSpPr/>
          <p:nvPr/>
        </p:nvSpPr>
        <p:spPr>
          <a:xfrm>
            <a:off x="548640" y="685800"/>
            <a:ext cx="10972800" cy="640080"/>
          </a:xfrm>
          <a:prstGeom prst="rect">
            <a:avLst/>
          </a:prstGeom>
          <a:noFill/>
          <a:ln/>
        </p:spPr>
        <p:txBody>
          <a:bodyPr wrap="square" lIns="0" tIns="0" rIns="0" bIns="0" rtlCol="0" anchor="ctr"/>
          <a:lstStyle/>
          <a:p>
            <a:pPr marL="0" indent="0">
              <a:buNone/>
            </a:pPr>
            <a:r>
              <a:rPr lang="en-US" sz="3200" b="1" dirty="0">
                <a:solidFill>
                  <a:srgbClr val="0F3D4C"/>
                </a:solidFill>
                <a:latin typeface="Georgia" pitchFamily="34" charset="0"/>
                <a:ea typeface="Georgia" pitchFamily="34" charset="-122"/>
                <a:cs typeface="Georgia" pitchFamily="34" charset="-120"/>
              </a:rPr>
              <a:t>Why This Project Matters</a:t>
            </a:r>
            <a:endParaRPr lang="en-US" sz="3200" dirty="0"/>
          </a:p>
        </p:txBody>
      </p:sp>
      <p:sp>
        <p:nvSpPr>
          <p:cNvPr id="4" name="Text 2"/>
          <p:cNvSpPr/>
          <p:nvPr/>
        </p:nvSpPr>
        <p:spPr>
          <a:xfrm>
            <a:off x="548640" y="1828800"/>
            <a:ext cx="6766560" cy="4114800"/>
          </a:xfrm>
          <a:prstGeom prst="rect">
            <a:avLst/>
          </a:prstGeom>
          <a:noFill/>
          <a:ln/>
        </p:spPr>
        <p:txBody>
          <a:bodyPr wrap="square" rtlCol="0" anchor="t"/>
          <a:lstStyle/>
          <a:p>
            <a:pPr marL="0" indent="0">
              <a:spcAft>
                <a:spcPts val="400"/>
              </a:spcAft>
              <a:buNone/>
            </a:pPr>
            <a:r>
              <a:rPr lang="en-US" sz="1600" b="1" dirty="0">
                <a:solidFill>
                  <a:srgbClr val="0F3D4C"/>
                </a:solidFill>
                <a:latin typeface="Calibri" pitchFamily="34" charset="0"/>
                <a:ea typeface="Calibri" pitchFamily="34" charset="-122"/>
                <a:cs typeface="Calibri" pitchFamily="34" charset="-120"/>
              </a:rPr>
              <a:t>COVID-19 was the largest pandemic of the modern era.</a:t>
            </a:r>
            <a:endParaRPr lang="en-US" sz="1600" dirty="0"/>
          </a:p>
          <a:p>
            <a:pPr marL="0" indent="0">
              <a:spcAft>
                <a:spcPts val="400"/>
              </a:spcAft>
              <a:buNone/>
            </a:pPr>
            <a:r>
              <a:rPr lang="en-US" sz="1600" dirty="0">
                <a:solidFill>
                  <a:srgbClr val="1E1E1E"/>
                </a:solidFill>
                <a:latin typeface="Calibri" pitchFamily="34" charset="0"/>
                <a:ea typeface="Calibri" pitchFamily="34" charset="-122"/>
                <a:cs typeface="Calibri" pitchFamily="34" charset="-120"/>
              </a:rPr>
              <a:t> </a:t>
            </a:r>
            <a:endParaRPr lang="en-US" sz="1600" dirty="0"/>
          </a:p>
          <a:p>
            <a:pPr marL="0" indent="0">
              <a:spcAft>
                <a:spcPts val="400"/>
              </a:spcAft>
              <a:buNone/>
            </a:pPr>
            <a:r>
              <a:rPr lang="en-US" sz="1600" dirty="0">
                <a:solidFill>
                  <a:srgbClr val="1E1E1E"/>
                </a:solidFill>
                <a:latin typeface="Calibri" pitchFamily="34" charset="0"/>
                <a:ea typeface="Calibri" pitchFamily="34" charset="-122"/>
                <a:cs typeface="Calibri" pitchFamily="34" charset="-120"/>
              </a:rPr>
              <a:t>FDA vaccine approval normally takes 5–10 years. Because of the emergency, the COVID-19 vaccine rollout was condensed into roughly one year . The global response generated a lot of public health datasets with loads of data, publicly available.</a:t>
            </a:r>
            <a:endParaRPr lang="en-US" sz="1600" dirty="0"/>
          </a:p>
          <a:p>
            <a:pPr marL="0" indent="0">
              <a:spcAft>
                <a:spcPts val="400"/>
              </a:spcAft>
              <a:buNone/>
            </a:pPr>
            <a:r>
              <a:rPr lang="en-US" sz="1600" dirty="0">
                <a:solidFill>
                  <a:srgbClr val="1E1E1E"/>
                </a:solidFill>
                <a:latin typeface="Calibri" pitchFamily="34" charset="0"/>
                <a:ea typeface="Calibri" pitchFamily="34" charset="-122"/>
                <a:cs typeface="Calibri" pitchFamily="34" charset="-120"/>
              </a:rPr>
              <a:t> </a:t>
            </a:r>
            <a:endParaRPr lang="en-US" sz="1600" dirty="0"/>
          </a:p>
          <a:p>
            <a:pPr marL="0" indent="0">
              <a:spcAft>
                <a:spcPts val="400"/>
              </a:spcAft>
              <a:buNone/>
            </a:pPr>
            <a:r>
              <a:rPr lang="en-US" sz="1600" dirty="0">
                <a:solidFill>
                  <a:srgbClr val="1E1E1E"/>
                </a:solidFill>
                <a:latin typeface="Calibri" pitchFamily="34" charset="0"/>
                <a:ea typeface="Calibri" pitchFamily="34" charset="-122"/>
                <a:cs typeface="Calibri" pitchFamily="34" charset="-120"/>
              </a:rPr>
              <a:t>This project uses business analytics techniques to explore the relationship between vaccination rollout and mortality outcomes. Using secondary data with original primary data collection.</a:t>
            </a:r>
            <a:endParaRPr lang="en-US" sz="1600" dirty="0"/>
          </a:p>
        </p:txBody>
      </p:sp>
      <p:sp>
        <p:nvSpPr>
          <p:cNvPr id="5" name="Shape 3"/>
          <p:cNvSpPr/>
          <p:nvPr/>
        </p:nvSpPr>
        <p:spPr>
          <a:xfrm>
            <a:off x="7772400" y="1828800"/>
            <a:ext cx="3840480" cy="1280160"/>
          </a:xfrm>
          <a:prstGeom prst="rect">
            <a:avLst/>
          </a:prstGeom>
          <a:solidFill>
            <a:srgbClr val="FFFFFF"/>
          </a:solidFill>
          <a:ln w="12700">
            <a:solidFill>
              <a:srgbClr val="E5E0D5"/>
            </a:solidFill>
            <a:prstDash val="solid"/>
          </a:ln>
          <a:effectLst>
            <a:outerShdw blurRad="101600" dist="25400" dir="5400000" algn="bl" rotWithShape="0">
              <a:srgbClr val="000000">
                <a:alpha val="6000"/>
              </a:srgbClr>
            </a:outerShdw>
          </a:effectLst>
        </p:spPr>
        <p:txBody>
          <a:bodyPr/>
          <a:lstStyle/>
          <a:p>
            <a:endParaRPr lang="en-US"/>
          </a:p>
        </p:txBody>
      </p:sp>
      <p:sp>
        <p:nvSpPr>
          <p:cNvPr id="6" name="Shape 4"/>
          <p:cNvSpPr/>
          <p:nvPr/>
        </p:nvSpPr>
        <p:spPr>
          <a:xfrm>
            <a:off x="7772400" y="1828800"/>
            <a:ext cx="73152" cy="1280160"/>
          </a:xfrm>
          <a:prstGeom prst="rect">
            <a:avLst/>
          </a:prstGeom>
          <a:solidFill>
            <a:srgbClr val="0E8388"/>
          </a:solidFill>
          <a:ln w="12700">
            <a:solidFill>
              <a:srgbClr val="0E8388"/>
            </a:solidFill>
            <a:prstDash val="solid"/>
          </a:ln>
        </p:spPr>
        <p:txBody>
          <a:bodyPr/>
          <a:lstStyle/>
          <a:p>
            <a:endParaRPr lang="en-US"/>
          </a:p>
        </p:txBody>
      </p:sp>
      <p:sp>
        <p:nvSpPr>
          <p:cNvPr id="7" name="Text 5"/>
          <p:cNvSpPr/>
          <p:nvPr/>
        </p:nvSpPr>
        <p:spPr>
          <a:xfrm>
            <a:off x="7955280" y="1874520"/>
            <a:ext cx="914400" cy="914400"/>
          </a:xfrm>
          <a:prstGeom prst="rect">
            <a:avLst/>
          </a:prstGeom>
          <a:noFill/>
          <a:ln/>
        </p:spPr>
        <p:txBody>
          <a:bodyPr wrap="square" lIns="0" tIns="0" rIns="0" bIns="0" rtlCol="0" anchor="ctr"/>
          <a:lstStyle/>
          <a:p>
            <a:pPr marL="0" indent="0">
              <a:buNone/>
            </a:pPr>
            <a:endParaRPr lang="en-US" sz="6000" dirty="0"/>
          </a:p>
        </p:txBody>
      </p:sp>
      <p:sp>
        <p:nvSpPr>
          <p:cNvPr id="8" name="Text 6"/>
          <p:cNvSpPr/>
          <p:nvPr/>
        </p:nvSpPr>
        <p:spPr>
          <a:xfrm>
            <a:off x="8961120" y="2194560"/>
            <a:ext cx="2468880" cy="640080"/>
          </a:xfrm>
          <a:prstGeom prst="rect">
            <a:avLst/>
          </a:prstGeom>
          <a:noFill/>
          <a:ln/>
        </p:spPr>
        <p:txBody>
          <a:bodyPr wrap="square" lIns="0" tIns="0" rIns="0" bIns="0" rtlCol="0" anchor="ctr"/>
          <a:lstStyle/>
          <a:p>
            <a:pPr marL="0" indent="0">
              <a:buNone/>
            </a:pPr>
            <a:r>
              <a:rPr lang="en-US" sz="1300" dirty="0">
                <a:solidFill>
                  <a:srgbClr val="1E1E1E"/>
                </a:solidFill>
                <a:latin typeface="Calibri" pitchFamily="34" charset="0"/>
                <a:ea typeface="Calibri" pitchFamily="34" charset="-122"/>
                <a:cs typeface="Calibri" pitchFamily="34" charset="-120"/>
              </a:rPr>
              <a:t>Research questions guiding the analysis</a:t>
            </a:r>
            <a:endParaRPr lang="en-US" sz="1300" dirty="0"/>
          </a:p>
        </p:txBody>
      </p:sp>
      <p:sp>
        <p:nvSpPr>
          <p:cNvPr id="9" name="Shape 7"/>
          <p:cNvSpPr/>
          <p:nvPr/>
        </p:nvSpPr>
        <p:spPr>
          <a:xfrm>
            <a:off x="7772400" y="3246120"/>
            <a:ext cx="3840480" cy="1280160"/>
          </a:xfrm>
          <a:prstGeom prst="rect">
            <a:avLst/>
          </a:prstGeom>
          <a:solidFill>
            <a:srgbClr val="FFFFFF"/>
          </a:solidFill>
          <a:ln w="12700">
            <a:solidFill>
              <a:srgbClr val="E5E0D5"/>
            </a:solidFill>
            <a:prstDash val="solid"/>
          </a:ln>
          <a:effectLst>
            <a:outerShdw blurRad="101600" dist="25400" dir="5400000" algn="bl" rotWithShape="0">
              <a:srgbClr val="000000">
                <a:alpha val="6000"/>
              </a:srgbClr>
            </a:outerShdw>
          </a:effectLst>
        </p:spPr>
        <p:txBody>
          <a:bodyPr/>
          <a:lstStyle/>
          <a:p>
            <a:endParaRPr lang="en-US"/>
          </a:p>
        </p:txBody>
      </p:sp>
      <p:sp>
        <p:nvSpPr>
          <p:cNvPr id="10" name="Shape 8"/>
          <p:cNvSpPr/>
          <p:nvPr/>
        </p:nvSpPr>
        <p:spPr>
          <a:xfrm>
            <a:off x="7772400" y="3246120"/>
            <a:ext cx="73152" cy="1280160"/>
          </a:xfrm>
          <a:prstGeom prst="rect">
            <a:avLst/>
          </a:prstGeom>
          <a:solidFill>
            <a:srgbClr val="0E8388"/>
          </a:solidFill>
          <a:ln w="12700">
            <a:solidFill>
              <a:srgbClr val="0E8388"/>
            </a:solidFill>
            <a:prstDash val="solid"/>
          </a:ln>
        </p:spPr>
        <p:txBody>
          <a:bodyPr/>
          <a:lstStyle/>
          <a:p>
            <a:endParaRPr lang="en-US"/>
          </a:p>
        </p:txBody>
      </p:sp>
      <p:sp>
        <p:nvSpPr>
          <p:cNvPr id="11" name="Text 9"/>
          <p:cNvSpPr/>
          <p:nvPr/>
        </p:nvSpPr>
        <p:spPr>
          <a:xfrm>
            <a:off x="7955280" y="3291840"/>
            <a:ext cx="914400" cy="914400"/>
          </a:xfrm>
          <a:prstGeom prst="rect">
            <a:avLst/>
          </a:prstGeom>
          <a:noFill/>
          <a:ln/>
        </p:spPr>
        <p:txBody>
          <a:bodyPr wrap="square" lIns="0" tIns="0" rIns="0" bIns="0" rtlCol="0" anchor="ctr"/>
          <a:lstStyle/>
          <a:p>
            <a:pPr marL="0" indent="0">
              <a:buNone/>
            </a:pPr>
            <a:endParaRPr lang="en-US" sz="6000" dirty="0"/>
          </a:p>
        </p:txBody>
      </p:sp>
      <p:sp>
        <p:nvSpPr>
          <p:cNvPr id="12" name="Text 10"/>
          <p:cNvSpPr/>
          <p:nvPr/>
        </p:nvSpPr>
        <p:spPr>
          <a:xfrm>
            <a:off x="8961120" y="3611880"/>
            <a:ext cx="2468880" cy="640080"/>
          </a:xfrm>
          <a:prstGeom prst="rect">
            <a:avLst/>
          </a:prstGeom>
          <a:noFill/>
          <a:ln/>
        </p:spPr>
        <p:txBody>
          <a:bodyPr wrap="square" lIns="0" tIns="0" rIns="0" bIns="0" rtlCol="0" anchor="ctr"/>
          <a:lstStyle/>
          <a:p>
            <a:pPr marL="0" indent="0">
              <a:buNone/>
            </a:pPr>
            <a:r>
              <a:rPr lang="en-US" sz="1300" dirty="0">
                <a:solidFill>
                  <a:srgbClr val="1E1E1E"/>
                </a:solidFill>
                <a:latin typeface="Calibri" pitchFamily="34" charset="0"/>
                <a:ea typeface="Calibri" pitchFamily="34" charset="-122"/>
                <a:cs typeface="Calibri" pitchFamily="34" charset="-120"/>
              </a:rPr>
              <a:t>Datasets analyzed (2 secondary, 1 primary)</a:t>
            </a:r>
            <a:endParaRPr lang="en-US" sz="1300" dirty="0"/>
          </a:p>
        </p:txBody>
      </p:sp>
      <p:sp>
        <p:nvSpPr>
          <p:cNvPr id="13" name="Shape 11"/>
          <p:cNvSpPr/>
          <p:nvPr/>
        </p:nvSpPr>
        <p:spPr>
          <a:xfrm>
            <a:off x="7772400" y="4663440"/>
            <a:ext cx="3840480" cy="1280160"/>
          </a:xfrm>
          <a:prstGeom prst="rect">
            <a:avLst/>
          </a:prstGeom>
          <a:solidFill>
            <a:srgbClr val="FFFFFF"/>
          </a:solidFill>
          <a:ln w="12700">
            <a:solidFill>
              <a:srgbClr val="E5E0D5"/>
            </a:solidFill>
            <a:prstDash val="solid"/>
          </a:ln>
          <a:effectLst>
            <a:outerShdw blurRad="101600" dist="25400" dir="5400000" algn="bl" rotWithShape="0">
              <a:srgbClr val="000000">
                <a:alpha val="6000"/>
              </a:srgbClr>
            </a:outerShdw>
          </a:effectLst>
        </p:spPr>
        <p:txBody>
          <a:bodyPr/>
          <a:lstStyle/>
          <a:p>
            <a:endParaRPr lang="en-US"/>
          </a:p>
        </p:txBody>
      </p:sp>
      <p:sp>
        <p:nvSpPr>
          <p:cNvPr id="14" name="Shape 12"/>
          <p:cNvSpPr/>
          <p:nvPr/>
        </p:nvSpPr>
        <p:spPr>
          <a:xfrm>
            <a:off x="7772400" y="4663440"/>
            <a:ext cx="73152" cy="1280160"/>
          </a:xfrm>
          <a:prstGeom prst="rect">
            <a:avLst/>
          </a:prstGeom>
          <a:solidFill>
            <a:srgbClr val="0E8388"/>
          </a:solidFill>
          <a:ln w="12700">
            <a:solidFill>
              <a:srgbClr val="0E8388"/>
            </a:solidFill>
            <a:prstDash val="solid"/>
          </a:ln>
        </p:spPr>
        <p:txBody>
          <a:bodyPr/>
          <a:lstStyle/>
          <a:p>
            <a:endParaRPr lang="en-US"/>
          </a:p>
        </p:txBody>
      </p:sp>
      <p:sp>
        <p:nvSpPr>
          <p:cNvPr id="15" name="Text 13"/>
          <p:cNvSpPr/>
          <p:nvPr/>
        </p:nvSpPr>
        <p:spPr>
          <a:xfrm>
            <a:off x="7955280" y="4709160"/>
            <a:ext cx="914400" cy="914400"/>
          </a:xfrm>
          <a:prstGeom prst="rect">
            <a:avLst/>
          </a:prstGeom>
          <a:noFill/>
          <a:ln/>
        </p:spPr>
        <p:txBody>
          <a:bodyPr wrap="square" lIns="0" tIns="0" rIns="0" bIns="0" rtlCol="0" anchor="ctr"/>
          <a:lstStyle/>
          <a:p>
            <a:pPr marL="0" indent="0">
              <a:buNone/>
            </a:pPr>
            <a:endParaRPr lang="en-US" sz="6000" dirty="0"/>
          </a:p>
        </p:txBody>
      </p:sp>
      <p:sp>
        <p:nvSpPr>
          <p:cNvPr id="16" name="Text 14"/>
          <p:cNvSpPr/>
          <p:nvPr/>
        </p:nvSpPr>
        <p:spPr>
          <a:xfrm>
            <a:off x="8961120" y="5029200"/>
            <a:ext cx="2468880" cy="640080"/>
          </a:xfrm>
          <a:prstGeom prst="rect">
            <a:avLst/>
          </a:prstGeom>
          <a:noFill/>
          <a:ln/>
        </p:spPr>
        <p:txBody>
          <a:bodyPr wrap="square" lIns="0" tIns="0" rIns="0" bIns="0" rtlCol="0" anchor="ctr"/>
          <a:lstStyle/>
          <a:p>
            <a:pPr marL="0" indent="0">
              <a:buNone/>
            </a:pPr>
            <a:r>
              <a:rPr lang="en-US" sz="1300" dirty="0">
                <a:solidFill>
                  <a:srgbClr val="1E1E1E"/>
                </a:solidFill>
                <a:latin typeface="Calibri" pitchFamily="34" charset="0"/>
                <a:ea typeface="Calibri" pitchFamily="34" charset="-122"/>
                <a:cs typeface="Calibri" pitchFamily="34" charset="-120"/>
              </a:rPr>
              <a:t>Tools used: SQL Server, Tableau, Qualtrics,  Excel</a:t>
            </a:r>
            <a:endParaRPr lang="en-US" sz="1300" dirty="0"/>
          </a:p>
        </p:txBody>
      </p:sp>
      <p:sp>
        <p:nvSpPr>
          <p:cNvPr id="17" name="Text 15"/>
          <p:cNvSpPr/>
          <p:nvPr/>
        </p:nvSpPr>
        <p:spPr>
          <a:xfrm>
            <a:off x="457200" y="6446520"/>
            <a:ext cx="8229600" cy="274320"/>
          </a:xfrm>
          <a:prstGeom prst="rect">
            <a:avLst/>
          </a:prstGeom>
          <a:noFill/>
          <a:ln/>
        </p:spPr>
        <p:txBody>
          <a:bodyPr wrap="square" lIns="0" tIns="0" rIns="0" bIns="0" rtlCol="0" anchor="ctr"/>
          <a:lstStyle/>
          <a:p>
            <a:pPr marL="0" indent="0" algn="l">
              <a:buNone/>
            </a:pPr>
            <a:r>
              <a:rPr lang="en-US" sz="900" dirty="0">
                <a:solidFill>
                  <a:srgbClr val="5A6B72"/>
                </a:solidFill>
                <a:latin typeface="Calibri" pitchFamily="34" charset="0"/>
                <a:ea typeface="Calibri" pitchFamily="34" charset="-122"/>
                <a:cs typeface="Calibri" pitchFamily="34" charset="-120"/>
              </a:rPr>
              <a:t>Julia Monson  |  BAIS 4720  |  COVID-19 Vaccination &amp; Mortality</a:t>
            </a:r>
            <a:endParaRPr lang="en-US" sz="900" dirty="0"/>
          </a:p>
        </p:txBody>
      </p:sp>
      <p:sp>
        <p:nvSpPr>
          <p:cNvPr id="18" name="Text 16"/>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5A6B72"/>
                </a:solidFill>
                <a:latin typeface="Calibri" pitchFamily="34" charset="0"/>
                <a:ea typeface="Calibri" pitchFamily="34" charset="-122"/>
                <a:cs typeface="Calibri" pitchFamily="34" charset="-120"/>
              </a:rPr>
              <a:t>2 / 17</a:t>
            </a:r>
            <a:endParaRPr lang="en-US" sz="900" dirty="0"/>
          </a:p>
        </p:txBody>
      </p:sp>
      <p:pic>
        <p:nvPicPr>
          <p:cNvPr id="20" name="Picture 19" descr="Heart-shaped red PPE masks">
            <a:extLst>
              <a:ext uri="{FF2B5EF4-FFF2-40B4-BE49-F238E27FC236}">
                <a16:creationId xmlns:a16="http://schemas.microsoft.com/office/drawing/2014/main" id="{643A941E-3B01-84F8-D82C-BCA4857728EA}"/>
              </a:ext>
            </a:extLst>
          </p:cNvPr>
          <p:cNvPicPr>
            <a:picLocks noChangeAspect="1"/>
          </p:cNvPicPr>
          <p:nvPr/>
        </p:nvPicPr>
        <p:blipFill>
          <a:blip r:embed="rId3"/>
          <a:stretch>
            <a:fillRect/>
          </a:stretch>
        </p:blipFill>
        <p:spPr>
          <a:xfrm>
            <a:off x="6217920" y="411480"/>
            <a:ext cx="1325880" cy="176915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marL="0" indent="0">
              <a:buNone/>
            </a:pPr>
            <a:r>
              <a:rPr lang="en-US" sz="1100" b="1" kern="0" spc="400" dirty="0">
                <a:solidFill>
                  <a:srgbClr val="0E8388"/>
                </a:solidFill>
                <a:latin typeface="Calibri" pitchFamily="34" charset="0"/>
                <a:ea typeface="Calibri" pitchFamily="34" charset="-122"/>
                <a:cs typeface="Calibri" pitchFamily="34" charset="-120"/>
              </a:rPr>
              <a:t>RESEARCH QUESTIONS</a:t>
            </a:r>
            <a:endParaRPr lang="en-US" sz="1100" dirty="0"/>
          </a:p>
        </p:txBody>
      </p:sp>
      <p:sp>
        <p:nvSpPr>
          <p:cNvPr id="3" name="Text 1"/>
          <p:cNvSpPr/>
          <p:nvPr/>
        </p:nvSpPr>
        <p:spPr>
          <a:xfrm>
            <a:off x="548640" y="685800"/>
            <a:ext cx="10972800" cy="640080"/>
          </a:xfrm>
          <a:prstGeom prst="rect">
            <a:avLst/>
          </a:prstGeom>
          <a:noFill/>
          <a:ln/>
        </p:spPr>
        <p:txBody>
          <a:bodyPr wrap="square" lIns="0" tIns="0" rIns="0" bIns="0" rtlCol="0" anchor="ctr"/>
          <a:lstStyle/>
          <a:p>
            <a:pPr marL="0" indent="0">
              <a:buNone/>
            </a:pPr>
            <a:r>
              <a:rPr lang="en-US" sz="3200" b="1" dirty="0">
                <a:solidFill>
                  <a:srgbClr val="0F3D4C"/>
                </a:solidFill>
                <a:latin typeface="Georgia" pitchFamily="34" charset="0"/>
                <a:ea typeface="Georgia" pitchFamily="34" charset="-122"/>
                <a:cs typeface="Georgia" pitchFamily="34" charset="-120"/>
              </a:rPr>
              <a:t>Three Questions </a:t>
            </a:r>
            <a:endParaRPr lang="en-US" sz="3200" dirty="0"/>
          </a:p>
        </p:txBody>
      </p:sp>
      <p:sp>
        <p:nvSpPr>
          <p:cNvPr id="4" name="Shape 2"/>
          <p:cNvSpPr/>
          <p:nvPr/>
        </p:nvSpPr>
        <p:spPr>
          <a:xfrm>
            <a:off x="548640" y="1828800"/>
            <a:ext cx="11064240" cy="1188720"/>
          </a:xfrm>
          <a:prstGeom prst="rect">
            <a:avLst/>
          </a:prstGeom>
          <a:solidFill>
            <a:srgbClr val="FFFFFF"/>
          </a:solidFill>
          <a:ln w="12700">
            <a:solidFill>
              <a:srgbClr val="E5E0D5"/>
            </a:solidFill>
            <a:prstDash val="solid"/>
          </a:ln>
          <a:effectLst>
            <a:outerShdw blurRad="101600" dist="25400" dir="5400000" algn="bl" rotWithShape="0">
              <a:srgbClr val="000000">
                <a:alpha val="6000"/>
              </a:srgbClr>
            </a:outerShdw>
          </a:effectLst>
        </p:spPr>
        <p:txBody>
          <a:bodyPr/>
          <a:lstStyle/>
          <a:p>
            <a:endParaRPr lang="en-US"/>
          </a:p>
        </p:txBody>
      </p:sp>
      <p:sp>
        <p:nvSpPr>
          <p:cNvPr id="5" name="Shape 3"/>
          <p:cNvSpPr/>
          <p:nvPr/>
        </p:nvSpPr>
        <p:spPr>
          <a:xfrm>
            <a:off x="777240" y="2057400"/>
            <a:ext cx="731520" cy="731520"/>
          </a:xfrm>
          <a:prstGeom prst="ellipse">
            <a:avLst/>
          </a:prstGeom>
          <a:solidFill>
            <a:srgbClr val="0E8388"/>
          </a:solidFill>
          <a:ln w="12700">
            <a:solidFill>
              <a:srgbClr val="0E8388"/>
            </a:solidFill>
            <a:prstDash val="solid"/>
          </a:ln>
        </p:spPr>
        <p:txBody>
          <a:bodyPr/>
          <a:lstStyle/>
          <a:p>
            <a:endParaRPr lang="en-US"/>
          </a:p>
        </p:txBody>
      </p:sp>
      <p:sp>
        <p:nvSpPr>
          <p:cNvPr id="6" name="Text 4"/>
          <p:cNvSpPr/>
          <p:nvPr/>
        </p:nvSpPr>
        <p:spPr>
          <a:xfrm>
            <a:off x="777240" y="205740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1</a:t>
            </a:r>
            <a:endParaRPr lang="en-US" sz="2800" dirty="0"/>
          </a:p>
        </p:txBody>
      </p:sp>
      <p:sp>
        <p:nvSpPr>
          <p:cNvPr id="7" name="Text 5"/>
          <p:cNvSpPr/>
          <p:nvPr/>
        </p:nvSpPr>
        <p:spPr>
          <a:xfrm>
            <a:off x="1691640" y="1993392"/>
            <a:ext cx="9692640" cy="457200"/>
          </a:xfrm>
          <a:prstGeom prst="rect">
            <a:avLst/>
          </a:prstGeom>
          <a:noFill/>
          <a:ln/>
        </p:spPr>
        <p:txBody>
          <a:bodyPr wrap="square" lIns="0" tIns="0" rIns="0" bIns="0" rtlCol="0" anchor="ctr"/>
          <a:lstStyle/>
          <a:p>
            <a:pPr marL="0" indent="0">
              <a:buNone/>
            </a:pPr>
            <a:r>
              <a:rPr lang="en-US" sz="1800" b="1" dirty="0">
                <a:solidFill>
                  <a:srgbClr val="0F3D4C"/>
                </a:solidFill>
                <a:latin typeface="Georgia" pitchFamily="34" charset="0"/>
                <a:ea typeface="Georgia" pitchFamily="34" charset="-122"/>
                <a:cs typeface="Georgia" pitchFamily="34" charset="-120"/>
              </a:rPr>
              <a:t>Did vaccination rollout correlate with reductions in mortality?</a:t>
            </a:r>
            <a:endParaRPr lang="en-US" sz="1800" dirty="0"/>
          </a:p>
        </p:txBody>
      </p:sp>
      <p:sp>
        <p:nvSpPr>
          <p:cNvPr id="8" name="Text 6"/>
          <p:cNvSpPr/>
          <p:nvPr/>
        </p:nvSpPr>
        <p:spPr>
          <a:xfrm>
            <a:off x="1691640" y="2468880"/>
            <a:ext cx="9692640" cy="457200"/>
          </a:xfrm>
          <a:prstGeom prst="rect">
            <a:avLst/>
          </a:prstGeom>
          <a:noFill/>
          <a:ln/>
        </p:spPr>
        <p:txBody>
          <a:bodyPr wrap="square" lIns="0" tIns="0" rIns="0" bIns="0" rtlCol="0" anchor="ctr"/>
          <a:lstStyle/>
          <a:p>
            <a:pPr marL="0" indent="0">
              <a:buNone/>
            </a:pPr>
            <a:r>
              <a:rPr lang="en-US" sz="1300" i="1" dirty="0">
                <a:solidFill>
                  <a:srgbClr val="5A6B72"/>
                </a:solidFill>
                <a:latin typeface="Calibri" pitchFamily="34" charset="0"/>
                <a:ea typeface="Calibri" pitchFamily="34" charset="-122"/>
                <a:cs typeface="Calibri" pitchFamily="34" charset="-120"/>
              </a:rPr>
              <a:t>Compare death rates before and after vaccine availability</a:t>
            </a:r>
            <a:endParaRPr lang="en-US" sz="1300" dirty="0"/>
          </a:p>
        </p:txBody>
      </p:sp>
      <p:sp>
        <p:nvSpPr>
          <p:cNvPr id="9" name="Shape 7"/>
          <p:cNvSpPr/>
          <p:nvPr/>
        </p:nvSpPr>
        <p:spPr>
          <a:xfrm>
            <a:off x="548640" y="3246120"/>
            <a:ext cx="11064240" cy="1188720"/>
          </a:xfrm>
          <a:prstGeom prst="rect">
            <a:avLst/>
          </a:prstGeom>
          <a:solidFill>
            <a:srgbClr val="FFFFFF"/>
          </a:solidFill>
          <a:ln w="12700">
            <a:solidFill>
              <a:srgbClr val="E5E0D5"/>
            </a:solidFill>
            <a:prstDash val="solid"/>
          </a:ln>
          <a:effectLst>
            <a:outerShdw blurRad="101600" dist="25400" dir="5400000" algn="bl" rotWithShape="0">
              <a:srgbClr val="000000">
                <a:alpha val="6000"/>
              </a:srgbClr>
            </a:outerShdw>
          </a:effectLst>
        </p:spPr>
        <p:txBody>
          <a:bodyPr/>
          <a:lstStyle/>
          <a:p>
            <a:endParaRPr lang="en-US"/>
          </a:p>
        </p:txBody>
      </p:sp>
      <p:sp>
        <p:nvSpPr>
          <p:cNvPr id="10" name="Shape 8"/>
          <p:cNvSpPr/>
          <p:nvPr/>
        </p:nvSpPr>
        <p:spPr>
          <a:xfrm>
            <a:off x="777240" y="3474720"/>
            <a:ext cx="731520" cy="731520"/>
          </a:xfrm>
          <a:prstGeom prst="ellipse">
            <a:avLst/>
          </a:prstGeom>
          <a:solidFill>
            <a:srgbClr val="0E8388"/>
          </a:solidFill>
          <a:ln w="12700">
            <a:solidFill>
              <a:srgbClr val="0E8388"/>
            </a:solidFill>
            <a:prstDash val="solid"/>
          </a:ln>
        </p:spPr>
        <p:txBody>
          <a:bodyPr/>
          <a:lstStyle/>
          <a:p>
            <a:endParaRPr lang="en-US"/>
          </a:p>
        </p:txBody>
      </p:sp>
      <p:sp>
        <p:nvSpPr>
          <p:cNvPr id="11" name="Text 9"/>
          <p:cNvSpPr/>
          <p:nvPr/>
        </p:nvSpPr>
        <p:spPr>
          <a:xfrm>
            <a:off x="777240" y="347472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2</a:t>
            </a:r>
            <a:endParaRPr lang="en-US" sz="2800" dirty="0"/>
          </a:p>
        </p:txBody>
      </p:sp>
      <p:sp>
        <p:nvSpPr>
          <p:cNvPr id="12" name="Text 10"/>
          <p:cNvSpPr/>
          <p:nvPr/>
        </p:nvSpPr>
        <p:spPr>
          <a:xfrm>
            <a:off x="1691640" y="3410712"/>
            <a:ext cx="9692640" cy="457200"/>
          </a:xfrm>
          <a:prstGeom prst="rect">
            <a:avLst/>
          </a:prstGeom>
          <a:noFill/>
          <a:ln/>
        </p:spPr>
        <p:txBody>
          <a:bodyPr wrap="square" lIns="0" tIns="0" rIns="0" bIns="0" rtlCol="0" anchor="ctr"/>
          <a:lstStyle/>
          <a:p>
            <a:pPr marL="0" indent="0">
              <a:buNone/>
            </a:pPr>
            <a:r>
              <a:rPr lang="en-US" sz="1800" b="1" dirty="0">
                <a:solidFill>
                  <a:srgbClr val="0F3D4C"/>
                </a:solidFill>
                <a:latin typeface="Georgia" pitchFamily="34" charset="0"/>
                <a:ea typeface="Georgia" pitchFamily="34" charset="-122"/>
                <a:cs typeface="Georgia" pitchFamily="34" charset="-120"/>
              </a:rPr>
              <a:t>Which countries were hit hardest, and when did vaccines arrive?</a:t>
            </a:r>
            <a:endParaRPr lang="en-US" sz="1800" dirty="0"/>
          </a:p>
        </p:txBody>
      </p:sp>
      <p:sp>
        <p:nvSpPr>
          <p:cNvPr id="13" name="Text 11"/>
          <p:cNvSpPr/>
          <p:nvPr/>
        </p:nvSpPr>
        <p:spPr>
          <a:xfrm>
            <a:off x="1691640" y="3886200"/>
            <a:ext cx="9692640" cy="457200"/>
          </a:xfrm>
          <a:prstGeom prst="rect">
            <a:avLst/>
          </a:prstGeom>
          <a:noFill/>
          <a:ln/>
        </p:spPr>
        <p:txBody>
          <a:bodyPr wrap="square" lIns="0" tIns="0" rIns="0" bIns="0" rtlCol="0" anchor="ctr"/>
          <a:lstStyle/>
          <a:p>
            <a:pPr marL="0" indent="0">
              <a:buNone/>
            </a:pPr>
            <a:r>
              <a:rPr lang="en-US" sz="1300" i="1" dirty="0">
                <a:solidFill>
                  <a:srgbClr val="5A6B72"/>
                </a:solidFill>
                <a:latin typeface="Calibri" pitchFamily="34" charset="0"/>
                <a:ea typeface="Calibri" pitchFamily="34" charset="-122"/>
                <a:cs typeface="Calibri" pitchFamily="34" charset="-120"/>
              </a:rPr>
              <a:t>Country-level case fatality rate, deaths per 100K, rollout timing</a:t>
            </a:r>
            <a:endParaRPr lang="en-US" sz="1300" dirty="0"/>
          </a:p>
        </p:txBody>
      </p:sp>
      <p:sp>
        <p:nvSpPr>
          <p:cNvPr id="14" name="Shape 12"/>
          <p:cNvSpPr/>
          <p:nvPr/>
        </p:nvSpPr>
        <p:spPr>
          <a:xfrm>
            <a:off x="548640" y="4663440"/>
            <a:ext cx="11064240" cy="1188720"/>
          </a:xfrm>
          <a:prstGeom prst="rect">
            <a:avLst/>
          </a:prstGeom>
          <a:solidFill>
            <a:srgbClr val="FFFFFF"/>
          </a:solidFill>
          <a:ln w="12700">
            <a:solidFill>
              <a:srgbClr val="E5E0D5"/>
            </a:solidFill>
            <a:prstDash val="solid"/>
          </a:ln>
          <a:effectLst>
            <a:outerShdw blurRad="101600" dist="25400" dir="5400000" algn="bl" rotWithShape="0">
              <a:srgbClr val="000000">
                <a:alpha val="6000"/>
              </a:srgbClr>
            </a:outerShdw>
          </a:effectLst>
        </p:spPr>
        <p:txBody>
          <a:bodyPr/>
          <a:lstStyle/>
          <a:p>
            <a:endParaRPr lang="en-US"/>
          </a:p>
        </p:txBody>
      </p:sp>
      <p:sp>
        <p:nvSpPr>
          <p:cNvPr id="15" name="Shape 13"/>
          <p:cNvSpPr/>
          <p:nvPr/>
        </p:nvSpPr>
        <p:spPr>
          <a:xfrm>
            <a:off x="777240" y="4892040"/>
            <a:ext cx="731520" cy="731520"/>
          </a:xfrm>
          <a:prstGeom prst="ellipse">
            <a:avLst/>
          </a:prstGeom>
          <a:solidFill>
            <a:srgbClr val="0E8388"/>
          </a:solidFill>
          <a:ln w="12700">
            <a:solidFill>
              <a:srgbClr val="0E8388"/>
            </a:solidFill>
            <a:prstDash val="solid"/>
          </a:ln>
        </p:spPr>
        <p:txBody>
          <a:bodyPr/>
          <a:lstStyle/>
          <a:p>
            <a:endParaRPr lang="en-US"/>
          </a:p>
        </p:txBody>
      </p:sp>
      <p:sp>
        <p:nvSpPr>
          <p:cNvPr id="16" name="Text 14"/>
          <p:cNvSpPr/>
          <p:nvPr/>
        </p:nvSpPr>
        <p:spPr>
          <a:xfrm>
            <a:off x="777240" y="489204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3</a:t>
            </a:r>
            <a:endParaRPr lang="en-US" sz="2800" dirty="0"/>
          </a:p>
        </p:txBody>
      </p:sp>
      <p:sp>
        <p:nvSpPr>
          <p:cNvPr id="17" name="Text 15"/>
          <p:cNvSpPr/>
          <p:nvPr/>
        </p:nvSpPr>
        <p:spPr>
          <a:xfrm>
            <a:off x="1691640" y="4828032"/>
            <a:ext cx="9692640" cy="457200"/>
          </a:xfrm>
          <a:prstGeom prst="rect">
            <a:avLst/>
          </a:prstGeom>
          <a:noFill/>
          <a:ln/>
        </p:spPr>
        <p:txBody>
          <a:bodyPr wrap="square" lIns="0" tIns="0" rIns="0" bIns="0" rtlCol="0" anchor="ctr"/>
          <a:lstStyle/>
          <a:p>
            <a:pPr marL="0" indent="0">
              <a:buNone/>
            </a:pPr>
            <a:r>
              <a:rPr lang="en-US" sz="1800" b="1" dirty="0">
                <a:solidFill>
                  <a:srgbClr val="0F3D4C"/>
                </a:solidFill>
                <a:latin typeface="Georgia" pitchFamily="34" charset="0"/>
                <a:ea typeface="Georgia" pitchFamily="34" charset="-122"/>
                <a:cs typeface="Georgia" pitchFamily="34" charset="-120"/>
              </a:rPr>
              <a:t>What does the global and continental picture look like over time?</a:t>
            </a:r>
            <a:endParaRPr lang="en-US" sz="1800" dirty="0"/>
          </a:p>
        </p:txBody>
      </p:sp>
      <p:sp>
        <p:nvSpPr>
          <p:cNvPr id="18" name="Text 16"/>
          <p:cNvSpPr/>
          <p:nvPr/>
        </p:nvSpPr>
        <p:spPr>
          <a:xfrm>
            <a:off x="1691640" y="5303520"/>
            <a:ext cx="9692640" cy="457200"/>
          </a:xfrm>
          <a:prstGeom prst="rect">
            <a:avLst/>
          </a:prstGeom>
          <a:noFill/>
          <a:ln/>
        </p:spPr>
        <p:txBody>
          <a:bodyPr wrap="square" lIns="0" tIns="0" rIns="0" bIns="0" rtlCol="0" anchor="ctr"/>
          <a:lstStyle/>
          <a:p>
            <a:pPr marL="0" indent="0">
              <a:buNone/>
            </a:pPr>
            <a:r>
              <a:rPr lang="en-US" sz="1300" i="1" dirty="0">
                <a:solidFill>
                  <a:srgbClr val="5A6B72"/>
                </a:solidFill>
                <a:latin typeface="Calibri" pitchFamily="34" charset="0"/>
                <a:ea typeface="Calibri" pitchFamily="34" charset="-122"/>
                <a:cs typeface="Calibri" pitchFamily="34" charset="-120"/>
              </a:rPr>
              <a:t>Continental death totals, global case counts, time trends</a:t>
            </a:r>
            <a:endParaRPr lang="en-US" sz="1300" dirty="0"/>
          </a:p>
        </p:txBody>
      </p:sp>
      <p:sp>
        <p:nvSpPr>
          <p:cNvPr id="19" name="Text 17"/>
          <p:cNvSpPr/>
          <p:nvPr/>
        </p:nvSpPr>
        <p:spPr>
          <a:xfrm>
            <a:off x="457200" y="6446520"/>
            <a:ext cx="8229600" cy="274320"/>
          </a:xfrm>
          <a:prstGeom prst="rect">
            <a:avLst/>
          </a:prstGeom>
          <a:noFill/>
          <a:ln/>
        </p:spPr>
        <p:txBody>
          <a:bodyPr wrap="square" lIns="0" tIns="0" rIns="0" bIns="0" rtlCol="0" anchor="ctr"/>
          <a:lstStyle/>
          <a:p>
            <a:pPr marL="0" indent="0" algn="l">
              <a:buNone/>
            </a:pPr>
            <a:r>
              <a:rPr lang="en-US" sz="900" dirty="0">
                <a:solidFill>
                  <a:srgbClr val="5A6B72"/>
                </a:solidFill>
                <a:latin typeface="Calibri" pitchFamily="34" charset="0"/>
                <a:ea typeface="Calibri" pitchFamily="34" charset="-122"/>
                <a:cs typeface="Calibri" pitchFamily="34" charset="-120"/>
              </a:rPr>
              <a:t>Julia Monson  |  BAIS 4720  |  COVID-19 Vaccination &amp; Mortality</a:t>
            </a:r>
            <a:endParaRPr lang="en-US" sz="900" dirty="0"/>
          </a:p>
        </p:txBody>
      </p:sp>
      <p:sp>
        <p:nvSpPr>
          <p:cNvPr id="20" name="Text 18"/>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5A6B72"/>
                </a:solidFill>
                <a:latin typeface="Calibri" pitchFamily="34" charset="0"/>
                <a:ea typeface="Calibri" pitchFamily="34" charset="-122"/>
                <a:cs typeface="Calibri" pitchFamily="34" charset="-120"/>
              </a:rPr>
              <a:t>3 / 17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marL="0" indent="0">
              <a:buNone/>
            </a:pPr>
            <a:r>
              <a:rPr lang="en-US" sz="1100" b="1" kern="0" spc="400" dirty="0">
                <a:solidFill>
                  <a:srgbClr val="0E8388"/>
                </a:solidFill>
                <a:latin typeface="Calibri" pitchFamily="34" charset="0"/>
                <a:ea typeface="Calibri" pitchFamily="34" charset="-122"/>
                <a:cs typeface="Calibri" pitchFamily="34" charset="-120"/>
              </a:rPr>
              <a:t>DATA SOURCES</a:t>
            </a:r>
            <a:endParaRPr lang="en-US" sz="1100" dirty="0"/>
          </a:p>
        </p:txBody>
      </p:sp>
      <p:sp>
        <p:nvSpPr>
          <p:cNvPr id="3" name="Text 1"/>
          <p:cNvSpPr/>
          <p:nvPr/>
        </p:nvSpPr>
        <p:spPr>
          <a:xfrm>
            <a:off x="548640" y="685800"/>
            <a:ext cx="10972800" cy="640080"/>
          </a:xfrm>
          <a:prstGeom prst="rect">
            <a:avLst/>
          </a:prstGeom>
          <a:noFill/>
          <a:ln/>
        </p:spPr>
        <p:txBody>
          <a:bodyPr wrap="square" lIns="0" tIns="0" rIns="0" bIns="0" rtlCol="0" anchor="ctr"/>
          <a:lstStyle/>
          <a:p>
            <a:pPr marL="0" indent="0">
              <a:buNone/>
            </a:pPr>
            <a:r>
              <a:rPr lang="en-US" sz="3200" b="1" dirty="0">
                <a:solidFill>
                  <a:srgbClr val="0F3D4C"/>
                </a:solidFill>
                <a:latin typeface="Georgia" pitchFamily="34" charset="0"/>
                <a:ea typeface="Georgia" pitchFamily="34" charset="-122"/>
                <a:cs typeface="Georgia" pitchFamily="34" charset="-120"/>
              </a:rPr>
              <a:t>Secondary + Primary Data</a:t>
            </a:r>
            <a:endParaRPr lang="en-US" sz="3200" dirty="0"/>
          </a:p>
        </p:txBody>
      </p:sp>
      <p:sp>
        <p:nvSpPr>
          <p:cNvPr id="4" name="Shape 2"/>
          <p:cNvSpPr/>
          <p:nvPr/>
        </p:nvSpPr>
        <p:spPr>
          <a:xfrm>
            <a:off x="548640" y="1828800"/>
            <a:ext cx="5486400" cy="4206240"/>
          </a:xfrm>
          <a:prstGeom prst="rect">
            <a:avLst/>
          </a:prstGeom>
          <a:solidFill>
            <a:srgbClr val="FFFFFF"/>
          </a:solidFill>
          <a:ln w="12700">
            <a:solidFill>
              <a:srgbClr val="E5E0D5"/>
            </a:solidFill>
            <a:prstDash val="solid"/>
          </a:ln>
          <a:effectLst>
            <a:outerShdw blurRad="101600" dist="25400" dir="5400000" algn="bl" rotWithShape="0">
              <a:srgbClr val="000000">
                <a:alpha val="6000"/>
              </a:srgbClr>
            </a:outerShdw>
          </a:effectLst>
        </p:spPr>
        <p:txBody>
          <a:bodyPr/>
          <a:lstStyle/>
          <a:p>
            <a:endParaRPr lang="en-US"/>
          </a:p>
        </p:txBody>
      </p:sp>
      <p:sp>
        <p:nvSpPr>
          <p:cNvPr id="5" name="Shape 3"/>
          <p:cNvSpPr/>
          <p:nvPr/>
        </p:nvSpPr>
        <p:spPr>
          <a:xfrm>
            <a:off x="548640" y="1828800"/>
            <a:ext cx="5486400" cy="457200"/>
          </a:xfrm>
          <a:prstGeom prst="rect">
            <a:avLst/>
          </a:prstGeom>
          <a:solidFill>
            <a:srgbClr val="0F3D4C"/>
          </a:solidFill>
          <a:ln w="12700">
            <a:solidFill>
              <a:srgbClr val="0F3D4C"/>
            </a:solidFill>
            <a:prstDash val="solid"/>
          </a:ln>
        </p:spPr>
        <p:txBody>
          <a:bodyPr/>
          <a:lstStyle/>
          <a:p>
            <a:endParaRPr lang="en-US"/>
          </a:p>
        </p:txBody>
      </p:sp>
      <p:sp>
        <p:nvSpPr>
          <p:cNvPr id="6" name="Text 4"/>
          <p:cNvSpPr/>
          <p:nvPr/>
        </p:nvSpPr>
        <p:spPr>
          <a:xfrm>
            <a:off x="640080" y="1874520"/>
            <a:ext cx="5303520" cy="365760"/>
          </a:xfrm>
          <a:prstGeom prst="rect">
            <a:avLst/>
          </a:prstGeom>
          <a:noFill/>
          <a:ln/>
        </p:spPr>
        <p:txBody>
          <a:bodyPr wrap="square" lIns="0" tIns="0" rIns="0" bIns="0" rtlCol="0" anchor="ctr"/>
          <a:lstStyle/>
          <a:p>
            <a:pPr marL="0" indent="0">
              <a:buNone/>
            </a:pPr>
            <a:r>
              <a:rPr lang="en-US" sz="1300" b="1" kern="0" spc="400" dirty="0">
                <a:solidFill>
                  <a:srgbClr val="FFFFFF"/>
                </a:solidFill>
                <a:latin typeface="Calibri" pitchFamily="34" charset="0"/>
                <a:ea typeface="Calibri" pitchFamily="34" charset="-122"/>
                <a:cs typeface="Calibri" pitchFamily="34" charset="-120"/>
              </a:rPr>
              <a:t>SECONDARY DATA</a:t>
            </a:r>
            <a:endParaRPr lang="en-US" sz="1300" dirty="0"/>
          </a:p>
        </p:txBody>
      </p:sp>
      <p:sp>
        <p:nvSpPr>
          <p:cNvPr id="7" name="Text 5"/>
          <p:cNvSpPr/>
          <p:nvPr/>
        </p:nvSpPr>
        <p:spPr>
          <a:xfrm>
            <a:off x="777240" y="2423160"/>
            <a:ext cx="5029200" cy="365760"/>
          </a:xfrm>
          <a:prstGeom prst="rect">
            <a:avLst/>
          </a:prstGeom>
          <a:noFill/>
          <a:ln/>
        </p:spPr>
        <p:txBody>
          <a:bodyPr wrap="square" lIns="0" tIns="0" rIns="0" bIns="0" rtlCol="0" anchor="ctr"/>
          <a:lstStyle/>
          <a:p>
            <a:pPr marL="0" indent="0">
              <a:buNone/>
            </a:pPr>
            <a:r>
              <a:rPr lang="en-US" sz="1800" b="1" dirty="0">
                <a:solidFill>
                  <a:srgbClr val="0F3D4C"/>
                </a:solidFill>
                <a:latin typeface="Georgia" pitchFamily="34" charset="0"/>
                <a:ea typeface="Georgia" pitchFamily="34" charset="-122"/>
                <a:cs typeface="Georgia" pitchFamily="34" charset="-120"/>
              </a:rPr>
              <a:t>Our World in Data</a:t>
            </a:r>
            <a:endParaRPr lang="en-US" sz="1800" dirty="0"/>
          </a:p>
        </p:txBody>
      </p:sp>
      <p:sp>
        <p:nvSpPr>
          <p:cNvPr id="8" name="Text 6"/>
          <p:cNvSpPr/>
          <p:nvPr/>
        </p:nvSpPr>
        <p:spPr>
          <a:xfrm>
            <a:off x="777240" y="2788920"/>
            <a:ext cx="5029200" cy="274320"/>
          </a:xfrm>
          <a:prstGeom prst="rect">
            <a:avLst/>
          </a:prstGeom>
          <a:noFill/>
          <a:ln/>
        </p:spPr>
        <p:txBody>
          <a:bodyPr wrap="square" lIns="0" tIns="0" rIns="0" bIns="0" rtlCol="0" anchor="ctr"/>
          <a:lstStyle/>
          <a:p>
            <a:pPr marL="0" indent="0">
              <a:buNone/>
            </a:pPr>
            <a:r>
              <a:rPr lang="en-US" sz="1100" i="1" dirty="0">
                <a:solidFill>
                  <a:srgbClr val="5A6B72"/>
                </a:solidFill>
                <a:latin typeface="Calibri" pitchFamily="34" charset="0"/>
                <a:ea typeface="Calibri" pitchFamily="34" charset="-122"/>
                <a:cs typeface="Calibri" pitchFamily="34" charset="-120"/>
              </a:rPr>
              <a:t>ourworldindata.org/covid-deaths</a:t>
            </a:r>
            <a:endParaRPr lang="en-US" sz="1100" dirty="0"/>
          </a:p>
        </p:txBody>
      </p:sp>
      <p:sp>
        <p:nvSpPr>
          <p:cNvPr id="9" name="Text 7"/>
          <p:cNvSpPr/>
          <p:nvPr/>
        </p:nvSpPr>
        <p:spPr>
          <a:xfrm>
            <a:off x="777240" y="3200400"/>
            <a:ext cx="5120640" cy="2743200"/>
          </a:xfrm>
          <a:prstGeom prst="rect">
            <a:avLst/>
          </a:prstGeom>
          <a:noFill/>
          <a:ln/>
        </p:spPr>
        <p:txBody>
          <a:bodyPr wrap="square" rtlCol="0" anchor="t"/>
          <a:lstStyle/>
          <a:p>
            <a:pPr marL="342900" indent="-342900">
              <a:spcAft>
                <a:spcPts val="600"/>
              </a:spcAft>
              <a:buSzPct val="100000"/>
              <a:buChar char="•"/>
            </a:pPr>
            <a:r>
              <a:rPr lang="en-US" sz="1300" b="1" dirty="0">
                <a:solidFill>
                  <a:srgbClr val="1E1E1E"/>
                </a:solidFill>
                <a:latin typeface="Calibri" pitchFamily="34" charset="0"/>
                <a:ea typeface="Calibri" pitchFamily="34" charset="-122"/>
                <a:cs typeface="Calibri" pitchFamily="34" charset="-120"/>
              </a:rPr>
              <a:t>CovidDeaths dataset</a:t>
            </a:r>
            <a:endParaRPr lang="en-US" sz="1300" dirty="0"/>
          </a:p>
          <a:p>
            <a:pPr marL="254000" indent="-254000">
              <a:spcAft>
                <a:spcPts val="600"/>
              </a:spcAft>
              <a:buSzPct val="100000"/>
              <a:buChar char="•"/>
            </a:pPr>
            <a:r>
              <a:rPr lang="en-US" sz="1300" dirty="0">
                <a:solidFill>
                  <a:srgbClr val="1E1E1E"/>
                </a:solidFill>
                <a:latin typeface="Calibri" pitchFamily="34" charset="0"/>
                <a:ea typeface="Calibri" pitchFamily="34" charset="-122"/>
                <a:cs typeface="Calibri" pitchFamily="34" charset="-120"/>
              </a:rPr>
              <a:t>daily records: cases, deaths, population</a:t>
            </a:r>
            <a:endParaRPr lang="en-US" sz="1300" dirty="0"/>
          </a:p>
          <a:p>
            <a:pPr marL="342900" indent="-342900">
              <a:spcAft>
                <a:spcPts val="600"/>
              </a:spcAft>
              <a:buSzPct val="100000"/>
              <a:buChar char="•"/>
            </a:pPr>
            <a:r>
              <a:rPr lang="en-US" sz="1300" b="1" dirty="0">
                <a:solidFill>
                  <a:srgbClr val="1E1E1E"/>
                </a:solidFill>
                <a:latin typeface="Calibri" pitchFamily="34" charset="0"/>
                <a:ea typeface="Calibri" pitchFamily="34" charset="-122"/>
                <a:cs typeface="Calibri" pitchFamily="34" charset="-120"/>
              </a:rPr>
              <a:t>CovidVaccinations dataset</a:t>
            </a:r>
            <a:endParaRPr lang="en-US" sz="1300" dirty="0"/>
          </a:p>
          <a:p>
            <a:pPr marL="254000" indent="-254000">
              <a:spcAft>
                <a:spcPts val="600"/>
              </a:spcAft>
              <a:buSzPct val="100000"/>
              <a:buChar char="•"/>
            </a:pPr>
            <a:r>
              <a:rPr lang="en-US" sz="1300" dirty="0">
                <a:solidFill>
                  <a:srgbClr val="1E1E1E"/>
                </a:solidFill>
                <a:latin typeface="Calibri" pitchFamily="34" charset="0"/>
                <a:ea typeface="Calibri" pitchFamily="34" charset="-122"/>
                <a:cs typeface="Calibri" pitchFamily="34" charset="-120"/>
              </a:rPr>
              <a:t>Daily new vaccinations and people fully vaccinated</a:t>
            </a:r>
            <a:endParaRPr lang="en-US" sz="1300" dirty="0"/>
          </a:p>
        </p:txBody>
      </p:sp>
      <p:sp>
        <p:nvSpPr>
          <p:cNvPr id="10" name="Shape 8"/>
          <p:cNvSpPr/>
          <p:nvPr/>
        </p:nvSpPr>
        <p:spPr>
          <a:xfrm>
            <a:off x="6355080" y="1828800"/>
            <a:ext cx="5257800" cy="4206240"/>
          </a:xfrm>
          <a:prstGeom prst="rect">
            <a:avLst/>
          </a:prstGeom>
          <a:solidFill>
            <a:srgbClr val="FFFFFF"/>
          </a:solidFill>
          <a:ln w="12700">
            <a:solidFill>
              <a:srgbClr val="E5E0D5"/>
            </a:solidFill>
            <a:prstDash val="solid"/>
          </a:ln>
          <a:effectLst>
            <a:outerShdw blurRad="101600" dist="25400" dir="5400000" algn="bl" rotWithShape="0">
              <a:srgbClr val="000000">
                <a:alpha val="6000"/>
              </a:srgbClr>
            </a:outerShdw>
          </a:effectLst>
        </p:spPr>
        <p:txBody>
          <a:bodyPr/>
          <a:lstStyle/>
          <a:p>
            <a:endParaRPr lang="en-US"/>
          </a:p>
        </p:txBody>
      </p:sp>
      <p:sp>
        <p:nvSpPr>
          <p:cNvPr id="11" name="Shape 9"/>
          <p:cNvSpPr/>
          <p:nvPr/>
        </p:nvSpPr>
        <p:spPr>
          <a:xfrm>
            <a:off x="6355080" y="1828800"/>
            <a:ext cx="5257800" cy="457200"/>
          </a:xfrm>
          <a:prstGeom prst="rect">
            <a:avLst/>
          </a:prstGeom>
          <a:solidFill>
            <a:srgbClr val="0E8388"/>
          </a:solidFill>
          <a:ln w="12700">
            <a:solidFill>
              <a:srgbClr val="0E8388"/>
            </a:solidFill>
            <a:prstDash val="solid"/>
          </a:ln>
        </p:spPr>
        <p:txBody>
          <a:bodyPr/>
          <a:lstStyle/>
          <a:p>
            <a:endParaRPr lang="en-US"/>
          </a:p>
        </p:txBody>
      </p:sp>
      <p:sp>
        <p:nvSpPr>
          <p:cNvPr id="12" name="Text 10"/>
          <p:cNvSpPr/>
          <p:nvPr/>
        </p:nvSpPr>
        <p:spPr>
          <a:xfrm>
            <a:off x="6446520" y="1874520"/>
            <a:ext cx="5029200" cy="365760"/>
          </a:xfrm>
          <a:prstGeom prst="rect">
            <a:avLst/>
          </a:prstGeom>
          <a:noFill/>
          <a:ln/>
        </p:spPr>
        <p:txBody>
          <a:bodyPr wrap="square" lIns="0" tIns="0" rIns="0" bIns="0" rtlCol="0" anchor="ctr"/>
          <a:lstStyle/>
          <a:p>
            <a:pPr marL="0" indent="0">
              <a:buNone/>
            </a:pPr>
            <a:r>
              <a:rPr lang="en-US" sz="1300" b="1" kern="0" spc="400" dirty="0">
                <a:solidFill>
                  <a:srgbClr val="FFFFFF"/>
                </a:solidFill>
                <a:latin typeface="Calibri" pitchFamily="34" charset="0"/>
                <a:ea typeface="Calibri" pitchFamily="34" charset="-122"/>
                <a:cs typeface="Calibri" pitchFamily="34" charset="-120"/>
              </a:rPr>
              <a:t>PRIMARY DATA</a:t>
            </a:r>
            <a:endParaRPr lang="en-US" sz="1300" dirty="0"/>
          </a:p>
        </p:txBody>
      </p:sp>
      <p:sp>
        <p:nvSpPr>
          <p:cNvPr id="13" name="Text 11"/>
          <p:cNvSpPr/>
          <p:nvPr/>
        </p:nvSpPr>
        <p:spPr>
          <a:xfrm>
            <a:off x="6583680" y="2423160"/>
            <a:ext cx="4937760" cy="365760"/>
          </a:xfrm>
          <a:prstGeom prst="rect">
            <a:avLst/>
          </a:prstGeom>
          <a:noFill/>
          <a:ln/>
        </p:spPr>
        <p:txBody>
          <a:bodyPr wrap="square" lIns="0" tIns="0" rIns="0" bIns="0" rtlCol="0" anchor="ctr"/>
          <a:lstStyle/>
          <a:p>
            <a:pPr marL="0" indent="0">
              <a:buNone/>
            </a:pPr>
            <a:r>
              <a:rPr lang="en-US" sz="1800" b="1" dirty="0">
                <a:solidFill>
                  <a:srgbClr val="0F3D4C"/>
                </a:solidFill>
                <a:latin typeface="Georgia" pitchFamily="34" charset="0"/>
                <a:ea typeface="Georgia" pitchFamily="34" charset="-122"/>
                <a:cs typeface="Georgia" pitchFamily="34" charset="-120"/>
              </a:rPr>
              <a:t>Qualtrics Survey</a:t>
            </a:r>
            <a:endParaRPr lang="en-US" sz="1800" dirty="0"/>
          </a:p>
        </p:txBody>
      </p:sp>
      <p:sp>
        <p:nvSpPr>
          <p:cNvPr id="14" name="Text 12"/>
          <p:cNvSpPr/>
          <p:nvPr/>
        </p:nvSpPr>
        <p:spPr>
          <a:xfrm>
            <a:off x="6583680" y="2788920"/>
            <a:ext cx="4937760" cy="274320"/>
          </a:xfrm>
          <a:prstGeom prst="rect">
            <a:avLst/>
          </a:prstGeom>
          <a:noFill/>
          <a:ln/>
        </p:spPr>
        <p:txBody>
          <a:bodyPr wrap="square" lIns="0" tIns="0" rIns="0" bIns="0" rtlCol="0" anchor="ctr"/>
          <a:lstStyle/>
          <a:p>
            <a:pPr marL="0" indent="0">
              <a:buNone/>
            </a:pPr>
            <a:endParaRPr lang="en-US" sz="1100" dirty="0"/>
          </a:p>
        </p:txBody>
      </p:sp>
      <p:sp>
        <p:nvSpPr>
          <p:cNvPr id="15" name="Text 13"/>
          <p:cNvSpPr/>
          <p:nvPr/>
        </p:nvSpPr>
        <p:spPr>
          <a:xfrm>
            <a:off x="6583680" y="3200400"/>
            <a:ext cx="4937760" cy="2743200"/>
          </a:xfrm>
          <a:prstGeom prst="rect">
            <a:avLst/>
          </a:prstGeom>
          <a:noFill/>
          <a:ln/>
        </p:spPr>
        <p:txBody>
          <a:bodyPr wrap="square" rtlCol="0" anchor="t"/>
          <a:lstStyle/>
          <a:p>
            <a:pPr marL="342900" indent="-342900">
              <a:spcAft>
                <a:spcPts val="600"/>
              </a:spcAft>
              <a:buSzPct val="100000"/>
              <a:buChar char="•"/>
            </a:pPr>
            <a:r>
              <a:rPr lang="en-US" sz="1300" b="1" dirty="0">
                <a:solidFill>
                  <a:srgbClr val="1E1E1E"/>
                </a:solidFill>
                <a:latin typeface="Calibri" pitchFamily="34" charset="0"/>
                <a:ea typeface="Calibri" pitchFamily="34" charset="-122"/>
                <a:cs typeface="Calibri" pitchFamily="34" charset="-120"/>
              </a:rPr>
              <a:t>16 Q, ages 18+</a:t>
            </a:r>
            <a:endParaRPr lang="en-US" sz="1300" dirty="0"/>
          </a:p>
          <a:p>
            <a:pPr marL="254000" indent="-254000">
              <a:spcAft>
                <a:spcPts val="600"/>
              </a:spcAft>
              <a:buSzPct val="100000"/>
              <a:buChar char="•"/>
            </a:pPr>
            <a:r>
              <a:rPr lang="en-US" sz="1300" dirty="0">
                <a:solidFill>
                  <a:srgbClr val="1E1E1E"/>
                </a:solidFill>
                <a:latin typeface="Calibri" pitchFamily="34" charset="0"/>
                <a:ea typeface="Calibri" pitchFamily="34" charset="-122"/>
                <a:cs typeface="Calibri" pitchFamily="34" charset="-120"/>
              </a:rPr>
              <a:t>Demographics, COVID experience, vaccination status</a:t>
            </a:r>
            <a:endParaRPr lang="en-US" sz="1300" dirty="0"/>
          </a:p>
          <a:p>
            <a:pPr marL="342900" indent="-342900">
              <a:spcAft>
                <a:spcPts val="600"/>
              </a:spcAft>
              <a:buSzPct val="100000"/>
              <a:buChar char="•"/>
            </a:pPr>
            <a:r>
              <a:rPr lang="en-US" sz="1300" b="1" dirty="0">
                <a:solidFill>
                  <a:srgbClr val="1E1E1E"/>
                </a:solidFill>
                <a:latin typeface="Calibri" pitchFamily="34" charset="0"/>
                <a:ea typeface="Calibri" pitchFamily="34" charset="-122"/>
                <a:cs typeface="Calibri" pitchFamily="34" charset="-120"/>
              </a:rPr>
              <a:t>7-point Likert scales</a:t>
            </a:r>
            <a:endParaRPr lang="en-US" sz="1300" dirty="0"/>
          </a:p>
          <a:p>
            <a:pPr marL="254000" indent="-254000">
              <a:spcAft>
                <a:spcPts val="600"/>
              </a:spcAft>
              <a:buSzPct val="100000"/>
              <a:buChar char="•"/>
            </a:pPr>
            <a:r>
              <a:rPr lang="en-US" sz="1300" dirty="0">
                <a:solidFill>
                  <a:srgbClr val="1E1E1E"/>
                </a:solidFill>
                <a:latin typeface="Calibri" pitchFamily="34" charset="0"/>
                <a:ea typeface="Calibri" pitchFamily="34" charset="-122"/>
                <a:cs typeface="Calibri" pitchFamily="34" charset="-120"/>
              </a:rPr>
              <a:t>7 influence factors on vaccination decisions</a:t>
            </a:r>
          </a:p>
          <a:p>
            <a:pPr marL="254000" indent="-254000">
              <a:spcAft>
                <a:spcPts val="600"/>
              </a:spcAft>
              <a:buSzPct val="100000"/>
              <a:buChar char="•"/>
            </a:pPr>
            <a:r>
              <a:rPr lang="en-US" sz="1300" dirty="0">
                <a:solidFill>
                  <a:srgbClr val="1E1E1E"/>
                </a:solidFill>
                <a:latin typeface="Calibri" pitchFamily="34" charset="0"/>
                <a:ea typeface="Calibri" pitchFamily="34" charset="-122"/>
                <a:cs typeface="Calibri" pitchFamily="34" charset="-120"/>
              </a:rPr>
              <a:t>1 Open-ended response</a:t>
            </a:r>
            <a:endParaRPr lang="en-US" sz="1300" dirty="0"/>
          </a:p>
        </p:txBody>
      </p:sp>
      <p:sp>
        <p:nvSpPr>
          <p:cNvPr id="16" name="Text 14"/>
          <p:cNvSpPr/>
          <p:nvPr/>
        </p:nvSpPr>
        <p:spPr>
          <a:xfrm>
            <a:off x="457200" y="6446520"/>
            <a:ext cx="8229600" cy="274320"/>
          </a:xfrm>
          <a:prstGeom prst="rect">
            <a:avLst/>
          </a:prstGeom>
          <a:noFill/>
          <a:ln/>
        </p:spPr>
        <p:txBody>
          <a:bodyPr wrap="square" lIns="0" tIns="0" rIns="0" bIns="0" rtlCol="0" anchor="ctr"/>
          <a:lstStyle/>
          <a:p>
            <a:pPr marL="0" indent="0" algn="l">
              <a:buNone/>
            </a:pPr>
            <a:r>
              <a:rPr lang="en-US" sz="900" dirty="0">
                <a:solidFill>
                  <a:srgbClr val="5A6B72"/>
                </a:solidFill>
                <a:latin typeface="Calibri" pitchFamily="34" charset="0"/>
                <a:ea typeface="Calibri" pitchFamily="34" charset="-122"/>
                <a:cs typeface="Calibri" pitchFamily="34" charset="-120"/>
              </a:rPr>
              <a:t>Julia Monson  |  BAIS 4720  |  COVID-19 Vaccination &amp; Mortality</a:t>
            </a:r>
            <a:endParaRPr lang="en-US" sz="900" dirty="0"/>
          </a:p>
        </p:txBody>
      </p:sp>
      <p:sp>
        <p:nvSpPr>
          <p:cNvPr id="17" name="Text 15"/>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5A6B72"/>
                </a:solidFill>
                <a:latin typeface="Calibri" pitchFamily="34" charset="0"/>
                <a:ea typeface="Calibri" pitchFamily="34" charset="-122"/>
                <a:cs typeface="Calibri" pitchFamily="34" charset="-120"/>
              </a:rPr>
              <a:t>4 / 17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marL="0" indent="0">
              <a:buNone/>
            </a:pPr>
            <a:r>
              <a:rPr lang="en-US" sz="1100" b="1" kern="0" spc="400" dirty="0">
                <a:solidFill>
                  <a:srgbClr val="0E8388"/>
                </a:solidFill>
                <a:latin typeface="Calibri" pitchFamily="34" charset="0"/>
                <a:ea typeface="Calibri" pitchFamily="34" charset="-122"/>
                <a:cs typeface="Calibri" pitchFamily="34" charset="-120"/>
              </a:rPr>
              <a:t>METHODOLOGY</a:t>
            </a:r>
            <a:endParaRPr lang="en-US" sz="1100" dirty="0"/>
          </a:p>
        </p:txBody>
      </p:sp>
      <p:sp>
        <p:nvSpPr>
          <p:cNvPr id="3" name="Text 1"/>
          <p:cNvSpPr/>
          <p:nvPr/>
        </p:nvSpPr>
        <p:spPr>
          <a:xfrm>
            <a:off x="548640" y="685800"/>
            <a:ext cx="10972800" cy="640080"/>
          </a:xfrm>
          <a:prstGeom prst="rect">
            <a:avLst/>
          </a:prstGeom>
          <a:noFill/>
          <a:ln/>
        </p:spPr>
        <p:txBody>
          <a:bodyPr wrap="square" lIns="0" tIns="0" rIns="0" bIns="0" rtlCol="0" anchor="ctr"/>
          <a:lstStyle/>
          <a:p>
            <a:pPr marL="0" indent="0">
              <a:buNone/>
            </a:pPr>
            <a:r>
              <a:rPr lang="en-US" sz="3200" b="1" dirty="0">
                <a:solidFill>
                  <a:srgbClr val="0F3D4C"/>
                </a:solidFill>
                <a:latin typeface="Georgia" pitchFamily="34" charset="0"/>
                <a:ea typeface="Georgia" pitchFamily="34" charset="-122"/>
                <a:cs typeface="Georgia" pitchFamily="34" charset="-120"/>
              </a:rPr>
              <a:t>Three-Tool Analytical Pipeline</a:t>
            </a:r>
            <a:endParaRPr lang="en-US" sz="3200" dirty="0"/>
          </a:p>
        </p:txBody>
      </p:sp>
      <p:sp>
        <p:nvSpPr>
          <p:cNvPr id="4" name="Shape 2"/>
          <p:cNvSpPr/>
          <p:nvPr/>
        </p:nvSpPr>
        <p:spPr>
          <a:xfrm>
            <a:off x="548640" y="1828800"/>
            <a:ext cx="3657600" cy="4206240"/>
          </a:xfrm>
          <a:prstGeom prst="rect">
            <a:avLst/>
          </a:prstGeom>
          <a:solidFill>
            <a:srgbClr val="FFFFFF"/>
          </a:solidFill>
          <a:ln w="12700">
            <a:solidFill>
              <a:srgbClr val="E5E0D5"/>
            </a:solidFill>
            <a:prstDash val="solid"/>
          </a:ln>
          <a:effectLst>
            <a:outerShdw blurRad="101600" dist="25400" dir="5400000" algn="bl" rotWithShape="0">
              <a:srgbClr val="000000">
                <a:alpha val="6000"/>
              </a:srgbClr>
            </a:outerShdw>
          </a:effectLst>
        </p:spPr>
        <p:txBody>
          <a:bodyPr/>
          <a:lstStyle/>
          <a:p>
            <a:endParaRPr lang="en-US"/>
          </a:p>
        </p:txBody>
      </p:sp>
      <p:sp>
        <p:nvSpPr>
          <p:cNvPr id="5" name="Shape 3"/>
          <p:cNvSpPr/>
          <p:nvPr/>
        </p:nvSpPr>
        <p:spPr>
          <a:xfrm>
            <a:off x="1828800" y="2103120"/>
            <a:ext cx="1097280" cy="1097280"/>
          </a:xfrm>
          <a:prstGeom prst="ellipse">
            <a:avLst/>
          </a:prstGeom>
          <a:solidFill>
            <a:srgbClr val="0E8388"/>
          </a:solidFill>
          <a:ln w="12700">
            <a:solidFill>
              <a:srgbClr val="0E8388"/>
            </a:solidFill>
            <a:prstDash val="solid"/>
          </a:ln>
        </p:spPr>
        <p:txBody>
          <a:bodyPr/>
          <a:lstStyle/>
          <a:p>
            <a:endParaRPr lang="en-US"/>
          </a:p>
        </p:txBody>
      </p:sp>
      <p:sp>
        <p:nvSpPr>
          <p:cNvPr id="6" name="Text 4"/>
          <p:cNvSpPr/>
          <p:nvPr/>
        </p:nvSpPr>
        <p:spPr>
          <a:xfrm>
            <a:off x="1828800" y="2103120"/>
            <a:ext cx="1097280" cy="109728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SQL</a:t>
            </a:r>
            <a:endParaRPr lang="en-US" sz="1800" dirty="0"/>
          </a:p>
        </p:txBody>
      </p:sp>
      <p:sp>
        <p:nvSpPr>
          <p:cNvPr id="7" name="Text 5"/>
          <p:cNvSpPr/>
          <p:nvPr/>
        </p:nvSpPr>
        <p:spPr>
          <a:xfrm>
            <a:off x="731520" y="3337560"/>
            <a:ext cx="3291840" cy="274320"/>
          </a:xfrm>
          <a:prstGeom prst="rect">
            <a:avLst/>
          </a:prstGeom>
          <a:noFill/>
          <a:ln/>
        </p:spPr>
        <p:txBody>
          <a:bodyPr wrap="square" lIns="0" tIns="0" rIns="0" bIns="0" rtlCol="0" anchor="ctr"/>
          <a:lstStyle/>
          <a:p>
            <a:pPr marL="0" indent="0" algn="ctr">
              <a:buNone/>
            </a:pPr>
            <a:r>
              <a:rPr lang="en-US" sz="1000" b="1" kern="0" spc="400" dirty="0">
                <a:solidFill>
                  <a:srgbClr val="0E8388"/>
                </a:solidFill>
                <a:latin typeface="Calibri" pitchFamily="34" charset="0"/>
                <a:ea typeface="Calibri" pitchFamily="34" charset="-122"/>
                <a:cs typeface="Calibri" pitchFamily="34" charset="-120"/>
              </a:rPr>
              <a:t>DATA ANALYSIS</a:t>
            </a:r>
            <a:endParaRPr lang="en-US" sz="1000" dirty="0"/>
          </a:p>
        </p:txBody>
      </p:sp>
      <p:sp>
        <p:nvSpPr>
          <p:cNvPr id="8" name="Text 6"/>
          <p:cNvSpPr/>
          <p:nvPr/>
        </p:nvSpPr>
        <p:spPr>
          <a:xfrm>
            <a:off x="731520" y="3611880"/>
            <a:ext cx="3291840" cy="457200"/>
          </a:xfrm>
          <a:prstGeom prst="rect">
            <a:avLst/>
          </a:prstGeom>
          <a:noFill/>
          <a:ln/>
        </p:spPr>
        <p:txBody>
          <a:bodyPr wrap="square" lIns="0" tIns="0" rIns="0" bIns="0" rtlCol="0" anchor="ctr"/>
          <a:lstStyle/>
          <a:p>
            <a:pPr marL="0" indent="0" algn="ctr">
              <a:buNone/>
            </a:pPr>
            <a:r>
              <a:rPr lang="en-US" sz="1800" b="1" dirty="0">
                <a:solidFill>
                  <a:srgbClr val="0F3D4C"/>
                </a:solidFill>
                <a:latin typeface="Georgia" pitchFamily="34" charset="0"/>
                <a:ea typeface="Georgia" pitchFamily="34" charset="-122"/>
                <a:cs typeface="Georgia" pitchFamily="34" charset="-120"/>
              </a:rPr>
              <a:t>Microsoft SQL Server</a:t>
            </a:r>
            <a:endParaRPr lang="en-US" sz="1800" dirty="0"/>
          </a:p>
        </p:txBody>
      </p:sp>
      <p:sp>
        <p:nvSpPr>
          <p:cNvPr id="9" name="Text 7"/>
          <p:cNvSpPr/>
          <p:nvPr/>
        </p:nvSpPr>
        <p:spPr>
          <a:xfrm>
            <a:off x="822960" y="4160520"/>
            <a:ext cx="3200400" cy="1783080"/>
          </a:xfrm>
          <a:prstGeom prst="rect">
            <a:avLst/>
          </a:prstGeom>
          <a:noFill/>
          <a:ln/>
        </p:spPr>
        <p:txBody>
          <a:bodyPr wrap="square" rtlCol="0" anchor="t"/>
          <a:lstStyle/>
          <a:p>
            <a:pPr marL="342900" indent="-342900">
              <a:spcAft>
                <a:spcPts val="400"/>
              </a:spcAft>
              <a:buSzPct val="100000"/>
              <a:buChar char="•"/>
            </a:pPr>
            <a:r>
              <a:rPr lang="en-US" sz="1200" dirty="0">
                <a:solidFill>
                  <a:srgbClr val="1E1E1E"/>
                </a:solidFill>
                <a:latin typeface="Calibri" pitchFamily="34" charset="0"/>
                <a:ea typeface="Calibri" pitchFamily="34" charset="-122"/>
                <a:cs typeface="Calibri" pitchFamily="34" charset="-120"/>
              </a:rPr>
              <a:t>Joins, CTEs, window functions</a:t>
            </a:r>
            <a:endParaRPr lang="en-US" sz="1200" dirty="0"/>
          </a:p>
          <a:p>
            <a:pPr marL="342900" indent="-342900">
              <a:spcAft>
                <a:spcPts val="400"/>
              </a:spcAft>
              <a:buSzPct val="100000"/>
              <a:buChar char="•"/>
            </a:pPr>
            <a:r>
              <a:rPr lang="en-US" sz="1200" dirty="0">
                <a:solidFill>
                  <a:srgbClr val="1E1E1E"/>
                </a:solidFill>
                <a:latin typeface="Calibri" pitchFamily="34" charset="0"/>
                <a:ea typeface="Calibri" pitchFamily="34" charset="-122"/>
                <a:cs typeface="Calibri" pitchFamily="34" charset="-120"/>
              </a:rPr>
              <a:t>Rolling vaccination totals</a:t>
            </a:r>
            <a:endParaRPr lang="en-US" sz="1200" dirty="0"/>
          </a:p>
          <a:p>
            <a:pPr marL="342900" indent="-342900">
              <a:spcAft>
                <a:spcPts val="400"/>
              </a:spcAft>
              <a:buSzPct val="100000"/>
              <a:buChar char="•"/>
            </a:pPr>
            <a:r>
              <a:rPr lang="en-US" sz="1200" dirty="0">
                <a:solidFill>
                  <a:srgbClr val="1E1E1E"/>
                </a:solidFill>
                <a:latin typeface="Calibri" pitchFamily="34" charset="0"/>
                <a:ea typeface="Calibri" pitchFamily="34" charset="-122"/>
                <a:cs typeface="Calibri" pitchFamily="34" charset="-120"/>
              </a:rPr>
              <a:t>Pre vs. post-vaccine comparison</a:t>
            </a:r>
            <a:endParaRPr lang="en-US" sz="1200" dirty="0"/>
          </a:p>
          <a:p>
            <a:pPr marL="342900" indent="-342900">
              <a:spcAft>
                <a:spcPts val="400"/>
              </a:spcAft>
              <a:buSzPct val="100000"/>
              <a:buChar char="•"/>
            </a:pPr>
            <a:r>
              <a:rPr lang="en-US" sz="1200" dirty="0">
                <a:solidFill>
                  <a:srgbClr val="1E1E1E"/>
                </a:solidFill>
                <a:latin typeface="Calibri" pitchFamily="34" charset="0"/>
                <a:ea typeface="Calibri" pitchFamily="34" charset="-122"/>
                <a:cs typeface="Calibri" pitchFamily="34" charset="-120"/>
              </a:rPr>
              <a:t>Views to feed Tableau dashboards</a:t>
            </a:r>
            <a:endParaRPr lang="en-US" sz="1200" dirty="0"/>
          </a:p>
        </p:txBody>
      </p:sp>
      <p:sp>
        <p:nvSpPr>
          <p:cNvPr id="10" name="Shape 8"/>
          <p:cNvSpPr/>
          <p:nvPr/>
        </p:nvSpPr>
        <p:spPr>
          <a:xfrm>
            <a:off x="4343400" y="1828800"/>
            <a:ext cx="3657600" cy="4206240"/>
          </a:xfrm>
          <a:prstGeom prst="rect">
            <a:avLst/>
          </a:prstGeom>
          <a:solidFill>
            <a:srgbClr val="FFFFFF"/>
          </a:solidFill>
          <a:ln w="12700">
            <a:solidFill>
              <a:srgbClr val="E5E0D5"/>
            </a:solidFill>
            <a:prstDash val="solid"/>
          </a:ln>
          <a:effectLst>
            <a:outerShdw blurRad="101600" dist="25400" dir="5400000" algn="bl" rotWithShape="0">
              <a:srgbClr val="000000">
                <a:alpha val="6000"/>
              </a:srgbClr>
            </a:outerShdw>
          </a:effectLst>
        </p:spPr>
        <p:txBody>
          <a:bodyPr/>
          <a:lstStyle/>
          <a:p>
            <a:endParaRPr lang="en-US"/>
          </a:p>
        </p:txBody>
      </p:sp>
      <p:sp>
        <p:nvSpPr>
          <p:cNvPr id="11" name="Shape 9"/>
          <p:cNvSpPr/>
          <p:nvPr/>
        </p:nvSpPr>
        <p:spPr>
          <a:xfrm>
            <a:off x="5623560" y="2103120"/>
            <a:ext cx="1097280" cy="1097280"/>
          </a:xfrm>
          <a:prstGeom prst="ellipse">
            <a:avLst/>
          </a:prstGeom>
          <a:solidFill>
            <a:srgbClr val="0E8388"/>
          </a:solidFill>
          <a:ln w="12700">
            <a:solidFill>
              <a:srgbClr val="0E8388"/>
            </a:solidFill>
            <a:prstDash val="solid"/>
          </a:ln>
        </p:spPr>
        <p:txBody>
          <a:bodyPr/>
          <a:lstStyle/>
          <a:p>
            <a:endParaRPr lang="en-US"/>
          </a:p>
        </p:txBody>
      </p:sp>
      <p:sp>
        <p:nvSpPr>
          <p:cNvPr id="12" name="Text 10"/>
          <p:cNvSpPr/>
          <p:nvPr/>
        </p:nvSpPr>
        <p:spPr>
          <a:xfrm>
            <a:off x="5623560" y="2103120"/>
            <a:ext cx="1097280" cy="109728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VIZ</a:t>
            </a:r>
            <a:endParaRPr lang="en-US" sz="1800" dirty="0"/>
          </a:p>
        </p:txBody>
      </p:sp>
      <p:sp>
        <p:nvSpPr>
          <p:cNvPr id="13" name="Text 11"/>
          <p:cNvSpPr/>
          <p:nvPr/>
        </p:nvSpPr>
        <p:spPr>
          <a:xfrm>
            <a:off x="4526280" y="3337560"/>
            <a:ext cx="3291840" cy="274320"/>
          </a:xfrm>
          <a:prstGeom prst="rect">
            <a:avLst/>
          </a:prstGeom>
          <a:noFill/>
          <a:ln/>
        </p:spPr>
        <p:txBody>
          <a:bodyPr wrap="square" lIns="0" tIns="0" rIns="0" bIns="0" rtlCol="0" anchor="ctr"/>
          <a:lstStyle/>
          <a:p>
            <a:pPr marL="0" indent="0" algn="ctr">
              <a:buNone/>
            </a:pPr>
            <a:r>
              <a:rPr lang="en-US" sz="1000" b="1" kern="0" spc="400" dirty="0">
                <a:solidFill>
                  <a:srgbClr val="0E8388"/>
                </a:solidFill>
                <a:latin typeface="Calibri" pitchFamily="34" charset="0"/>
                <a:ea typeface="Calibri" pitchFamily="34" charset="-122"/>
                <a:cs typeface="Calibri" pitchFamily="34" charset="-120"/>
              </a:rPr>
              <a:t>VISUALIZATION</a:t>
            </a:r>
            <a:endParaRPr lang="en-US" sz="1000" dirty="0"/>
          </a:p>
        </p:txBody>
      </p:sp>
      <p:sp>
        <p:nvSpPr>
          <p:cNvPr id="14" name="Text 12"/>
          <p:cNvSpPr/>
          <p:nvPr/>
        </p:nvSpPr>
        <p:spPr>
          <a:xfrm>
            <a:off x="4526280" y="3611880"/>
            <a:ext cx="3291840" cy="457200"/>
          </a:xfrm>
          <a:prstGeom prst="rect">
            <a:avLst/>
          </a:prstGeom>
          <a:noFill/>
          <a:ln/>
        </p:spPr>
        <p:txBody>
          <a:bodyPr wrap="square" lIns="0" tIns="0" rIns="0" bIns="0" rtlCol="0" anchor="ctr"/>
          <a:lstStyle/>
          <a:p>
            <a:pPr marL="0" indent="0" algn="ctr">
              <a:buNone/>
            </a:pPr>
            <a:r>
              <a:rPr lang="en-US" sz="1800" b="1" dirty="0">
                <a:solidFill>
                  <a:srgbClr val="0F3D4C"/>
                </a:solidFill>
                <a:latin typeface="Georgia" pitchFamily="34" charset="0"/>
                <a:ea typeface="Georgia" pitchFamily="34" charset="-122"/>
                <a:cs typeface="Georgia" pitchFamily="34" charset="-120"/>
              </a:rPr>
              <a:t>Tableau</a:t>
            </a:r>
            <a:endParaRPr lang="en-US" sz="1800" dirty="0"/>
          </a:p>
        </p:txBody>
      </p:sp>
      <p:sp>
        <p:nvSpPr>
          <p:cNvPr id="15" name="Text 13"/>
          <p:cNvSpPr/>
          <p:nvPr/>
        </p:nvSpPr>
        <p:spPr>
          <a:xfrm>
            <a:off x="4617720" y="4160520"/>
            <a:ext cx="3200400" cy="1783080"/>
          </a:xfrm>
          <a:prstGeom prst="rect">
            <a:avLst/>
          </a:prstGeom>
          <a:noFill/>
          <a:ln/>
        </p:spPr>
        <p:txBody>
          <a:bodyPr wrap="square" rtlCol="0" anchor="t"/>
          <a:lstStyle/>
          <a:p>
            <a:pPr marL="342900" indent="-342900">
              <a:spcAft>
                <a:spcPts val="400"/>
              </a:spcAft>
              <a:buSzPct val="100000"/>
              <a:buChar char="•"/>
            </a:pPr>
            <a:r>
              <a:rPr lang="en-US" sz="1200" dirty="0">
                <a:solidFill>
                  <a:srgbClr val="1E1E1E"/>
                </a:solidFill>
                <a:latin typeface="Calibri" pitchFamily="34" charset="0"/>
                <a:ea typeface="Calibri" pitchFamily="34" charset="-122"/>
                <a:cs typeface="Calibri" pitchFamily="34" charset="-120"/>
              </a:rPr>
              <a:t>Interactive dashboard</a:t>
            </a:r>
            <a:endParaRPr lang="en-US" sz="1200" dirty="0"/>
          </a:p>
          <a:p>
            <a:pPr marL="342900" indent="-342900">
              <a:spcAft>
                <a:spcPts val="400"/>
              </a:spcAft>
              <a:buSzPct val="100000"/>
              <a:buChar char="•"/>
            </a:pPr>
            <a:r>
              <a:rPr lang="en-US" sz="1200" dirty="0">
                <a:solidFill>
                  <a:srgbClr val="1E1E1E"/>
                </a:solidFill>
                <a:latin typeface="Calibri" pitchFamily="34" charset="0"/>
                <a:ea typeface="Calibri" pitchFamily="34" charset="-122"/>
                <a:cs typeface="Calibri" pitchFamily="34" charset="-120"/>
              </a:rPr>
              <a:t>Geographic infection map</a:t>
            </a:r>
            <a:endParaRPr lang="en-US" sz="1200" dirty="0"/>
          </a:p>
          <a:p>
            <a:pPr marL="342900" indent="-342900">
              <a:spcAft>
                <a:spcPts val="400"/>
              </a:spcAft>
              <a:buSzPct val="100000"/>
              <a:buChar char="•"/>
            </a:pPr>
            <a:r>
              <a:rPr lang="en-US" sz="1200" dirty="0">
                <a:solidFill>
                  <a:srgbClr val="1E1E1E"/>
                </a:solidFill>
                <a:latin typeface="Calibri" pitchFamily="34" charset="0"/>
                <a:ea typeface="Calibri" pitchFamily="34" charset="-122"/>
                <a:cs typeface="Calibri" pitchFamily="34" charset="-120"/>
              </a:rPr>
              <a:t>Time-series death trends</a:t>
            </a:r>
            <a:endParaRPr lang="en-US" sz="1200" dirty="0"/>
          </a:p>
          <a:p>
            <a:pPr marL="342900" indent="-342900">
              <a:spcAft>
                <a:spcPts val="400"/>
              </a:spcAft>
              <a:buSzPct val="100000"/>
              <a:buChar char="•"/>
            </a:pPr>
            <a:r>
              <a:rPr lang="en-US" sz="1200" dirty="0">
                <a:solidFill>
                  <a:srgbClr val="1E1E1E"/>
                </a:solidFill>
                <a:latin typeface="Calibri" pitchFamily="34" charset="0"/>
                <a:ea typeface="Calibri" pitchFamily="34" charset="-122"/>
                <a:cs typeface="Calibri" pitchFamily="34" charset="-120"/>
              </a:rPr>
              <a:t>Continental comparison charts</a:t>
            </a:r>
            <a:endParaRPr lang="en-US" sz="1200" dirty="0"/>
          </a:p>
        </p:txBody>
      </p:sp>
      <p:sp>
        <p:nvSpPr>
          <p:cNvPr id="16" name="Shape 14"/>
          <p:cNvSpPr/>
          <p:nvPr/>
        </p:nvSpPr>
        <p:spPr>
          <a:xfrm>
            <a:off x="8138160" y="1828800"/>
            <a:ext cx="3657600" cy="4206240"/>
          </a:xfrm>
          <a:prstGeom prst="rect">
            <a:avLst/>
          </a:prstGeom>
          <a:solidFill>
            <a:srgbClr val="FFFFFF"/>
          </a:solidFill>
          <a:ln w="12700">
            <a:solidFill>
              <a:srgbClr val="E5E0D5"/>
            </a:solidFill>
            <a:prstDash val="solid"/>
          </a:ln>
          <a:effectLst>
            <a:outerShdw blurRad="101600" dist="25400" dir="5400000" algn="bl" rotWithShape="0">
              <a:srgbClr val="000000">
                <a:alpha val="6000"/>
              </a:srgbClr>
            </a:outerShdw>
          </a:effectLst>
        </p:spPr>
        <p:txBody>
          <a:bodyPr/>
          <a:lstStyle/>
          <a:p>
            <a:endParaRPr lang="en-US"/>
          </a:p>
        </p:txBody>
      </p:sp>
      <p:sp>
        <p:nvSpPr>
          <p:cNvPr id="17" name="Shape 15"/>
          <p:cNvSpPr/>
          <p:nvPr/>
        </p:nvSpPr>
        <p:spPr>
          <a:xfrm>
            <a:off x="9418320" y="2103120"/>
            <a:ext cx="1097280" cy="1097280"/>
          </a:xfrm>
          <a:prstGeom prst="ellipse">
            <a:avLst/>
          </a:prstGeom>
          <a:solidFill>
            <a:srgbClr val="0E8388"/>
          </a:solidFill>
          <a:ln w="12700">
            <a:solidFill>
              <a:srgbClr val="0E8388"/>
            </a:solidFill>
            <a:prstDash val="solid"/>
          </a:ln>
        </p:spPr>
        <p:txBody>
          <a:bodyPr/>
          <a:lstStyle/>
          <a:p>
            <a:endParaRPr lang="en-US"/>
          </a:p>
        </p:txBody>
      </p:sp>
      <p:sp>
        <p:nvSpPr>
          <p:cNvPr id="18" name="Text 16"/>
          <p:cNvSpPr/>
          <p:nvPr/>
        </p:nvSpPr>
        <p:spPr>
          <a:xfrm>
            <a:off x="9418320" y="2103120"/>
            <a:ext cx="1097280" cy="109728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SVY</a:t>
            </a:r>
            <a:endParaRPr lang="en-US" sz="1800" dirty="0"/>
          </a:p>
        </p:txBody>
      </p:sp>
      <p:sp>
        <p:nvSpPr>
          <p:cNvPr id="19" name="Text 17"/>
          <p:cNvSpPr/>
          <p:nvPr/>
        </p:nvSpPr>
        <p:spPr>
          <a:xfrm>
            <a:off x="8321040" y="3337560"/>
            <a:ext cx="3291840" cy="274320"/>
          </a:xfrm>
          <a:prstGeom prst="rect">
            <a:avLst/>
          </a:prstGeom>
          <a:noFill/>
          <a:ln/>
        </p:spPr>
        <p:txBody>
          <a:bodyPr wrap="square" lIns="0" tIns="0" rIns="0" bIns="0" rtlCol="0" anchor="ctr"/>
          <a:lstStyle/>
          <a:p>
            <a:pPr marL="0" indent="0" algn="ctr">
              <a:buNone/>
            </a:pPr>
            <a:r>
              <a:rPr lang="en-US" sz="1000" b="1" kern="0" spc="400" dirty="0">
                <a:solidFill>
                  <a:srgbClr val="0E8388"/>
                </a:solidFill>
                <a:latin typeface="Calibri" pitchFamily="34" charset="0"/>
                <a:ea typeface="Calibri" pitchFamily="34" charset="-122"/>
                <a:cs typeface="Calibri" pitchFamily="34" charset="-120"/>
              </a:rPr>
              <a:t>PRIMARY DATA</a:t>
            </a:r>
            <a:endParaRPr lang="en-US" sz="1000" dirty="0"/>
          </a:p>
        </p:txBody>
      </p:sp>
      <p:sp>
        <p:nvSpPr>
          <p:cNvPr id="20" name="Text 18"/>
          <p:cNvSpPr/>
          <p:nvPr/>
        </p:nvSpPr>
        <p:spPr>
          <a:xfrm>
            <a:off x="8321040" y="3611880"/>
            <a:ext cx="3291840" cy="457200"/>
          </a:xfrm>
          <a:prstGeom prst="rect">
            <a:avLst/>
          </a:prstGeom>
          <a:noFill/>
          <a:ln/>
        </p:spPr>
        <p:txBody>
          <a:bodyPr wrap="square" lIns="0" tIns="0" rIns="0" bIns="0" rtlCol="0" anchor="ctr"/>
          <a:lstStyle/>
          <a:p>
            <a:pPr marL="0" indent="0" algn="ctr">
              <a:buNone/>
            </a:pPr>
            <a:r>
              <a:rPr lang="en-US" sz="1800" b="1" dirty="0">
                <a:solidFill>
                  <a:srgbClr val="0F3D4C"/>
                </a:solidFill>
                <a:latin typeface="Georgia" pitchFamily="34" charset="0"/>
                <a:ea typeface="Georgia" pitchFamily="34" charset="-122"/>
                <a:cs typeface="Georgia" pitchFamily="34" charset="-120"/>
              </a:rPr>
              <a:t>Qualtrics</a:t>
            </a:r>
            <a:endParaRPr lang="en-US" sz="1800" dirty="0"/>
          </a:p>
        </p:txBody>
      </p:sp>
      <p:sp>
        <p:nvSpPr>
          <p:cNvPr id="21" name="Text 19"/>
          <p:cNvSpPr/>
          <p:nvPr/>
        </p:nvSpPr>
        <p:spPr>
          <a:xfrm>
            <a:off x="8412480" y="4160520"/>
            <a:ext cx="3200400" cy="1783080"/>
          </a:xfrm>
          <a:prstGeom prst="rect">
            <a:avLst/>
          </a:prstGeom>
          <a:noFill/>
          <a:ln/>
        </p:spPr>
        <p:txBody>
          <a:bodyPr wrap="square" rtlCol="0" anchor="t"/>
          <a:lstStyle/>
          <a:p>
            <a:pPr marL="342900" indent="-342900">
              <a:spcAft>
                <a:spcPts val="400"/>
              </a:spcAft>
              <a:buSzPct val="100000"/>
              <a:buChar char="•"/>
            </a:pPr>
            <a:r>
              <a:rPr lang="en-US" sz="1200" dirty="0">
                <a:solidFill>
                  <a:srgbClr val="1E1E1E"/>
                </a:solidFill>
                <a:latin typeface="Calibri" pitchFamily="34" charset="0"/>
                <a:ea typeface="Calibri" pitchFamily="34" charset="-122"/>
                <a:cs typeface="Calibri" pitchFamily="34" charset="-120"/>
              </a:rPr>
              <a:t>Survey design &amp; distribution</a:t>
            </a:r>
            <a:endParaRPr lang="en-US" sz="1200" dirty="0"/>
          </a:p>
          <a:p>
            <a:pPr marL="342900" indent="-342900">
              <a:spcAft>
                <a:spcPts val="400"/>
              </a:spcAft>
              <a:buSzPct val="100000"/>
              <a:buChar char="•"/>
            </a:pPr>
            <a:r>
              <a:rPr lang="en-US" sz="1200" dirty="0">
                <a:solidFill>
                  <a:srgbClr val="1E1E1E"/>
                </a:solidFill>
                <a:latin typeface="Calibri" pitchFamily="34" charset="0"/>
                <a:ea typeface="Calibri" pitchFamily="34" charset="-122"/>
                <a:cs typeface="Calibri" pitchFamily="34" charset="-120"/>
              </a:rPr>
              <a:t>16 questions, Likert scales</a:t>
            </a:r>
            <a:endParaRPr lang="en-US" sz="1200" dirty="0"/>
          </a:p>
          <a:p>
            <a:pPr marL="342900" indent="-342900">
              <a:spcAft>
                <a:spcPts val="400"/>
              </a:spcAft>
              <a:buSzPct val="100000"/>
              <a:buChar char="•"/>
            </a:pPr>
            <a:r>
              <a:rPr lang="en-US" sz="1200" dirty="0">
                <a:solidFill>
                  <a:srgbClr val="1E1E1E"/>
                </a:solidFill>
                <a:latin typeface="Calibri" pitchFamily="34" charset="0"/>
                <a:ea typeface="Calibri" pitchFamily="34" charset="-122"/>
                <a:cs typeface="Calibri" pitchFamily="34" charset="-120"/>
              </a:rPr>
              <a:t>Open-ended qualitative data</a:t>
            </a:r>
            <a:endParaRPr lang="en-US" sz="1200" dirty="0"/>
          </a:p>
          <a:p>
            <a:pPr marL="342900" indent="-342900">
              <a:spcAft>
                <a:spcPts val="400"/>
              </a:spcAft>
              <a:buSzPct val="100000"/>
              <a:buChar char="•"/>
            </a:pPr>
            <a:r>
              <a:rPr lang="en-US" sz="1200" dirty="0">
                <a:solidFill>
                  <a:srgbClr val="1E1E1E"/>
                </a:solidFill>
                <a:latin typeface="Calibri" pitchFamily="34" charset="0"/>
                <a:ea typeface="Calibri" pitchFamily="34" charset="-122"/>
                <a:cs typeface="Calibri" pitchFamily="34" charset="-120"/>
              </a:rPr>
              <a:t>40 clean usable responses</a:t>
            </a:r>
            <a:endParaRPr lang="en-US" sz="1200" dirty="0"/>
          </a:p>
        </p:txBody>
      </p:sp>
      <p:sp>
        <p:nvSpPr>
          <p:cNvPr id="22" name="Text 20"/>
          <p:cNvSpPr/>
          <p:nvPr/>
        </p:nvSpPr>
        <p:spPr>
          <a:xfrm>
            <a:off x="457200" y="6446520"/>
            <a:ext cx="8229600" cy="274320"/>
          </a:xfrm>
          <a:prstGeom prst="rect">
            <a:avLst/>
          </a:prstGeom>
          <a:noFill/>
          <a:ln/>
        </p:spPr>
        <p:txBody>
          <a:bodyPr wrap="square" lIns="0" tIns="0" rIns="0" bIns="0" rtlCol="0" anchor="ctr"/>
          <a:lstStyle/>
          <a:p>
            <a:pPr marL="0" indent="0" algn="l">
              <a:buNone/>
            </a:pPr>
            <a:r>
              <a:rPr lang="en-US" sz="900" dirty="0">
                <a:solidFill>
                  <a:srgbClr val="5A6B72"/>
                </a:solidFill>
                <a:latin typeface="Calibri" pitchFamily="34" charset="0"/>
                <a:ea typeface="Calibri" pitchFamily="34" charset="-122"/>
                <a:cs typeface="Calibri" pitchFamily="34" charset="-120"/>
              </a:rPr>
              <a:t>Julia Monson  |  BAIS 4720  |  COVID-19 Vaccination &amp; Mortality</a:t>
            </a:r>
            <a:endParaRPr lang="en-US" sz="900" dirty="0"/>
          </a:p>
        </p:txBody>
      </p:sp>
      <p:sp>
        <p:nvSpPr>
          <p:cNvPr id="23" name="Text 21"/>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5A6B72"/>
                </a:solidFill>
                <a:latin typeface="Calibri" pitchFamily="34" charset="0"/>
                <a:ea typeface="Calibri" pitchFamily="34" charset="-122"/>
                <a:cs typeface="Calibri" pitchFamily="34" charset="-120"/>
              </a:rPr>
              <a:t>5 / 17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marL="0" indent="0">
              <a:buNone/>
            </a:pPr>
            <a:r>
              <a:rPr lang="en-US" sz="1100" b="1" kern="0" spc="400" dirty="0">
                <a:solidFill>
                  <a:srgbClr val="0E8388"/>
                </a:solidFill>
                <a:latin typeface="Calibri" pitchFamily="34" charset="0"/>
                <a:ea typeface="Calibri" pitchFamily="34" charset="-122"/>
                <a:cs typeface="Calibri" pitchFamily="34" charset="-120"/>
              </a:rPr>
              <a:t>DATA PREPARATION</a:t>
            </a:r>
            <a:endParaRPr lang="en-US" sz="1100" dirty="0"/>
          </a:p>
        </p:txBody>
      </p:sp>
      <p:sp>
        <p:nvSpPr>
          <p:cNvPr id="3" name="Text 1"/>
          <p:cNvSpPr/>
          <p:nvPr/>
        </p:nvSpPr>
        <p:spPr>
          <a:xfrm>
            <a:off x="548640" y="685800"/>
            <a:ext cx="10972800" cy="640080"/>
          </a:xfrm>
          <a:prstGeom prst="rect">
            <a:avLst/>
          </a:prstGeom>
          <a:noFill/>
          <a:ln/>
        </p:spPr>
        <p:txBody>
          <a:bodyPr wrap="square" lIns="0" tIns="0" rIns="0" bIns="0" rtlCol="0" anchor="ctr"/>
          <a:lstStyle/>
          <a:p>
            <a:pPr marL="0" indent="0">
              <a:buNone/>
            </a:pPr>
            <a:r>
              <a:rPr lang="en-US" sz="3200" b="1" dirty="0">
                <a:solidFill>
                  <a:srgbClr val="0F3D4C"/>
                </a:solidFill>
                <a:latin typeface="Georgia" pitchFamily="34" charset="0"/>
                <a:ea typeface="Georgia" pitchFamily="34" charset="-122"/>
                <a:cs typeface="Georgia" pitchFamily="34" charset="-120"/>
              </a:rPr>
              <a:t>Cleaning the data</a:t>
            </a:r>
            <a:endParaRPr lang="en-US" sz="3200" dirty="0"/>
          </a:p>
        </p:txBody>
      </p:sp>
      <p:sp>
        <p:nvSpPr>
          <p:cNvPr id="4" name="Shape 2"/>
          <p:cNvSpPr/>
          <p:nvPr/>
        </p:nvSpPr>
        <p:spPr>
          <a:xfrm>
            <a:off x="548640" y="1828800"/>
            <a:ext cx="5486400" cy="4206240"/>
          </a:xfrm>
          <a:prstGeom prst="rect">
            <a:avLst/>
          </a:prstGeom>
          <a:solidFill>
            <a:srgbClr val="FFFFFF"/>
          </a:solidFill>
          <a:ln w="12700">
            <a:solidFill>
              <a:srgbClr val="E5E0D5"/>
            </a:solidFill>
            <a:prstDash val="solid"/>
          </a:ln>
          <a:effectLst>
            <a:outerShdw blurRad="101600" dist="25400" dir="5400000" algn="bl" rotWithShape="0">
              <a:srgbClr val="000000">
                <a:alpha val="6000"/>
              </a:srgbClr>
            </a:outerShdw>
          </a:effectLst>
        </p:spPr>
        <p:txBody>
          <a:bodyPr/>
          <a:lstStyle/>
          <a:p>
            <a:endParaRPr lang="en-US"/>
          </a:p>
        </p:txBody>
      </p:sp>
      <p:sp>
        <p:nvSpPr>
          <p:cNvPr id="5" name="Shape 3"/>
          <p:cNvSpPr/>
          <p:nvPr/>
        </p:nvSpPr>
        <p:spPr>
          <a:xfrm>
            <a:off x="548640" y="1828800"/>
            <a:ext cx="73152" cy="4206240"/>
          </a:xfrm>
          <a:prstGeom prst="rect">
            <a:avLst/>
          </a:prstGeom>
          <a:solidFill>
            <a:srgbClr val="0F3D4C"/>
          </a:solidFill>
          <a:ln w="12700">
            <a:solidFill>
              <a:srgbClr val="0F3D4C"/>
            </a:solidFill>
            <a:prstDash val="solid"/>
          </a:ln>
        </p:spPr>
        <p:txBody>
          <a:bodyPr/>
          <a:lstStyle/>
          <a:p>
            <a:endParaRPr lang="en-US"/>
          </a:p>
        </p:txBody>
      </p:sp>
      <p:sp>
        <p:nvSpPr>
          <p:cNvPr id="6" name="Text 4"/>
          <p:cNvSpPr/>
          <p:nvPr/>
        </p:nvSpPr>
        <p:spPr>
          <a:xfrm>
            <a:off x="777240" y="1965960"/>
            <a:ext cx="5120640" cy="320040"/>
          </a:xfrm>
          <a:prstGeom prst="rect">
            <a:avLst/>
          </a:prstGeom>
          <a:noFill/>
          <a:ln/>
        </p:spPr>
        <p:txBody>
          <a:bodyPr wrap="square" lIns="0" tIns="0" rIns="0" bIns="0" rtlCol="0" anchor="ctr"/>
          <a:lstStyle/>
          <a:p>
            <a:pPr marL="0" indent="0">
              <a:buNone/>
            </a:pPr>
            <a:r>
              <a:rPr lang="en-US" sz="1100" b="1" kern="0" spc="300" dirty="0">
                <a:solidFill>
                  <a:srgbClr val="0E8388"/>
                </a:solidFill>
                <a:latin typeface="Calibri" pitchFamily="34" charset="0"/>
                <a:ea typeface="Calibri" pitchFamily="34" charset="-122"/>
                <a:cs typeface="Calibri" pitchFamily="34" charset="-120"/>
              </a:rPr>
              <a:t>SECONDARY DATA (SQL)</a:t>
            </a:r>
            <a:endParaRPr lang="en-US" sz="1100" dirty="0"/>
          </a:p>
        </p:txBody>
      </p:sp>
      <p:sp>
        <p:nvSpPr>
          <p:cNvPr id="7" name="Text 5"/>
          <p:cNvSpPr/>
          <p:nvPr/>
        </p:nvSpPr>
        <p:spPr>
          <a:xfrm>
            <a:off x="777240" y="2331720"/>
            <a:ext cx="5120640" cy="3657600"/>
          </a:xfrm>
          <a:prstGeom prst="rect">
            <a:avLst/>
          </a:prstGeom>
          <a:noFill/>
          <a:ln/>
        </p:spPr>
        <p:txBody>
          <a:bodyPr wrap="square" rtlCol="0" anchor="t"/>
          <a:lstStyle/>
          <a:p>
            <a:pPr marL="0" indent="0">
              <a:buNone/>
            </a:pPr>
            <a:r>
              <a:rPr lang="en-US" sz="1300" b="1" dirty="0">
                <a:solidFill>
                  <a:srgbClr val="0F3D4C"/>
                </a:solidFill>
                <a:latin typeface="Calibri" pitchFamily="34" charset="0"/>
                <a:ea typeface="Calibri" pitchFamily="34" charset="-122"/>
                <a:cs typeface="Calibri" pitchFamily="34" charset="-120"/>
              </a:rPr>
              <a:t>Removed continent-level rows</a:t>
            </a:r>
            <a:endParaRPr lang="en-US" sz="1300" dirty="0"/>
          </a:p>
          <a:p>
            <a:pPr marL="0" indent="0">
              <a:buNone/>
            </a:pPr>
            <a:r>
              <a:rPr lang="en-US" sz="1100" dirty="0">
                <a:solidFill>
                  <a:srgbClr val="5A6B72"/>
                </a:solidFill>
                <a:latin typeface="Calibri" pitchFamily="34" charset="0"/>
                <a:ea typeface="Calibri" pitchFamily="34" charset="-122"/>
                <a:cs typeface="Calibri" pitchFamily="34" charset="-120"/>
              </a:rPr>
              <a:t>Filter: WHERE continent IS NOT NULL — prevents double-counting</a:t>
            </a:r>
            <a:endParaRPr lang="en-US" sz="1300" dirty="0"/>
          </a:p>
          <a:p>
            <a:pPr marL="0" indent="0">
              <a:buNone/>
            </a:pPr>
            <a:r>
              <a:rPr lang="en-US" sz="1300" dirty="0">
                <a:solidFill>
                  <a:srgbClr val="1E1E1E"/>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0F3D4C"/>
                </a:solidFill>
                <a:latin typeface="Calibri" pitchFamily="34" charset="0"/>
                <a:ea typeface="Calibri" pitchFamily="34" charset="-122"/>
                <a:cs typeface="Calibri" pitchFamily="34" charset="-120"/>
              </a:rPr>
              <a:t>Cast text columns to integers</a:t>
            </a:r>
            <a:endParaRPr lang="en-US" sz="1300" dirty="0"/>
          </a:p>
          <a:p>
            <a:pPr marL="0" indent="0">
              <a:buNone/>
            </a:pPr>
            <a:r>
              <a:rPr lang="en-US" sz="1100" dirty="0">
                <a:solidFill>
                  <a:srgbClr val="5A6B72"/>
                </a:solidFill>
                <a:latin typeface="Calibri" pitchFamily="34" charset="0"/>
                <a:ea typeface="Calibri" pitchFamily="34" charset="-122"/>
                <a:cs typeface="Calibri" pitchFamily="34" charset="-120"/>
              </a:rPr>
              <a:t>CAST(total_deaths AS BIGINT) — death columns stored as text(changed datatype)</a:t>
            </a:r>
            <a:endParaRPr lang="en-US" sz="1300" dirty="0"/>
          </a:p>
          <a:p>
            <a:pPr marL="0" indent="0">
              <a:buNone/>
            </a:pPr>
            <a:r>
              <a:rPr lang="en-US" sz="1300" dirty="0">
                <a:solidFill>
                  <a:srgbClr val="1E1E1E"/>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0F3D4C"/>
                </a:solidFill>
                <a:latin typeface="Calibri" pitchFamily="34" charset="0"/>
                <a:ea typeface="Calibri" pitchFamily="34" charset="-122"/>
                <a:cs typeface="Calibri" pitchFamily="34" charset="-120"/>
              </a:rPr>
              <a:t>Handled divide-by-zero errors</a:t>
            </a:r>
            <a:endParaRPr lang="en-US" sz="1300" dirty="0"/>
          </a:p>
          <a:p>
            <a:pPr marL="0" indent="0">
              <a:buNone/>
            </a:pPr>
            <a:r>
              <a:rPr lang="en-US" sz="1100" dirty="0">
                <a:solidFill>
                  <a:srgbClr val="5A6B72"/>
                </a:solidFill>
                <a:latin typeface="Calibri" pitchFamily="34" charset="0"/>
                <a:ea typeface="Calibri" pitchFamily="34" charset="-122"/>
                <a:cs typeface="Calibri" pitchFamily="34" charset="-120"/>
              </a:rPr>
              <a:t>NULLIF(total_cases, 0) — early pandemic had zero-case rows</a:t>
            </a:r>
            <a:endParaRPr lang="en-US" sz="1300" dirty="0"/>
          </a:p>
          <a:p>
            <a:pPr marL="0" indent="0">
              <a:buNone/>
            </a:pPr>
            <a:r>
              <a:rPr lang="en-US" sz="1300" dirty="0">
                <a:solidFill>
                  <a:srgbClr val="1E1E1E"/>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0F3D4C"/>
                </a:solidFill>
                <a:latin typeface="Calibri" pitchFamily="34" charset="0"/>
                <a:ea typeface="Calibri" pitchFamily="34" charset="-122"/>
                <a:cs typeface="Calibri" pitchFamily="34" charset="-120"/>
              </a:rPr>
              <a:t>Five-country focus for reliability</a:t>
            </a:r>
            <a:endParaRPr lang="en-US" sz="1300" dirty="0"/>
          </a:p>
          <a:p>
            <a:pPr marL="0" indent="0">
              <a:buNone/>
            </a:pPr>
            <a:r>
              <a:rPr lang="en-US" sz="1100" dirty="0">
                <a:solidFill>
                  <a:srgbClr val="5A6B72"/>
                </a:solidFill>
                <a:latin typeface="Calibri" pitchFamily="34" charset="0"/>
                <a:ea typeface="Calibri" pitchFamily="34" charset="-122"/>
                <a:cs typeface="Calibri" pitchFamily="34" charset="-120"/>
              </a:rPr>
              <a:t>US, UK, India, Mexico, China</a:t>
            </a:r>
            <a:endParaRPr lang="en-US" sz="1300" dirty="0"/>
          </a:p>
        </p:txBody>
      </p:sp>
      <p:sp>
        <p:nvSpPr>
          <p:cNvPr id="8" name="Shape 6"/>
          <p:cNvSpPr/>
          <p:nvPr/>
        </p:nvSpPr>
        <p:spPr>
          <a:xfrm>
            <a:off x="6355080" y="1828800"/>
            <a:ext cx="5257800" cy="4206240"/>
          </a:xfrm>
          <a:prstGeom prst="rect">
            <a:avLst/>
          </a:prstGeom>
          <a:solidFill>
            <a:srgbClr val="FFFFFF"/>
          </a:solidFill>
          <a:ln w="12700">
            <a:solidFill>
              <a:srgbClr val="E5E0D5"/>
            </a:solidFill>
            <a:prstDash val="solid"/>
          </a:ln>
          <a:effectLst>
            <a:outerShdw blurRad="101600" dist="25400" dir="5400000" algn="bl" rotWithShape="0">
              <a:srgbClr val="000000">
                <a:alpha val="6000"/>
              </a:srgbClr>
            </a:outerShdw>
          </a:effectLst>
        </p:spPr>
        <p:txBody>
          <a:bodyPr/>
          <a:lstStyle/>
          <a:p>
            <a:endParaRPr lang="en-US"/>
          </a:p>
        </p:txBody>
      </p:sp>
      <p:sp>
        <p:nvSpPr>
          <p:cNvPr id="9" name="Shape 7"/>
          <p:cNvSpPr/>
          <p:nvPr/>
        </p:nvSpPr>
        <p:spPr>
          <a:xfrm>
            <a:off x="6355080" y="1828800"/>
            <a:ext cx="73152" cy="4206240"/>
          </a:xfrm>
          <a:prstGeom prst="rect">
            <a:avLst/>
          </a:prstGeom>
          <a:solidFill>
            <a:srgbClr val="0E8388"/>
          </a:solidFill>
          <a:ln w="12700">
            <a:solidFill>
              <a:srgbClr val="0E8388"/>
            </a:solidFill>
            <a:prstDash val="solid"/>
          </a:ln>
        </p:spPr>
        <p:txBody>
          <a:bodyPr/>
          <a:lstStyle/>
          <a:p>
            <a:endParaRPr lang="en-US"/>
          </a:p>
        </p:txBody>
      </p:sp>
      <p:sp>
        <p:nvSpPr>
          <p:cNvPr id="10" name="Text 8"/>
          <p:cNvSpPr/>
          <p:nvPr/>
        </p:nvSpPr>
        <p:spPr>
          <a:xfrm>
            <a:off x="6583680" y="1965960"/>
            <a:ext cx="4937760" cy="320040"/>
          </a:xfrm>
          <a:prstGeom prst="rect">
            <a:avLst/>
          </a:prstGeom>
          <a:noFill/>
          <a:ln/>
        </p:spPr>
        <p:txBody>
          <a:bodyPr wrap="square" lIns="0" tIns="0" rIns="0" bIns="0" rtlCol="0" anchor="ctr"/>
          <a:lstStyle/>
          <a:p>
            <a:pPr marL="0" indent="0">
              <a:buNone/>
            </a:pPr>
            <a:r>
              <a:rPr lang="en-US" sz="1100" b="1" kern="0" spc="300" dirty="0">
                <a:solidFill>
                  <a:srgbClr val="0E8388"/>
                </a:solidFill>
                <a:latin typeface="Calibri" pitchFamily="34" charset="0"/>
                <a:ea typeface="Calibri" pitchFamily="34" charset="-122"/>
                <a:cs typeface="Calibri" pitchFamily="34" charset="-120"/>
              </a:rPr>
              <a:t>PRIMARY DATA (SURVEY)</a:t>
            </a:r>
            <a:endParaRPr lang="en-US" sz="1100" dirty="0"/>
          </a:p>
        </p:txBody>
      </p:sp>
      <p:sp>
        <p:nvSpPr>
          <p:cNvPr id="11" name="Text 9"/>
          <p:cNvSpPr/>
          <p:nvPr/>
        </p:nvSpPr>
        <p:spPr>
          <a:xfrm>
            <a:off x="6583680" y="2423160"/>
            <a:ext cx="3657600" cy="457200"/>
          </a:xfrm>
          <a:prstGeom prst="rect">
            <a:avLst/>
          </a:prstGeom>
          <a:noFill/>
          <a:ln/>
        </p:spPr>
        <p:txBody>
          <a:bodyPr wrap="square" lIns="0" tIns="0" rIns="0" bIns="0" rtlCol="0" anchor="ctr"/>
          <a:lstStyle/>
          <a:p>
            <a:pPr marL="0" indent="0">
              <a:buNone/>
            </a:pPr>
            <a:r>
              <a:rPr lang="en-US" sz="1300" dirty="0">
                <a:solidFill>
                  <a:srgbClr val="1E1E1E"/>
                </a:solidFill>
                <a:latin typeface="Calibri" pitchFamily="34" charset="0"/>
                <a:ea typeface="Calibri" pitchFamily="34" charset="-122"/>
                <a:cs typeface="Calibri" pitchFamily="34" charset="-120"/>
              </a:rPr>
              <a:t>Raw responses</a:t>
            </a:r>
            <a:endParaRPr lang="en-US" sz="1300" dirty="0"/>
          </a:p>
        </p:txBody>
      </p:sp>
      <p:sp>
        <p:nvSpPr>
          <p:cNvPr id="12" name="Text 10"/>
          <p:cNvSpPr/>
          <p:nvPr/>
        </p:nvSpPr>
        <p:spPr>
          <a:xfrm>
            <a:off x="10424160" y="2423160"/>
            <a:ext cx="1097280" cy="457200"/>
          </a:xfrm>
          <a:prstGeom prst="rect">
            <a:avLst/>
          </a:prstGeom>
          <a:noFill/>
          <a:ln/>
        </p:spPr>
        <p:txBody>
          <a:bodyPr wrap="square" lIns="0" tIns="0" rIns="0" bIns="0" rtlCol="0" anchor="ctr"/>
          <a:lstStyle/>
          <a:p>
            <a:pPr marL="0" indent="0" algn="r">
              <a:buNone/>
            </a:pPr>
            <a:r>
              <a:rPr lang="en-US" sz="1600" b="1" dirty="0">
                <a:solidFill>
                  <a:srgbClr val="5A6B72"/>
                </a:solidFill>
                <a:latin typeface="Georgia" pitchFamily="34" charset="0"/>
                <a:ea typeface="Georgia" pitchFamily="34" charset="-122"/>
                <a:cs typeface="Georgia" pitchFamily="34" charset="-120"/>
              </a:rPr>
              <a:t>54</a:t>
            </a:r>
            <a:endParaRPr lang="en-US" sz="1600" dirty="0"/>
          </a:p>
        </p:txBody>
      </p:sp>
      <p:sp>
        <p:nvSpPr>
          <p:cNvPr id="13" name="Text 11"/>
          <p:cNvSpPr/>
          <p:nvPr/>
        </p:nvSpPr>
        <p:spPr>
          <a:xfrm>
            <a:off x="6583680" y="3017520"/>
            <a:ext cx="3657600" cy="457200"/>
          </a:xfrm>
          <a:prstGeom prst="rect">
            <a:avLst/>
          </a:prstGeom>
          <a:noFill/>
          <a:ln/>
        </p:spPr>
        <p:txBody>
          <a:bodyPr wrap="square" lIns="0" tIns="0" rIns="0" bIns="0" rtlCol="0" anchor="ctr"/>
          <a:lstStyle/>
          <a:p>
            <a:pPr marL="0" indent="0">
              <a:buNone/>
            </a:pPr>
            <a:r>
              <a:rPr lang="en-US" sz="1300" dirty="0">
                <a:solidFill>
                  <a:srgbClr val="1E1E1E"/>
                </a:solidFill>
                <a:latin typeface="Calibri" pitchFamily="34" charset="0"/>
                <a:ea typeface="Calibri" pitchFamily="34" charset="-122"/>
                <a:cs typeface="Calibri" pitchFamily="34" charset="-120"/>
              </a:rPr>
              <a:t>Survey previews removed</a:t>
            </a:r>
            <a:endParaRPr lang="en-US" sz="1300" dirty="0"/>
          </a:p>
        </p:txBody>
      </p:sp>
      <p:sp>
        <p:nvSpPr>
          <p:cNvPr id="14" name="Text 12"/>
          <p:cNvSpPr/>
          <p:nvPr/>
        </p:nvSpPr>
        <p:spPr>
          <a:xfrm>
            <a:off x="10424160" y="3017520"/>
            <a:ext cx="1097280" cy="457200"/>
          </a:xfrm>
          <a:prstGeom prst="rect">
            <a:avLst/>
          </a:prstGeom>
          <a:noFill/>
          <a:ln/>
        </p:spPr>
        <p:txBody>
          <a:bodyPr wrap="square" lIns="0" tIns="0" rIns="0" bIns="0" rtlCol="0" anchor="ctr"/>
          <a:lstStyle/>
          <a:p>
            <a:pPr marL="0" indent="0" algn="r">
              <a:buNone/>
            </a:pPr>
            <a:r>
              <a:rPr lang="en-US" sz="1600" b="1" dirty="0">
                <a:solidFill>
                  <a:srgbClr val="E07A5F"/>
                </a:solidFill>
                <a:latin typeface="Georgia" pitchFamily="34" charset="0"/>
                <a:ea typeface="Georgia" pitchFamily="34" charset="-122"/>
                <a:cs typeface="Georgia" pitchFamily="34" charset="-120"/>
              </a:rPr>
              <a:t>−7</a:t>
            </a:r>
            <a:endParaRPr lang="en-US" sz="1600" dirty="0"/>
          </a:p>
        </p:txBody>
      </p:sp>
      <p:sp>
        <p:nvSpPr>
          <p:cNvPr id="15" name="Text 13"/>
          <p:cNvSpPr/>
          <p:nvPr/>
        </p:nvSpPr>
        <p:spPr>
          <a:xfrm>
            <a:off x="6583680" y="3611880"/>
            <a:ext cx="3657600" cy="457200"/>
          </a:xfrm>
          <a:prstGeom prst="rect">
            <a:avLst/>
          </a:prstGeom>
          <a:noFill/>
          <a:ln/>
        </p:spPr>
        <p:txBody>
          <a:bodyPr wrap="square" lIns="0" tIns="0" rIns="0" bIns="0" rtlCol="0" anchor="ctr"/>
          <a:lstStyle/>
          <a:p>
            <a:pPr marL="0" indent="0">
              <a:buNone/>
            </a:pPr>
            <a:r>
              <a:rPr lang="en-US" sz="1300" dirty="0">
                <a:solidFill>
                  <a:srgbClr val="1E1E1E"/>
                </a:solidFill>
                <a:latin typeface="Calibri" pitchFamily="34" charset="0"/>
                <a:ea typeface="Calibri" pitchFamily="34" charset="-122"/>
                <a:cs typeface="Calibri" pitchFamily="34" charset="-120"/>
              </a:rPr>
              <a:t>Incomplete responses removed</a:t>
            </a:r>
            <a:endParaRPr lang="en-US" sz="1300" dirty="0"/>
          </a:p>
        </p:txBody>
      </p:sp>
      <p:sp>
        <p:nvSpPr>
          <p:cNvPr id="16" name="Text 14"/>
          <p:cNvSpPr/>
          <p:nvPr/>
        </p:nvSpPr>
        <p:spPr>
          <a:xfrm>
            <a:off x="10424160" y="3611880"/>
            <a:ext cx="1097280" cy="457200"/>
          </a:xfrm>
          <a:prstGeom prst="rect">
            <a:avLst/>
          </a:prstGeom>
          <a:noFill/>
          <a:ln/>
        </p:spPr>
        <p:txBody>
          <a:bodyPr wrap="square" lIns="0" tIns="0" rIns="0" bIns="0" rtlCol="0" anchor="ctr"/>
          <a:lstStyle/>
          <a:p>
            <a:pPr marL="0" indent="0" algn="r">
              <a:buNone/>
            </a:pPr>
            <a:r>
              <a:rPr lang="en-US" sz="1600" b="1" dirty="0">
                <a:solidFill>
                  <a:srgbClr val="E07A5F"/>
                </a:solidFill>
                <a:latin typeface="Georgia" pitchFamily="34" charset="0"/>
                <a:ea typeface="Georgia" pitchFamily="34" charset="-122"/>
                <a:cs typeface="Georgia" pitchFamily="34" charset="-120"/>
              </a:rPr>
              <a:t>−4</a:t>
            </a:r>
            <a:endParaRPr lang="en-US" sz="1600" dirty="0"/>
          </a:p>
        </p:txBody>
      </p:sp>
      <p:sp>
        <p:nvSpPr>
          <p:cNvPr id="17" name="Text 15"/>
          <p:cNvSpPr/>
          <p:nvPr/>
        </p:nvSpPr>
        <p:spPr>
          <a:xfrm>
            <a:off x="6583680" y="4206240"/>
            <a:ext cx="3657600" cy="457200"/>
          </a:xfrm>
          <a:prstGeom prst="rect">
            <a:avLst/>
          </a:prstGeom>
          <a:noFill/>
          <a:ln/>
        </p:spPr>
        <p:txBody>
          <a:bodyPr wrap="square" lIns="0" tIns="0" rIns="0" bIns="0" rtlCol="0" anchor="ctr"/>
          <a:lstStyle/>
          <a:p>
            <a:pPr marL="0" indent="0">
              <a:buNone/>
            </a:pPr>
            <a:r>
              <a:rPr lang="en-US" sz="1300" dirty="0">
                <a:solidFill>
                  <a:srgbClr val="1E1E1E"/>
                </a:solidFill>
                <a:latin typeface="Calibri" pitchFamily="34" charset="0"/>
                <a:ea typeface="Calibri" pitchFamily="34" charset="-122"/>
                <a:cs typeface="Calibri" pitchFamily="34" charset="-120"/>
              </a:rPr>
              <a:t>Under-18 screened out</a:t>
            </a:r>
            <a:endParaRPr lang="en-US" sz="1300" dirty="0"/>
          </a:p>
        </p:txBody>
      </p:sp>
      <p:sp>
        <p:nvSpPr>
          <p:cNvPr id="18" name="Text 16"/>
          <p:cNvSpPr/>
          <p:nvPr/>
        </p:nvSpPr>
        <p:spPr>
          <a:xfrm>
            <a:off x="10424160" y="4206240"/>
            <a:ext cx="1097280" cy="457200"/>
          </a:xfrm>
          <a:prstGeom prst="rect">
            <a:avLst/>
          </a:prstGeom>
          <a:noFill/>
          <a:ln/>
        </p:spPr>
        <p:txBody>
          <a:bodyPr wrap="square" lIns="0" tIns="0" rIns="0" bIns="0" rtlCol="0" anchor="ctr"/>
          <a:lstStyle/>
          <a:p>
            <a:pPr marL="0" indent="0" algn="r">
              <a:buNone/>
            </a:pPr>
            <a:r>
              <a:rPr lang="en-US" sz="1600" b="1" dirty="0">
                <a:solidFill>
                  <a:srgbClr val="E07A5F"/>
                </a:solidFill>
                <a:latin typeface="Georgia" pitchFamily="34" charset="0"/>
                <a:ea typeface="Georgia" pitchFamily="34" charset="-122"/>
                <a:cs typeface="Georgia" pitchFamily="34" charset="-120"/>
              </a:rPr>
              <a:t>−1</a:t>
            </a:r>
            <a:endParaRPr lang="en-US" sz="1600" dirty="0"/>
          </a:p>
        </p:txBody>
      </p:sp>
      <p:sp>
        <p:nvSpPr>
          <p:cNvPr id="19" name="Text 17"/>
          <p:cNvSpPr/>
          <p:nvPr/>
        </p:nvSpPr>
        <p:spPr>
          <a:xfrm>
            <a:off x="6583680" y="4800600"/>
            <a:ext cx="3657600" cy="457200"/>
          </a:xfrm>
          <a:prstGeom prst="rect">
            <a:avLst/>
          </a:prstGeom>
          <a:noFill/>
          <a:ln/>
        </p:spPr>
        <p:txBody>
          <a:bodyPr wrap="square" lIns="0" tIns="0" rIns="0" bIns="0" rtlCol="0" anchor="ctr"/>
          <a:lstStyle/>
          <a:p>
            <a:pPr marL="0" indent="0">
              <a:buNone/>
            </a:pPr>
            <a:r>
              <a:rPr lang="en-US" sz="1300" dirty="0">
                <a:solidFill>
                  <a:srgbClr val="1E1E1E"/>
                </a:solidFill>
                <a:latin typeface="Calibri" pitchFamily="34" charset="0"/>
                <a:ea typeface="Calibri" pitchFamily="34" charset="-122"/>
                <a:cs typeface="Calibri" pitchFamily="34" charset="-120"/>
              </a:rPr>
              <a:t>Blank submissions removed</a:t>
            </a:r>
            <a:endParaRPr lang="en-US" sz="1300" dirty="0"/>
          </a:p>
        </p:txBody>
      </p:sp>
      <p:sp>
        <p:nvSpPr>
          <p:cNvPr id="20" name="Text 18"/>
          <p:cNvSpPr/>
          <p:nvPr/>
        </p:nvSpPr>
        <p:spPr>
          <a:xfrm>
            <a:off x="10424160" y="4800600"/>
            <a:ext cx="1097280" cy="457200"/>
          </a:xfrm>
          <a:prstGeom prst="rect">
            <a:avLst/>
          </a:prstGeom>
          <a:noFill/>
          <a:ln/>
        </p:spPr>
        <p:txBody>
          <a:bodyPr wrap="square" lIns="0" tIns="0" rIns="0" bIns="0" rtlCol="0" anchor="ctr"/>
          <a:lstStyle/>
          <a:p>
            <a:pPr marL="0" indent="0" algn="r">
              <a:buNone/>
            </a:pPr>
            <a:r>
              <a:rPr lang="en-US" sz="1600" b="1" dirty="0">
                <a:solidFill>
                  <a:srgbClr val="E07A5F"/>
                </a:solidFill>
                <a:latin typeface="Georgia" pitchFamily="34" charset="0"/>
                <a:ea typeface="Georgia" pitchFamily="34" charset="-122"/>
                <a:cs typeface="Georgia" pitchFamily="34" charset="-120"/>
              </a:rPr>
              <a:t>−2</a:t>
            </a:r>
            <a:endParaRPr lang="en-US" sz="1600" dirty="0"/>
          </a:p>
        </p:txBody>
      </p:sp>
      <p:sp>
        <p:nvSpPr>
          <p:cNvPr id="21" name="Text 19"/>
          <p:cNvSpPr/>
          <p:nvPr/>
        </p:nvSpPr>
        <p:spPr>
          <a:xfrm>
            <a:off x="6583680" y="5394960"/>
            <a:ext cx="3657600" cy="457200"/>
          </a:xfrm>
          <a:prstGeom prst="rect">
            <a:avLst/>
          </a:prstGeom>
          <a:noFill/>
          <a:ln/>
        </p:spPr>
        <p:txBody>
          <a:bodyPr wrap="square" lIns="0" tIns="0" rIns="0" bIns="0" rtlCol="0" anchor="ctr"/>
          <a:lstStyle/>
          <a:p>
            <a:pPr marL="0" indent="0">
              <a:buNone/>
            </a:pPr>
            <a:r>
              <a:rPr lang="en-US" sz="1300" b="1" dirty="0">
                <a:solidFill>
                  <a:srgbClr val="0F3D4C"/>
                </a:solidFill>
                <a:latin typeface="Calibri" pitchFamily="34" charset="0"/>
                <a:ea typeface="Calibri" pitchFamily="34" charset="-122"/>
                <a:cs typeface="Calibri" pitchFamily="34" charset="-120"/>
              </a:rPr>
              <a:t>Final clean sample</a:t>
            </a:r>
            <a:endParaRPr lang="en-US" sz="1300" dirty="0"/>
          </a:p>
        </p:txBody>
      </p:sp>
      <p:sp>
        <p:nvSpPr>
          <p:cNvPr id="22" name="Text 20"/>
          <p:cNvSpPr/>
          <p:nvPr/>
        </p:nvSpPr>
        <p:spPr>
          <a:xfrm>
            <a:off x="10424160" y="5394960"/>
            <a:ext cx="1097280" cy="457200"/>
          </a:xfrm>
          <a:prstGeom prst="rect">
            <a:avLst/>
          </a:prstGeom>
          <a:noFill/>
          <a:ln/>
        </p:spPr>
        <p:txBody>
          <a:bodyPr wrap="square" lIns="0" tIns="0" rIns="0" bIns="0" rtlCol="0" anchor="ctr"/>
          <a:lstStyle/>
          <a:p>
            <a:pPr marL="0" indent="0" algn="r">
              <a:buNone/>
            </a:pPr>
            <a:r>
              <a:rPr lang="en-US" sz="2200" b="1" dirty="0">
                <a:solidFill>
                  <a:srgbClr val="0E8388"/>
                </a:solidFill>
                <a:latin typeface="Georgia" pitchFamily="34" charset="0"/>
                <a:ea typeface="Georgia" pitchFamily="34" charset="-122"/>
                <a:cs typeface="Georgia" pitchFamily="34" charset="-120"/>
              </a:rPr>
              <a:t>40</a:t>
            </a:r>
            <a:endParaRPr lang="en-US" sz="2200" dirty="0"/>
          </a:p>
        </p:txBody>
      </p:sp>
      <p:sp>
        <p:nvSpPr>
          <p:cNvPr id="23" name="Text 21"/>
          <p:cNvSpPr/>
          <p:nvPr/>
        </p:nvSpPr>
        <p:spPr>
          <a:xfrm>
            <a:off x="457200" y="6446520"/>
            <a:ext cx="8229600" cy="274320"/>
          </a:xfrm>
          <a:prstGeom prst="rect">
            <a:avLst/>
          </a:prstGeom>
          <a:noFill/>
          <a:ln/>
        </p:spPr>
        <p:txBody>
          <a:bodyPr wrap="square" lIns="0" tIns="0" rIns="0" bIns="0" rtlCol="0" anchor="ctr"/>
          <a:lstStyle/>
          <a:p>
            <a:pPr marL="0" indent="0" algn="l">
              <a:buNone/>
            </a:pPr>
            <a:r>
              <a:rPr lang="en-US" sz="900" dirty="0">
                <a:solidFill>
                  <a:srgbClr val="5A6B72"/>
                </a:solidFill>
                <a:latin typeface="Calibri" pitchFamily="34" charset="0"/>
                <a:ea typeface="Calibri" pitchFamily="34" charset="-122"/>
                <a:cs typeface="Calibri" pitchFamily="34" charset="-120"/>
              </a:rPr>
              <a:t>Julia Monson  |  BAIS 4720  |  COVID-19 Vaccination &amp; Mortality</a:t>
            </a:r>
            <a:endParaRPr lang="en-US" sz="900" dirty="0"/>
          </a:p>
        </p:txBody>
      </p:sp>
      <p:sp>
        <p:nvSpPr>
          <p:cNvPr id="24" name="Text 22"/>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5A6B72"/>
                </a:solidFill>
                <a:latin typeface="Calibri" pitchFamily="34" charset="0"/>
                <a:ea typeface="Calibri" pitchFamily="34" charset="-122"/>
                <a:cs typeface="Calibri" pitchFamily="34" charset="-120"/>
              </a:rPr>
              <a:t>6 / 17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marL="0" indent="0">
              <a:buNone/>
            </a:pPr>
            <a:r>
              <a:rPr lang="en-US" sz="1100" b="1" kern="0" spc="400" dirty="0">
                <a:solidFill>
                  <a:srgbClr val="0E8388"/>
                </a:solidFill>
                <a:latin typeface="Calibri" pitchFamily="34" charset="0"/>
                <a:ea typeface="Calibri" pitchFamily="34" charset="-122"/>
                <a:cs typeface="Calibri" pitchFamily="34" charset="-120"/>
              </a:rPr>
              <a:t>RESEARCH QUESTION 3</a:t>
            </a:r>
            <a:endParaRPr lang="en-US" sz="1100" dirty="0"/>
          </a:p>
        </p:txBody>
      </p:sp>
      <p:sp>
        <p:nvSpPr>
          <p:cNvPr id="3" name="Text 1"/>
          <p:cNvSpPr/>
          <p:nvPr/>
        </p:nvSpPr>
        <p:spPr>
          <a:xfrm>
            <a:off x="548640" y="685800"/>
            <a:ext cx="10972800" cy="640080"/>
          </a:xfrm>
          <a:prstGeom prst="rect">
            <a:avLst/>
          </a:prstGeom>
          <a:noFill/>
          <a:ln/>
        </p:spPr>
        <p:txBody>
          <a:bodyPr wrap="square" lIns="0" tIns="0" rIns="0" bIns="0" rtlCol="0" anchor="ctr"/>
          <a:lstStyle/>
          <a:p>
            <a:pPr marL="0" indent="0">
              <a:buNone/>
            </a:pPr>
            <a:r>
              <a:rPr lang="en-US" sz="3200" b="1" dirty="0">
                <a:solidFill>
                  <a:srgbClr val="0F3D4C"/>
                </a:solidFill>
                <a:latin typeface="Georgia" pitchFamily="34" charset="0"/>
                <a:ea typeface="Georgia" pitchFamily="34" charset="-122"/>
                <a:cs typeface="Georgia" pitchFamily="34" charset="-120"/>
              </a:rPr>
              <a:t>Global Picture</a:t>
            </a:r>
            <a:endParaRPr lang="en-US" sz="3200" dirty="0"/>
          </a:p>
        </p:txBody>
      </p:sp>
      <p:sp>
        <p:nvSpPr>
          <p:cNvPr id="4" name="Shape 2"/>
          <p:cNvSpPr/>
          <p:nvPr/>
        </p:nvSpPr>
        <p:spPr>
          <a:xfrm>
            <a:off x="548640" y="1920240"/>
            <a:ext cx="3657600" cy="2103120"/>
          </a:xfrm>
          <a:prstGeom prst="rect">
            <a:avLst/>
          </a:prstGeom>
          <a:solidFill>
            <a:srgbClr val="FFFFFF"/>
          </a:solidFill>
          <a:ln w="12700">
            <a:solidFill>
              <a:srgbClr val="E5E0D5"/>
            </a:solidFill>
            <a:prstDash val="solid"/>
          </a:ln>
          <a:effectLst>
            <a:outerShdw blurRad="127000" dist="38100" dir="5400000" algn="bl" rotWithShape="0">
              <a:srgbClr val="000000">
                <a:alpha val="8000"/>
              </a:srgbClr>
            </a:outerShdw>
          </a:effectLst>
        </p:spPr>
        <p:txBody>
          <a:bodyPr/>
          <a:lstStyle/>
          <a:p>
            <a:endParaRPr lang="en-US"/>
          </a:p>
        </p:txBody>
      </p:sp>
      <p:sp>
        <p:nvSpPr>
          <p:cNvPr id="5" name="Shape 3"/>
          <p:cNvSpPr/>
          <p:nvPr/>
        </p:nvSpPr>
        <p:spPr>
          <a:xfrm>
            <a:off x="548640" y="1920240"/>
            <a:ext cx="3657600" cy="73152"/>
          </a:xfrm>
          <a:prstGeom prst="rect">
            <a:avLst/>
          </a:prstGeom>
          <a:solidFill>
            <a:srgbClr val="0F3D4C"/>
          </a:solidFill>
          <a:ln w="12700">
            <a:solidFill>
              <a:srgbClr val="0F3D4C"/>
            </a:solidFill>
            <a:prstDash val="solid"/>
          </a:ln>
        </p:spPr>
        <p:txBody>
          <a:bodyPr/>
          <a:lstStyle/>
          <a:p>
            <a:endParaRPr lang="en-US"/>
          </a:p>
        </p:txBody>
      </p:sp>
      <p:sp>
        <p:nvSpPr>
          <p:cNvPr id="6" name="Text 4"/>
          <p:cNvSpPr/>
          <p:nvPr/>
        </p:nvSpPr>
        <p:spPr>
          <a:xfrm>
            <a:off x="731520" y="2057400"/>
            <a:ext cx="3291840" cy="1005840"/>
          </a:xfrm>
          <a:prstGeom prst="rect">
            <a:avLst/>
          </a:prstGeom>
          <a:noFill/>
          <a:ln/>
        </p:spPr>
        <p:txBody>
          <a:bodyPr wrap="square" lIns="0" tIns="0" rIns="0" bIns="0" rtlCol="0" anchor="ctr"/>
          <a:lstStyle/>
          <a:p>
            <a:pPr marL="0" indent="0" algn="ctr">
              <a:buNone/>
            </a:pPr>
            <a:r>
              <a:rPr lang="en-US" sz="5600" b="1" dirty="0">
                <a:solidFill>
                  <a:srgbClr val="0F3D4C"/>
                </a:solidFill>
                <a:latin typeface="Georgia" pitchFamily="34" charset="0"/>
                <a:ea typeface="Georgia" pitchFamily="34" charset="-122"/>
                <a:cs typeface="Georgia" pitchFamily="34" charset="-120"/>
              </a:rPr>
              <a:t>150.6M</a:t>
            </a:r>
            <a:endParaRPr lang="en-US" sz="5600" dirty="0"/>
          </a:p>
        </p:txBody>
      </p:sp>
      <p:sp>
        <p:nvSpPr>
          <p:cNvPr id="7" name="Text 5"/>
          <p:cNvSpPr/>
          <p:nvPr/>
        </p:nvSpPr>
        <p:spPr>
          <a:xfrm>
            <a:off x="731520" y="3108960"/>
            <a:ext cx="3291840" cy="274320"/>
          </a:xfrm>
          <a:prstGeom prst="rect">
            <a:avLst/>
          </a:prstGeom>
          <a:noFill/>
          <a:ln/>
        </p:spPr>
        <p:txBody>
          <a:bodyPr wrap="square" lIns="0" tIns="0" rIns="0" bIns="0" rtlCol="0" anchor="ctr"/>
          <a:lstStyle/>
          <a:p>
            <a:pPr marL="0" indent="0" algn="ctr">
              <a:buNone/>
            </a:pPr>
            <a:r>
              <a:rPr lang="en-US" sz="1200" b="1" kern="0" spc="400" dirty="0">
                <a:solidFill>
                  <a:srgbClr val="0F3D4C"/>
                </a:solidFill>
                <a:latin typeface="Calibri" pitchFamily="34" charset="0"/>
                <a:ea typeface="Calibri" pitchFamily="34" charset="-122"/>
                <a:cs typeface="Calibri" pitchFamily="34" charset="-120"/>
              </a:rPr>
              <a:t>TOTAL CASES</a:t>
            </a:r>
            <a:endParaRPr lang="en-US" sz="1200" dirty="0"/>
          </a:p>
        </p:txBody>
      </p:sp>
      <p:sp>
        <p:nvSpPr>
          <p:cNvPr id="8" name="Text 6"/>
          <p:cNvSpPr/>
          <p:nvPr/>
        </p:nvSpPr>
        <p:spPr>
          <a:xfrm>
            <a:off x="731520" y="3429000"/>
            <a:ext cx="3291840" cy="457200"/>
          </a:xfrm>
          <a:prstGeom prst="rect">
            <a:avLst/>
          </a:prstGeom>
          <a:noFill/>
          <a:ln/>
        </p:spPr>
        <p:txBody>
          <a:bodyPr wrap="square" lIns="0" tIns="0" rIns="0" bIns="0" rtlCol="0" anchor="ctr"/>
          <a:lstStyle/>
          <a:p>
            <a:pPr marL="0" indent="0" algn="ctr">
              <a:buNone/>
            </a:pPr>
            <a:r>
              <a:rPr lang="en-US" sz="1100" i="1" dirty="0">
                <a:solidFill>
                  <a:srgbClr val="5A6B72"/>
                </a:solidFill>
                <a:latin typeface="Calibri" pitchFamily="34" charset="0"/>
                <a:ea typeface="Calibri" pitchFamily="34" charset="-122"/>
                <a:cs typeface="Calibri" pitchFamily="34" charset="-120"/>
              </a:rPr>
              <a:t>Global confirmed COVID-19 cases</a:t>
            </a:r>
            <a:endParaRPr lang="en-US" sz="1100" dirty="0"/>
          </a:p>
        </p:txBody>
      </p:sp>
      <p:sp>
        <p:nvSpPr>
          <p:cNvPr id="9" name="Shape 7"/>
          <p:cNvSpPr/>
          <p:nvPr/>
        </p:nvSpPr>
        <p:spPr>
          <a:xfrm>
            <a:off x="4343400" y="1920240"/>
            <a:ext cx="3657600" cy="2103120"/>
          </a:xfrm>
          <a:prstGeom prst="rect">
            <a:avLst/>
          </a:prstGeom>
          <a:solidFill>
            <a:srgbClr val="FFFFFF"/>
          </a:solidFill>
          <a:ln w="12700">
            <a:solidFill>
              <a:srgbClr val="E5E0D5"/>
            </a:solidFill>
            <a:prstDash val="solid"/>
          </a:ln>
          <a:effectLst>
            <a:outerShdw blurRad="127000" dist="38100" dir="5400000" algn="bl" rotWithShape="0">
              <a:srgbClr val="000000">
                <a:alpha val="8000"/>
              </a:srgbClr>
            </a:outerShdw>
          </a:effectLst>
        </p:spPr>
        <p:txBody>
          <a:bodyPr/>
          <a:lstStyle/>
          <a:p>
            <a:endParaRPr lang="en-US"/>
          </a:p>
        </p:txBody>
      </p:sp>
      <p:sp>
        <p:nvSpPr>
          <p:cNvPr id="10" name="Shape 8"/>
          <p:cNvSpPr/>
          <p:nvPr/>
        </p:nvSpPr>
        <p:spPr>
          <a:xfrm>
            <a:off x="4343400" y="1920240"/>
            <a:ext cx="3657600" cy="73152"/>
          </a:xfrm>
          <a:prstGeom prst="rect">
            <a:avLst/>
          </a:prstGeom>
          <a:solidFill>
            <a:srgbClr val="E07A5F"/>
          </a:solidFill>
          <a:ln w="12700">
            <a:solidFill>
              <a:srgbClr val="E07A5F"/>
            </a:solidFill>
            <a:prstDash val="solid"/>
          </a:ln>
        </p:spPr>
        <p:txBody>
          <a:bodyPr/>
          <a:lstStyle/>
          <a:p>
            <a:endParaRPr lang="en-US"/>
          </a:p>
        </p:txBody>
      </p:sp>
      <p:sp>
        <p:nvSpPr>
          <p:cNvPr id="11" name="Text 9"/>
          <p:cNvSpPr/>
          <p:nvPr/>
        </p:nvSpPr>
        <p:spPr>
          <a:xfrm>
            <a:off x="4526280" y="2057400"/>
            <a:ext cx="3291840" cy="1005840"/>
          </a:xfrm>
          <a:prstGeom prst="rect">
            <a:avLst/>
          </a:prstGeom>
          <a:noFill/>
          <a:ln/>
        </p:spPr>
        <p:txBody>
          <a:bodyPr wrap="square" lIns="0" tIns="0" rIns="0" bIns="0" rtlCol="0" anchor="ctr"/>
          <a:lstStyle/>
          <a:p>
            <a:pPr marL="0" indent="0" algn="ctr">
              <a:buNone/>
            </a:pPr>
            <a:r>
              <a:rPr lang="en-US" sz="5600" b="1" dirty="0">
                <a:solidFill>
                  <a:srgbClr val="E07A5F"/>
                </a:solidFill>
                <a:latin typeface="Georgia" pitchFamily="34" charset="0"/>
                <a:ea typeface="Georgia" pitchFamily="34" charset="-122"/>
                <a:cs typeface="Georgia" pitchFamily="34" charset="-120"/>
              </a:rPr>
              <a:t>3.18M</a:t>
            </a:r>
            <a:endParaRPr lang="en-US" sz="5600" dirty="0"/>
          </a:p>
        </p:txBody>
      </p:sp>
      <p:sp>
        <p:nvSpPr>
          <p:cNvPr id="12" name="Text 10"/>
          <p:cNvSpPr/>
          <p:nvPr/>
        </p:nvSpPr>
        <p:spPr>
          <a:xfrm>
            <a:off x="4526280" y="3108960"/>
            <a:ext cx="3291840" cy="274320"/>
          </a:xfrm>
          <a:prstGeom prst="rect">
            <a:avLst/>
          </a:prstGeom>
          <a:noFill/>
          <a:ln/>
        </p:spPr>
        <p:txBody>
          <a:bodyPr wrap="square" lIns="0" tIns="0" rIns="0" bIns="0" rtlCol="0" anchor="ctr"/>
          <a:lstStyle/>
          <a:p>
            <a:pPr marL="0" indent="0" algn="ctr">
              <a:buNone/>
            </a:pPr>
            <a:r>
              <a:rPr lang="en-US" sz="1200" b="1" kern="0" spc="400" dirty="0">
                <a:solidFill>
                  <a:srgbClr val="0F3D4C"/>
                </a:solidFill>
                <a:latin typeface="Calibri" pitchFamily="34" charset="0"/>
                <a:ea typeface="Calibri" pitchFamily="34" charset="-122"/>
                <a:cs typeface="Calibri" pitchFamily="34" charset="-120"/>
              </a:rPr>
              <a:t>TOTAL DEATHS</a:t>
            </a:r>
            <a:endParaRPr lang="en-US" sz="1200" dirty="0"/>
          </a:p>
        </p:txBody>
      </p:sp>
      <p:sp>
        <p:nvSpPr>
          <p:cNvPr id="13" name="Text 11"/>
          <p:cNvSpPr/>
          <p:nvPr/>
        </p:nvSpPr>
        <p:spPr>
          <a:xfrm>
            <a:off x="4526280" y="3429000"/>
            <a:ext cx="3291840" cy="457200"/>
          </a:xfrm>
          <a:prstGeom prst="rect">
            <a:avLst/>
          </a:prstGeom>
          <a:noFill/>
          <a:ln/>
        </p:spPr>
        <p:txBody>
          <a:bodyPr wrap="square" lIns="0" tIns="0" rIns="0" bIns="0" rtlCol="0" anchor="ctr"/>
          <a:lstStyle/>
          <a:p>
            <a:pPr marL="0" indent="0" algn="ctr">
              <a:buNone/>
            </a:pPr>
            <a:r>
              <a:rPr lang="en-US" sz="1100" i="1" dirty="0">
                <a:solidFill>
                  <a:srgbClr val="5A6B72"/>
                </a:solidFill>
                <a:latin typeface="Calibri" pitchFamily="34" charset="0"/>
                <a:ea typeface="Calibri" pitchFamily="34" charset="-122"/>
                <a:cs typeface="Calibri" pitchFamily="34" charset="-120"/>
              </a:rPr>
              <a:t>Globally reported COVID-19 deaths</a:t>
            </a:r>
            <a:endParaRPr lang="en-US" sz="1100" dirty="0"/>
          </a:p>
        </p:txBody>
      </p:sp>
      <p:sp>
        <p:nvSpPr>
          <p:cNvPr id="14" name="Shape 12"/>
          <p:cNvSpPr/>
          <p:nvPr/>
        </p:nvSpPr>
        <p:spPr>
          <a:xfrm>
            <a:off x="8138160" y="1920240"/>
            <a:ext cx="3657600" cy="2103120"/>
          </a:xfrm>
          <a:prstGeom prst="rect">
            <a:avLst/>
          </a:prstGeom>
          <a:solidFill>
            <a:srgbClr val="FFFFFF"/>
          </a:solidFill>
          <a:ln w="12700">
            <a:solidFill>
              <a:srgbClr val="E5E0D5"/>
            </a:solidFill>
            <a:prstDash val="solid"/>
          </a:ln>
          <a:effectLst>
            <a:outerShdw blurRad="127000" dist="38100" dir="5400000" algn="bl" rotWithShape="0">
              <a:srgbClr val="000000">
                <a:alpha val="8000"/>
              </a:srgbClr>
            </a:outerShdw>
          </a:effectLst>
        </p:spPr>
        <p:txBody>
          <a:bodyPr/>
          <a:lstStyle/>
          <a:p>
            <a:endParaRPr lang="en-US"/>
          </a:p>
        </p:txBody>
      </p:sp>
      <p:sp>
        <p:nvSpPr>
          <p:cNvPr id="15" name="Shape 13"/>
          <p:cNvSpPr/>
          <p:nvPr/>
        </p:nvSpPr>
        <p:spPr>
          <a:xfrm>
            <a:off x="8138160" y="1920240"/>
            <a:ext cx="3657600" cy="73152"/>
          </a:xfrm>
          <a:prstGeom prst="rect">
            <a:avLst/>
          </a:prstGeom>
          <a:solidFill>
            <a:srgbClr val="0E8388"/>
          </a:solidFill>
          <a:ln w="12700">
            <a:solidFill>
              <a:srgbClr val="0E8388"/>
            </a:solidFill>
            <a:prstDash val="solid"/>
          </a:ln>
        </p:spPr>
        <p:txBody>
          <a:bodyPr/>
          <a:lstStyle/>
          <a:p>
            <a:endParaRPr lang="en-US"/>
          </a:p>
        </p:txBody>
      </p:sp>
      <p:sp>
        <p:nvSpPr>
          <p:cNvPr id="16" name="Text 14"/>
          <p:cNvSpPr/>
          <p:nvPr/>
        </p:nvSpPr>
        <p:spPr>
          <a:xfrm>
            <a:off x="8321040" y="2057400"/>
            <a:ext cx="3291840" cy="1005840"/>
          </a:xfrm>
          <a:prstGeom prst="rect">
            <a:avLst/>
          </a:prstGeom>
          <a:noFill/>
          <a:ln/>
        </p:spPr>
        <p:txBody>
          <a:bodyPr wrap="square" lIns="0" tIns="0" rIns="0" bIns="0" rtlCol="0" anchor="ctr"/>
          <a:lstStyle/>
          <a:p>
            <a:pPr marL="0" indent="0" algn="ctr">
              <a:buNone/>
            </a:pPr>
            <a:r>
              <a:rPr lang="en-US" sz="5600" b="1" dirty="0">
                <a:solidFill>
                  <a:srgbClr val="0E8388"/>
                </a:solidFill>
                <a:latin typeface="Georgia" pitchFamily="34" charset="0"/>
                <a:ea typeface="Georgia" pitchFamily="34" charset="-122"/>
                <a:cs typeface="Georgia" pitchFamily="34" charset="-120"/>
              </a:rPr>
              <a:t>2.11%</a:t>
            </a:r>
            <a:endParaRPr lang="en-US" sz="5600" dirty="0"/>
          </a:p>
        </p:txBody>
      </p:sp>
      <p:sp>
        <p:nvSpPr>
          <p:cNvPr id="17" name="Text 15"/>
          <p:cNvSpPr/>
          <p:nvPr/>
        </p:nvSpPr>
        <p:spPr>
          <a:xfrm>
            <a:off x="8321040" y="3108960"/>
            <a:ext cx="3291840" cy="274320"/>
          </a:xfrm>
          <a:prstGeom prst="rect">
            <a:avLst/>
          </a:prstGeom>
          <a:noFill/>
          <a:ln/>
        </p:spPr>
        <p:txBody>
          <a:bodyPr wrap="square" lIns="0" tIns="0" rIns="0" bIns="0" rtlCol="0" anchor="ctr"/>
          <a:lstStyle/>
          <a:p>
            <a:pPr marL="0" indent="0" algn="ctr">
              <a:buNone/>
            </a:pPr>
            <a:r>
              <a:rPr lang="en-US" sz="1200" b="1" kern="0" spc="400" dirty="0">
                <a:solidFill>
                  <a:srgbClr val="0F3D4C"/>
                </a:solidFill>
                <a:latin typeface="Calibri" pitchFamily="34" charset="0"/>
                <a:ea typeface="Calibri" pitchFamily="34" charset="-122"/>
                <a:cs typeface="Calibri" pitchFamily="34" charset="-120"/>
              </a:rPr>
              <a:t>CASE FATALITY RATE</a:t>
            </a:r>
            <a:endParaRPr lang="en-US" sz="1200" dirty="0"/>
          </a:p>
        </p:txBody>
      </p:sp>
      <p:sp>
        <p:nvSpPr>
          <p:cNvPr id="18" name="Text 16"/>
          <p:cNvSpPr/>
          <p:nvPr/>
        </p:nvSpPr>
        <p:spPr>
          <a:xfrm>
            <a:off x="8321040" y="3429000"/>
            <a:ext cx="3291840" cy="457200"/>
          </a:xfrm>
          <a:prstGeom prst="rect">
            <a:avLst/>
          </a:prstGeom>
          <a:noFill/>
          <a:ln/>
        </p:spPr>
        <p:txBody>
          <a:bodyPr wrap="square" lIns="0" tIns="0" rIns="0" bIns="0" rtlCol="0" anchor="ctr"/>
          <a:lstStyle/>
          <a:p>
            <a:pPr marL="0" indent="0" algn="ctr">
              <a:buNone/>
            </a:pPr>
            <a:r>
              <a:rPr lang="en-US" sz="1100" i="1" dirty="0">
                <a:solidFill>
                  <a:srgbClr val="5A6B72"/>
                </a:solidFill>
                <a:latin typeface="Calibri" pitchFamily="34" charset="0"/>
                <a:ea typeface="Calibri" pitchFamily="34" charset="-122"/>
                <a:cs typeface="Calibri" pitchFamily="34" charset="-120"/>
              </a:rPr>
              <a:t>Deaths ÷ Cases × 100</a:t>
            </a:r>
            <a:endParaRPr lang="en-US" sz="1100" dirty="0"/>
          </a:p>
        </p:txBody>
      </p:sp>
      <p:sp>
        <p:nvSpPr>
          <p:cNvPr id="19" name="Shape 17"/>
          <p:cNvSpPr/>
          <p:nvPr/>
        </p:nvSpPr>
        <p:spPr>
          <a:xfrm>
            <a:off x="548640" y="4434840"/>
            <a:ext cx="11064240" cy="1554480"/>
          </a:xfrm>
          <a:prstGeom prst="rect">
            <a:avLst/>
          </a:prstGeom>
          <a:solidFill>
            <a:srgbClr val="0F3D4C"/>
          </a:solidFill>
          <a:ln w="12700">
            <a:solidFill>
              <a:srgbClr val="0F3D4C"/>
            </a:solidFill>
            <a:prstDash val="solid"/>
          </a:ln>
        </p:spPr>
        <p:txBody>
          <a:bodyPr/>
          <a:lstStyle/>
          <a:p>
            <a:endParaRPr lang="en-US"/>
          </a:p>
        </p:txBody>
      </p:sp>
      <p:sp>
        <p:nvSpPr>
          <p:cNvPr id="20" name="Text 18"/>
          <p:cNvSpPr/>
          <p:nvPr/>
        </p:nvSpPr>
        <p:spPr>
          <a:xfrm>
            <a:off x="868680" y="4572000"/>
            <a:ext cx="5486400" cy="274320"/>
          </a:xfrm>
          <a:prstGeom prst="rect">
            <a:avLst/>
          </a:prstGeom>
          <a:noFill/>
          <a:ln/>
        </p:spPr>
        <p:txBody>
          <a:bodyPr wrap="square" lIns="0" tIns="0" rIns="0" bIns="0" rtlCol="0" anchor="ctr"/>
          <a:lstStyle/>
          <a:p>
            <a:pPr marL="0" indent="0">
              <a:buNone/>
            </a:pPr>
            <a:r>
              <a:rPr lang="en-US" sz="1100" b="1" kern="0" spc="400" dirty="0">
                <a:solidFill>
                  <a:srgbClr val="2E8B7B"/>
                </a:solidFill>
                <a:latin typeface="Calibri" pitchFamily="34" charset="0"/>
                <a:ea typeface="Calibri" pitchFamily="34" charset="-122"/>
                <a:cs typeface="Calibri" pitchFamily="34" charset="-120"/>
              </a:rPr>
              <a:t>KEY INSIGHT</a:t>
            </a:r>
            <a:endParaRPr lang="en-US" sz="1100" dirty="0"/>
          </a:p>
        </p:txBody>
      </p:sp>
      <p:sp>
        <p:nvSpPr>
          <p:cNvPr id="21" name="Text 19"/>
          <p:cNvSpPr/>
          <p:nvPr/>
        </p:nvSpPr>
        <p:spPr>
          <a:xfrm>
            <a:off x="868680" y="4846320"/>
            <a:ext cx="10424160" cy="109728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On a global scale, roughly 1 in every 47 confirmed COVID-19 cases ended in a reported death. The 2.11% case fatality rate doesn’t include </a:t>
            </a:r>
            <a:r>
              <a:rPr lang="en-US" sz="1400" dirty="0" err="1">
                <a:solidFill>
                  <a:srgbClr val="FFFFFF"/>
                </a:solidFill>
                <a:latin typeface="Calibri" pitchFamily="34" charset="0"/>
                <a:ea typeface="Calibri" pitchFamily="34" charset="-122"/>
                <a:cs typeface="Calibri" pitchFamily="34" charset="-120"/>
              </a:rPr>
              <a:t>coutries</a:t>
            </a:r>
            <a:r>
              <a:rPr lang="en-US" sz="1400" dirty="0">
                <a:solidFill>
                  <a:srgbClr val="FFFFFF"/>
                </a:solidFill>
                <a:latin typeface="Calibri" pitchFamily="34" charset="0"/>
                <a:ea typeface="Calibri" pitchFamily="34" charset="-122"/>
                <a:cs typeface="Calibri" pitchFamily="34" charset="-120"/>
              </a:rPr>
              <a:t> with poor reporting.</a:t>
            </a:r>
            <a:endParaRPr lang="en-US" sz="1400" dirty="0"/>
          </a:p>
        </p:txBody>
      </p:sp>
      <p:sp>
        <p:nvSpPr>
          <p:cNvPr id="22" name="Text 20"/>
          <p:cNvSpPr/>
          <p:nvPr/>
        </p:nvSpPr>
        <p:spPr>
          <a:xfrm>
            <a:off x="457200" y="6446520"/>
            <a:ext cx="8229600" cy="274320"/>
          </a:xfrm>
          <a:prstGeom prst="rect">
            <a:avLst/>
          </a:prstGeom>
          <a:noFill/>
          <a:ln/>
        </p:spPr>
        <p:txBody>
          <a:bodyPr wrap="square" lIns="0" tIns="0" rIns="0" bIns="0" rtlCol="0" anchor="ctr"/>
          <a:lstStyle/>
          <a:p>
            <a:pPr marL="0" indent="0" algn="l">
              <a:buNone/>
            </a:pPr>
            <a:r>
              <a:rPr lang="en-US" sz="900" dirty="0">
                <a:solidFill>
                  <a:srgbClr val="5A6B72"/>
                </a:solidFill>
                <a:latin typeface="Calibri" pitchFamily="34" charset="0"/>
                <a:ea typeface="Calibri" pitchFamily="34" charset="-122"/>
                <a:cs typeface="Calibri" pitchFamily="34" charset="-120"/>
              </a:rPr>
              <a:t>Julia Monson  |  BAIS 4720  |  COVID-19 Vaccination &amp; Mortality</a:t>
            </a:r>
            <a:endParaRPr lang="en-US" sz="900" dirty="0"/>
          </a:p>
        </p:txBody>
      </p:sp>
      <p:sp>
        <p:nvSpPr>
          <p:cNvPr id="23" name="Text 21"/>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5A6B72"/>
                </a:solidFill>
                <a:latin typeface="Calibri" pitchFamily="34" charset="0"/>
                <a:ea typeface="Calibri" pitchFamily="34" charset="-122"/>
                <a:cs typeface="Calibri" pitchFamily="34" charset="-120"/>
              </a:rPr>
              <a:t>7 / 17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marL="0" indent="0">
              <a:buNone/>
            </a:pPr>
            <a:r>
              <a:rPr lang="en-US" sz="1100" b="1" kern="0" spc="400" dirty="0">
                <a:solidFill>
                  <a:srgbClr val="0E8388"/>
                </a:solidFill>
                <a:latin typeface="Calibri" pitchFamily="34" charset="0"/>
                <a:ea typeface="Calibri" pitchFamily="34" charset="-122"/>
                <a:cs typeface="Calibri" pitchFamily="34" charset="-120"/>
              </a:rPr>
              <a:t>RESEARCH QUESTION 3</a:t>
            </a:r>
            <a:endParaRPr lang="en-US" sz="1100" dirty="0"/>
          </a:p>
        </p:txBody>
      </p:sp>
      <p:sp>
        <p:nvSpPr>
          <p:cNvPr id="3" name="Text 1"/>
          <p:cNvSpPr/>
          <p:nvPr/>
        </p:nvSpPr>
        <p:spPr>
          <a:xfrm>
            <a:off x="548640" y="685800"/>
            <a:ext cx="10972800" cy="640080"/>
          </a:xfrm>
          <a:prstGeom prst="rect">
            <a:avLst/>
          </a:prstGeom>
          <a:noFill/>
          <a:ln/>
        </p:spPr>
        <p:txBody>
          <a:bodyPr wrap="square" lIns="0" tIns="0" rIns="0" bIns="0" rtlCol="0" anchor="ctr"/>
          <a:lstStyle/>
          <a:p>
            <a:pPr marL="0" indent="0">
              <a:buNone/>
            </a:pPr>
            <a:r>
              <a:rPr lang="en-US" sz="3200" b="1" dirty="0">
                <a:solidFill>
                  <a:srgbClr val="0F3D4C"/>
                </a:solidFill>
                <a:latin typeface="Georgia" pitchFamily="34" charset="0"/>
                <a:ea typeface="Georgia" pitchFamily="34" charset="-122"/>
                <a:cs typeface="Georgia" pitchFamily="34" charset="-120"/>
              </a:rPr>
              <a:t>Deaths by Continent</a:t>
            </a:r>
            <a:endParaRPr lang="en-US" sz="3200" dirty="0"/>
          </a:p>
        </p:txBody>
      </p:sp>
      <p:graphicFrame>
        <p:nvGraphicFramePr>
          <p:cNvPr id="4" name="Chart 0"/>
          <p:cNvGraphicFramePr/>
          <p:nvPr/>
        </p:nvGraphicFramePr>
        <p:xfrm>
          <a:off x="548640" y="1828800"/>
          <a:ext cx="685800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680960" y="1828800"/>
            <a:ext cx="3931920" cy="4206240"/>
          </a:xfrm>
          <a:prstGeom prst="rect">
            <a:avLst/>
          </a:prstGeom>
          <a:solidFill>
            <a:srgbClr val="FFFFFF"/>
          </a:solidFill>
          <a:ln w="12700">
            <a:solidFill>
              <a:srgbClr val="E5E0D5"/>
            </a:solidFill>
            <a:prstDash val="solid"/>
          </a:ln>
          <a:effectLst>
            <a:outerShdw blurRad="101600" dist="25400" dir="5400000" algn="bl" rotWithShape="0">
              <a:srgbClr val="000000">
                <a:alpha val="6000"/>
              </a:srgbClr>
            </a:outerShdw>
          </a:effectLst>
        </p:spPr>
        <p:txBody>
          <a:bodyPr/>
          <a:lstStyle/>
          <a:p>
            <a:endParaRPr lang="en-US"/>
          </a:p>
        </p:txBody>
      </p:sp>
      <p:sp>
        <p:nvSpPr>
          <p:cNvPr id="6" name="Shape 3"/>
          <p:cNvSpPr/>
          <p:nvPr/>
        </p:nvSpPr>
        <p:spPr>
          <a:xfrm>
            <a:off x="7680960" y="1828800"/>
            <a:ext cx="3931920" cy="73152"/>
          </a:xfrm>
          <a:prstGeom prst="rect">
            <a:avLst/>
          </a:prstGeom>
          <a:solidFill>
            <a:srgbClr val="0E8388"/>
          </a:solidFill>
          <a:ln w="12700">
            <a:solidFill>
              <a:srgbClr val="0E8388"/>
            </a:solidFill>
            <a:prstDash val="solid"/>
          </a:ln>
        </p:spPr>
        <p:txBody>
          <a:bodyPr/>
          <a:lstStyle/>
          <a:p>
            <a:endParaRPr lang="en-US"/>
          </a:p>
        </p:txBody>
      </p:sp>
      <p:sp>
        <p:nvSpPr>
          <p:cNvPr id="7" name="Text 4"/>
          <p:cNvSpPr/>
          <p:nvPr/>
        </p:nvSpPr>
        <p:spPr>
          <a:xfrm>
            <a:off x="7863840" y="2011680"/>
            <a:ext cx="3657600" cy="274320"/>
          </a:xfrm>
          <a:prstGeom prst="rect">
            <a:avLst/>
          </a:prstGeom>
          <a:noFill/>
          <a:ln/>
        </p:spPr>
        <p:txBody>
          <a:bodyPr wrap="square" lIns="0" tIns="0" rIns="0" bIns="0" rtlCol="0" anchor="ctr"/>
          <a:lstStyle/>
          <a:p>
            <a:pPr marL="0" indent="0">
              <a:buNone/>
            </a:pPr>
            <a:r>
              <a:rPr lang="en-US" sz="1100" b="1" kern="0" spc="400" dirty="0">
                <a:solidFill>
                  <a:srgbClr val="0E8388"/>
                </a:solidFill>
                <a:latin typeface="Calibri" pitchFamily="34" charset="0"/>
                <a:ea typeface="Calibri" pitchFamily="34" charset="-122"/>
                <a:cs typeface="Calibri" pitchFamily="34" charset="-120"/>
              </a:rPr>
              <a:t>WHAT STANDS OUT</a:t>
            </a:r>
            <a:endParaRPr lang="en-US" sz="1100" dirty="0"/>
          </a:p>
        </p:txBody>
      </p:sp>
      <p:sp>
        <p:nvSpPr>
          <p:cNvPr id="8" name="Text 5"/>
          <p:cNvSpPr/>
          <p:nvPr/>
        </p:nvSpPr>
        <p:spPr>
          <a:xfrm>
            <a:off x="7863840" y="2331720"/>
            <a:ext cx="3657600" cy="3657600"/>
          </a:xfrm>
          <a:prstGeom prst="rect">
            <a:avLst/>
          </a:prstGeom>
          <a:noFill/>
          <a:ln/>
        </p:spPr>
        <p:txBody>
          <a:bodyPr wrap="square" rtlCol="0" anchor="t"/>
          <a:lstStyle/>
          <a:p>
            <a:pPr marL="0" indent="0">
              <a:buNone/>
            </a:pPr>
            <a:r>
              <a:rPr lang="en-US" sz="1300" b="1" dirty="0">
                <a:solidFill>
                  <a:srgbClr val="0F3D4C"/>
                </a:solidFill>
                <a:latin typeface="Calibri" pitchFamily="34" charset="0"/>
                <a:ea typeface="Calibri" pitchFamily="34" charset="-122"/>
                <a:cs typeface="Calibri" pitchFamily="34" charset="-120"/>
              </a:rPr>
              <a:t>North America led the continent ranking</a:t>
            </a:r>
            <a:endParaRPr lang="en-US" sz="1300" dirty="0"/>
          </a:p>
          <a:p>
            <a:pPr marL="0" indent="0">
              <a:buNone/>
            </a:pPr>
            <a:r>
              <a:rPr lang="en-US" sz="1100" dirty="0">
                <a:solidFill>
                  <a:srgbClr val="5A6B72"/>
                </a:solidFill>
                <a:latin typeface="Calibri" pitchFamily="34" charset="0"/>
                <a:ea typeface="Calibri" pitchFamily="34" charset="-122"/>
                <a:cs typeface="Calibri" pitchFamily="34" charset="-120"/>
              </a:rPr>
              <a:t>Driven by US case count</a:t>
            </a:r>
            <a:endParaRPr lang="en-US" sz="1300" dirty="0"/>
          </a:p>
          <a:p>
            <a:pPr marL="0" indent="0">
              <a:buNone/>
            </a:pPr>
            <a:r>
              <a:rPr lang="en-US" sz="1300" dirty="0">
                <a:solidFill>
                  <a:srgbClr val="1E1E1E"/>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0F3D4C"/>
                </a:solidFill>
                <a:latin typeface="Calibri" pitchFamily="34" charset="0"/>
                <a:ea typeface="Calibri" pitchFamily="34" charset="-122"/>
                <a:cs typeface="Calibri" pitchFamily="34" charset="-120"/>
              </a:rPr>
              <a:t>South America came in second</a:t>
            </a:r>
            <a:endParaRPr lang="en-US" sz="1300" dirty="0"/>
          </a:p>
          <a:p>
            <a:pPr marL="0" indent="0">
              <a:buNone/>
            </a:pPr>
            <a:r>
              <a:rPr lang="en-US" sz="1100" dirty="0">
                <a:solidFill>
                  <a:srgbClr val="5A6B72"/>
                </a:solidFill>
                <a:latin typeface="Calibri" pitchFamily="34" charset="0"/>
                <a:ea typeface="Calibri" pitchFamily="34" charset="-122"/>
                <a:cs typeface="Calibri" pitchFamily="34" charset="-120"/>
              </a:rPr>
              <a:t>Brazil, Peru contributed heavily</a:t>
            </a:r>
            <a:endParaRPr lang="en-US" sz="1300" dirty="0"/>
          </a:p>
          <a:p>
            <a:pPr marL="0" indent="0">
              <a:buNone/>
            </a:pPr>
            <a:r>
              <a:rPr lang="en-US" sz="1300" dirty="0">
                <a:solidFill>
                  <a:srgbClr val="1E1E1E"/>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E07A5F"/>
                </a:solidFill>
                <a:latin typeface="Calibri" pitchFamily="34" charset="0"/>
                <a:ea typeface="Calibri" pitchFamily="34" charset="-122"/>
                <a:cs typeface="Calibri" pitchFamily="34" charset="-120"/>
              </a:rPr>
              <a:t>Africa appears low — but...</a:t>
            </a:r>
            <a:endParaRPr lang="en-US" sz="1300" dirty="0"/>
          </a:p>
          <a:p>
            <a:pPr marL="0" indent="0">
              <a:buNone/>
            </a:pPr>
            <a:r>
              <a:rPr lang="en-US" sz="1100" dirty="0">
                <a:solidFill>
                  <a:srgbClr val="5A6B72"/>
                </a:solidFill>
                <a:latin typeface="Calibri" pitchFamily="34" charset="0"/>
                <a:ea typeface="Calibri" pitchFamily="34" charset="-122"/>
                <a:cs typeface="Calibri" pitchFamily="34" charset="-120"/>
              </a:rPr>
              <a:t>Likely undercount due to reporting gaps (Feyissa et al., 2021)</a:t>
            </a:r>
            <a:endParaRPr lang="en-US" sz="1300" dirty="0"/>
          </a:p>
        </p:txBody>
      </p:sp>
      <p:sp>
        <p:nvSpPr>
          <p:cNvPr id="9" name="Text 6"/>
          <p:cNvSpPr/>
          <p:nvPr/>
        </p:nvSpPr>
        <p:spPr>
          <a:xfrm>
            <a:off x="457200" y="6446520"/>
            <a:ext cx="8229600" cy="274320"/>
          </a:xfrm>
          <a:prstGeom prst="rect">
            <a:avLst/>
          </a:prstGeom>
          <a:noFill/>
          <a:ln/>
        </p:spPr>
        <p:txBody>
          <a:bodyPr wrap="square" lIns="0" tIns="0" rIns="0" bIns="0" rtlCol="0" anchor="ctr"/>
          <a:lstStyle/>
          <a:p>
            <a:pPr marL="0" indent="0" algn="l">
              <a:buNone/>
            </a:pPr>
            <a:r>
              <a:rPr lang="en-US" sz="900" dirty="0">
                <a:solidFill>
                  <a:srgbClr val="5A6B72"/>
                </a:solidFill>
                <a:latin typeface="Calibri" pitchFamily="34" charset="0"/>
                <a:ea typeface="Calibri" pitchFamily="34" charset="-122"/>
                <a:cs typeface="Calibri" pitchFamily="34" charset="-120"/>
              </a:rPr>
              <a:t>Julia Monson  |  BAIS 4720  |  COVID-19 Vaccination &amp; Mortality</a:t>
            </a:r>
            <a:endParaRPr lang="en-US" sz="900" dirty="0"/>
          </a:p>
        </p:txBody>
      </p:sp>
      <p:sp>
        <p:nvSpPr>
          <p:cNvPr id="10" name="Text 7"/>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5A6B72"/>
                </a:solidFill>
                <a:latin typeface="Calibri" pitchFamily="34" charset="0"/>
                <a:ea typeface="Calibri" pitchFamily="34" charset="-122"/>
                <a:cs typeface="Calibri" pitchFamily="34" charset="-120"/>
              </a:rPr>
              <a:t>8 / 17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marL="0" indent="0">
              <a:buNone/>
            </a:pPr>
            <a:r>
              <a:rPr lang="en-US" sz="1100" b="1" kern="0" spc="400" dirty="0">
                <a:solidFill>
                  <a:srgbClr val="0E8388"/>
                </a:solidFill>
                <a:latin typeface="Calibri" pitchFamily="34" charset="0"/>
                <a:ea typeface="Calibri" pitchFamily="34" charset="-122"/>
                <a:cs typeface="Calibri" pitchFamily="34" charset="-120"/>
              </a:rPr>
              <a:t>RESEARCH QUESTION 2</a:t>
            </a:r>
            <a:endParaRPr lang="en-US" sz="1100" dirty="0"/>
          </a:p>
        </p:txBody>
      </p:sp>
      <p:sp>
        <p:nvSpPr>
          <p:cNvPr id="3" name="Text 1"/>
          <p:cNvSpPr/>
          <p:nvPr/>
        </p:nvSpPr>
        <p:spPr>
          <a:xfrm>
            <a:off x="548640" y="685800"/>
            <a:ext cx="10972800" cy="640080"/>
          </a:xfrm>
          <a:prstGeom prst="rect">
            <a:avLst/>
          </a:prstGeom>
          <a:noFill/>
          <a:ln/>
        </p:spPr>
        <p:txBody>
          <a:bodyPr wrap="square" lIns="0" tIns="0" rIns="0" bIns="0" rtlCol="0" anchor="ctr"/>
          <a:lstStyle/>
          <a:p>
            <a:pPr marL="0" indent="0">
              <a:buNone/>
            </a:pPr>
            <a:r>
              <a:rPr lang="en-US" sz="3200" b="1" dirty="0">
                <a:solidFill>
                  <a:srgbClr val="0F3D4C"/>
                </a:solidFill>
                <a:latin typeface="Georgia" pitchFamily="34" charset="0"/>
                <a:ea typeface="Georgia" pitchFamily="34" charset="-122"/>
                <a:cs typeface="Georgia" pitchFamily="34" charset="-120"/>
              </a:rPr>
              <a:t>Five-Country Focus: Why These Countries?</a:t>
            </a:r>
            <a:endParaRPr lang="en-US" sz="3200" dirty="0"/>
          </a:p>
        </p:txBody>
      </p:sp>
      <p:sp>
        <p:nvSpPr>
          <p:cNvPr id="4" name="Text 2"/>
          <p:cNvSpPr/>
          <p:nvPr/>
        </p:nvSpPr>
        <p:spPr>
          <a:xfrm>
            <a:off x="548640" y="1828800"/>
            <a:ext cx="5943600" cy="4114800"/>
          </a:xfrm>
          <a:prstGeom prst="rect">
            <a:avLst/>
          </a:prstGeom>
          <a:noFill/>
          <a:ln/>
        </p:spPr>
        <p:txBody>
          <a:bodyPr wrap="square" rtlCol="0" anchor="t"/>
          <a:lstStyle/>
          <a:p>
            <a:pPr marL="0" indent="0">
              <a:spcAft>
                <a:spcPts val="400"/>
              </a:spcAft>
              <a:buNone/>
            </a:pPr>
            <a:r>
              <a:rPr lang="en-US" sz="1800" b="1" dirty="0">
                <a:solidFill>
                  <a:srgbClr val="0F3D4C"/>
                </a:solidFill>
                <a:latin typeface="Calibri" pitchFamily="34" charset="0"/>
                <a:ea typeface="Calibri" pitchFamily="34" charset="-122"/>
                <a:cs typeface="Calibri" pitchFamily="34" charset="-120"/>
              </a:rPr>
              <a:t>Why narrow the focus?</a:t>
            </a:r>
            <a:endParaRPr lang="en-US" sz="1400" dirty="0"/>
          </a:p>
          <a:p>
            <a:pPr marL="0" indent="0">
              <a:spcAft>
                <a:spcPts val="400"/>
              </a:spcAft>
              <a:buNone/>
            </a:pPr>
            <a:r>
              <a:rPr lang="en-US" sz="1400" dirty="0">
                <a:solidFill>
                  <a:srgbClr val="1E1E1E"/>
                </a:solidFill>
                <a:latin typeface="Calibri" pitchFamily="34" charset="0"/>
                <a:ea typeface="Calibri" pitchFamily="34" charset="-122"/>
                <a:cs typeface="Calibri" pitchFamily="34" charset="-120"/>
              </a:rPr>
              <a:t> </a:t>
            </a:r>
            <a:endParaRPr lang="en-US" sz="1400" dirty="0"/>
          </a:p>
          <a:p>
            <a:pPr marL="0" indent="0">
              <a:spcAft>
                <a:spcPts val="400"/>
              </a:spcAft>
              <a:buNone/>
            </a:pPr>
            <a:r>
              <a:rPr lang="en-US" sz="1400" dirty="0">
                <a:solidFill>
                  <a:srgbClr val="1E1E1E"/>
                </a:solidFill>
                <a:latin typeface="Calibri" pitchFamily="34" charset="0"/>
                <a:ea typeface="Calibri" pitchFamily="34" charset="-122"/>
                <a:cs typeface="Calibri" pitchFamily="34" charset="-120"/>
              </a:rPr>
              <a:t>Many have countries have insistent death reporting. Hospital-based reporting often excludes community deaths, and testing regulation vary in each country.</a:t>
            </a:r>
            <a:endParaRPr lang="en-US" sz="1400" dirty="0"/>
          </a:p>
          <a:p>
            <a:pPr marL="0" indent="0">
              <a:spcAft>
                <a:spcPts val="400"/>
              </a:spcAft>
              <a:buNone/>
            </a:pPr>
            <a:r>
              <a:rPr lang="en-US" sz="1400" dirty="0">
                <a:solidFill>
                  <a:srgbClr val="1E1E1E"/>
                </a:solidFill>
                <a:latin typeface="Calibri" pitchFamily="34" charset="0"/>
                <a:ea typeface="Calibri" pitchFamily="34" charset="-122"/>
                <a:cs typeface="Calibri" pitchFamily="34" charset="-120"/>
              </a:rPr>
              <a:t> </a:t>
            </a:r>
            <a:endParaRPr lang="en-US" sz="1400" dirty="0"/>
          </a:p>
          <a:p>
            <a:pPr marL="0" indent="0">
              <a:spcAft>
                <a:spcPts val="400"/>
              </a:spcAft>
              <a:buNone/>
            </a:pPr>
            <a:r>
              <a:rPr lang="en-US" sz="1400" dirty="0">
                <a:solidFill>
                  <a:srgbClr val="1E1E1E"/>
                </a:solidFill>
                <a:latin typeface="Calibri" pitchFamily="34" charset="0"/>
                <a:ea typeface="Calibri" pitchFamily="34" charset="-122"/>
                <a:cs typeface="Calibri" pitchFamily="34" charset="-120"/>
              </a:rPr>
              <a:t>I  focused on countries with a stronger civil registration systems. Global data was retained for visualization purposes only, I didn’t do anything else with it.</a:t>
            </a:r>
            <a:endParaRPr lang="en-US" sz="1400" dirty="0"/>
          </a:p>
        </p:txBody>
      </p:sp>
      <p:sp>
        <p:nvSpPr>
          <p:cNvPr id="5" name="Shape 3"/>
          <p:cNvSpPr/>
          <p:nvPr/>
        </p:nvSpPr>
        <p:spPr>
          <a:xfrm>
            <a:off x="6766560" y="1828800"/>
            <a:ext cx="4846320" cy="731520"/>
          </a:xfrm>
          <a:prstGeom prst="rect">
            <a:avLst/>
          </a:prstGeom>
          <a:solidFill>
            <a:srgbClr val="FFFFFF"/>
          </a:solidFill>
          <a:ln w="12700">
            <a:solidFill>
              <a:srgbClr val="E5E0D5"/>
            </a:solidFill>
            <a:prstDash val="solid"/>
          </a:ln>
          <a:effectLst>
            <a:outerShdw blurRad="76200" dist="25400" dir="5400000" algn="bl" rotWithShape="0">
              <a:srgbClr val="000000">
                <a:alpha val="5000"/>
              </a:srgbClr>
            </a:outerShdw>
          </a:effectLst>
        </p:spPr>
        <p:txBody>
          <a:bodyPr/>
          <a:lstStyle/>
          <a:p>
            <a:endParaRPr lang="en-US"/>
          </a:p>
        </p:txBody>
      </p:sp>
      <p:sp>
        <p:nvSpPr>
          <p:cNvPr id="6" name="Shape 4"/>
          <p:cNvSpPr/>
          <p:nvPr/>
        </p:nvSpPr>
        <p:spPr>
          <a:xfrm>
            <a:off x="6766560" y="1828800"/>
            <a:ext cx="640080" cy="731520"/>
          </a:xfrm>
          <a:prstGeom prst="rect">
            <a:avLst/>
          </a:prstGeom>
          <a:solidFill>
            <a:srgbClr val="0E8388"/>
          </a:solidFill>
          <a:ln w="12700">
            <a:solidFill>
              <a:srgbClr val="0E8388"/>
            </a:solidFill>
            <a:prstDash val="solid"/>
          </a:ln>
        </p:spPr>
        <p:txBody>
          <a:bodyPr/>
          <a:lstStyle/>
          <a:p>
            <a:endParaRPr lang="en-US"/>
          </a:p>
        </p:txBody>
      </p:sp>
      <p:sp>
        <p:nvSpPr>
          <p:cNvPr id="7" name="Text 5"/>
          <p:cNvSpPr/>
          <p:nvPr/>
        </p:nvSpPr>
        <p:spPr>
          <a:xfrm>
            <a:off x="6766560" y="1828800"/>
            <a:ext cx="640080" cy="7315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US</a:t>
            </a:r>
            <a:endParaRPr lang="en-US" sz="1800" dirty="0"/>
          </a:p>
        </p:txBody>
      </p:sp>
      <p:sp>
        <p:nvSpPr>
          <p:cNvPr id="8" name="Text 6"/>
          <p:cNvSpPr/>
          <p:nvPr/>
        </p:nvSpPr>
        <p:spPr>
          <a:xfrm>
            <a:off x="7543800" y="1874520"/>
            <a:ext cx="4023360" cy="320040"/>
          </a:xfrm>
          <a:prstGeom prst="rect">
            <a:avLst/>
          </a:prstGeom>
          <a:noFill/>
          <a:ln/>
        </p:spPr>
        <p:txBody>
          <a:bodyPr wrap="square" lIns="0" tIns="0" rIns="0" bIns="0" rtlCol="0" anchor="ctr"/>
          <a:lstStyle/>
          <a:p>
            <a:pPr marL="0" indent="0">
              <a:buNone/>
            </a:pPr>
            <a:r>
              <a:rPr lang="en-US" sz="1400" b="1" dirty="0">
                <a:solidFill>
                  <a:srgbClr val="0F3D4C"/>
                </a:solidFill>
                <a:latin typeface="Georgia" pitchFamily="34" charset="0"/>
                <a:ea typeface="Georgia" pitchFamily="34" charset="-122"/>
                <a:cs typeface="Georgia" pitchFamily="34" charset="-120"/>
              </a:rPr>
              <a:t>United States</a:t>
            </a:r>
            <a:endParaRPr lang="en-US" sz="1400" dirty="0"/>
          </a:p>
        </p:txBody>
      </p:sp>
      <p:sp>
        <p:nvSpPr>
          <p:cNvPr id="9" name="Text 7"/>
          <p:cNvSpPr/>
          <p:nvPr/>
        </p:nvSpPr>
        <p:spPr>
          <a:xfrm>
            <a:off x="7543800" y="2194560"/>
            <a:ext cx="4023360" cy="320040"/>
          </a:xfrm>
          <a:prstGeom prst="rect">
            <a:avLst/>
          </a:prstGeom>
          <a:noFill/>
          <a:ln/>
        </p:spPr>
        <p:txBody>
          <a:bodyPr wrap="square" lIns="0" tIns="0" rIns="0" bIns="0" rtlCol="0" anchor="ctr"/>
          <a:lstStyle/>
          <a:p>
            <a:pPr marL="0" indent="0">
              <a:buNone/>
            </a:pPr>
            <a:r>
              <a:rPr lang="en-US" sz="1100" i="1" dirty="0">
                <a:solidFill>
                  <a:srgbClr val="5A6B72"/>
                </a:solidFill>
                <a:latin typeface="Calibri" pitchFamily="34" charset="0"/>
                <a:ea typeface="Calibri" pitchFamily="34" charset="-122"/>
                <a:cs typeface="Calibri" pitchFamily="34" charset="-120"/>
              </a:rPr>
              <a:t>Largest reported death count</a:t>
            </a:r>
            <a:endParaRPr lang="en-US" sz="1100" dirty="0"/>
          </a:p>
        </p:txBody>
      </p:sp>
      <p:sp>
        <p:nvSpPr>
          <p:cNvPr id="10" name="Shape 8"/>
          <p:cNvSpPr/>
          <p:nvPr/>
        </p:nvSpPr>
        <p:spPr>
          <a:xfrm>
            <a:off x="6766560" y="2697480"/>
            <a:ext cx="4846320" cy="731520"/>
          </a:xfrm>
          <a:prstGeom prst="rect">
            <a:avLst/>
          </a:prstGeom>
          <a:solidFill>
            <a:srgbClr val="FFFFFF"/>
          </a:solidFill>
          <a:ln w="12700">
            <a:solidFill>
              <a:srgbClr val="E5E0D5"/>
            </a:solidFill>
            <a:prstDash val="solid"/>
          </a:ln>
          <a:effectLst>
            <a:outerShdw blurRad="76200" dist="25400" dir="5400000" algn="bl" rotWithShape="0">
              <a:srgbClr val="000000">
                <a:alpha val="5000"/>
              </a:srgbClr>
            </a:outerShdw>
          </a:effectLst>
        </p:spPr>
        <p:txBody>
          <a:bodyPr/>
          <a:lstStyle/>
          <a:p>
            <a:endParaRPr lang="en-US"/>
          </a:p>
        </p:txBody>
      </p:sp>
      <p:sp>
        <p:nvSpPr>
          <p:cNvPr id="11" name="Shape 9"/>
          <p:cNvSpPr/>
          <p:nvPr/>
        </p:nvSpPr>
        <p:spPr>
          <a:xfrm>
            <a:off x="6766560" y="2697480"/>
            <a:ext cx="640080" cy="731520"/>
          </a:xfrm>
          <a:prstGeom prst="rect">
            <a:avLst/>
          </a:prstGeom>
          <a:solidFill>
            <a:srgbClr val="0E8388"/>
          </a:solidFill>
          <a:ln w="12700">
            <a:solidFill>
              <a:srgbClr val="0E8388"/>
            </a:solidFill>
            <a:prstDash val="solid"/>
          </a:ln>
        </p:spPr>
        <p:txBody>
          <a:bodyPr/>
          <a:lstStyle/>
          <a:p>
            <a:endParaRPr lang="en-US"/>
          </a:p>
        </p:txBody>
      </p:sp>
      <p:sp>
        <p:nvSpPr>
          <p:cNvPr id="12" name="Text 10"/>
          <p:cNvSpPr/>
          <p:nvPr/>
        </p:nvSpPr>
        <p:spPr>
          <a:xfrm>
            <a:off x="6766560" y="2697480"/>
            <a:ext cx="640080" cy="7315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UK</a:t>
            </a:r>
            <a:endParaRPr lang="en-US" sz="1800" dirty="0"/>
          </a:p>
        </p:txBody>
      </p:sp>
      <p:sp>
        <p:nvSpPr>
          <p:cNvPr id="13" name="Text 11"/>
          <p:cNvSpPr/>
          <p:nvPr/>
        </p:nvSpPr>
        <p:spPr>
          <a:xfrm>
            <a:off x="7543800" y="2743200"/>
            <a:ext cx="4023360" cy="320040"/>
          </a:xfrm>
          <a:prstGeom prst="rect">
            <a:avLst/>
          </a:prstGeom>
          <a:noFill/>
          <a:ln/>
        </p:spPr>
        <p:txBody>
          <a:bodyPr wrap="square" lIns="0" tIns="0" rIns="0" bIns="0" rtlCol="0" anchor="ctr"/>
          <a:lstStyle/>
          <a:p>
            <a:pPr marL="0" indent="0">
              <a:buNone/>
            </a:pPr>
            <a:r>
              <a:rPr lang="en-US" sz="1400" b="1" dirty="0">
                <a:solidFill>
                  <a:srgbClr val="0F3D4C"/>
                </a:solidFill>
                <a:latin typeface="Georgia" pitchFamily="34" charset="0"/>
                <a:ea typeface="Georgia" pitchFamily="34" charset="-122"/>
                <a:cs typeface="Georgia" pitchFamily="34" charset="-120"/>
              </a:rPr>
              <a:t>United Kingdom</a:t>
            </a:r>
            <a:endParaRPr lang="en-US" sz="1400" dirty="0"/>
          </a:p>
        </p:txBody>
      </p:sp>
      <p:sp>
        <p:nvSpPr>
          <p:cNvPr id="14" name="Text 12"/>
          <p:cNvSpPr/>
          <p:nvPr/>
        </p:nvSpPr>
        <p:spPr>
          <a:xfrm>
            <a:off x="7543800" y="3063240"/>
            <a:ext cx="4023360" cy="320040"/>
          </a:xfrm>
          <a:prstGeom prst="rect">
            <a:avLst/>
          </a:prstGeom>
          <a:noFill/>
          <a:ln/>
        </p:spPr>
        <p:txBody>
          <a:bodyPr wrap="square" lIns="0" tIns="0" rIns="0" bIns="0" rtlCol="0" anchor="ctr"/>
          <a:lstStyle/>
          <a:p>
            <a:pPr marL="0" indent="0">
              <a:buNone/>
            </a:pPr>
            <a:r>
              <a:rPr lang="en-US" sz="1100" i="1" dirty="0">
                <a:solidFill>
                  <a:srgbClr val="5A6B72"/>
                </a:solidFill>
                <a:latin typeface="Calibri" pitchFamily="34" charset="0"/>
                <a:ea typeface="Calibri" pitchFamily="34" charset="-122"/>
                <a:cs typeface="Calibri" pitchFamily="34" charset="-120"/>
              </a:rPr>
              <a:t>Strong civil registration</a:t>
            </a:r>
            <a:endParaRPr lang="en-US" sz="1100" dirty="0"/>
          </a:p>
        </p:txBody>
      </p:sp>
      <p:sp>
        <p:nvSpPr>
          <p:cNvPr id="15" name="Shape 13"/>
          <p:cNvSpPr/>
          <p:nvPr/>
        </p:nvSpPr>
        <p:spPr>
          <a:xfrm>
            <a:off x="6766560" y="3566160"/>
            <a:ext cx="4846320" cy="731520"/>
          </a:xfrm>
          <a:prstGeom prst="rect">
            <a:avLst/>
          </a:prstGeom>
          <a:solidFill>
            <a:srgbClr val="FFFFFF"/>
          </a:solidFill>
          <a:ln w="12700">
            <a:solidFill>
              <a:srgbClr val="E5E0D5"/>
            </a:solidFill>
            <a:prstDash val="solid"/>
          </a:ln>
          <a:effectLst>
            <a:outerShdw blurRad="76200" dist="25400" dir="5400000" algn="bl" rotWithShape="0">
              <a:srgbClr val="000000">
                <a:alpha val="5000"/>
              </a:srgbClr>
            </a:outerShdw>
          </a:effectLst>
        </p:spPr>
        <p:txBody>
          <a:bodyPr/>
          <a:lstStyle/>
          <a:p>
            <a:endParaRPr lang="en-US"/>
          </a:p>
        </p:txBody>
      </p:sp>
      <p:sp>
        <p:nvSpPr>
          <p:cNvPr id="16" name="Shape 14"/>
          <p:cNvSpPr/>
          <p:nvPr/>
        </p:nvSpPr>
        <p:spPr>
          <a:xfrm>
            <a:off x="6766560" y="3566160"/>
            <a:ext cx="640080" cy="731520"/>
          </a:xfrm>
          <a:prstGeom prst="rect">
            <a:avLst/>
          </a:prstGeom>
          <a:solidFill>
            <a:srgbClr val="0E8388"/>
          </a:solidFill>
          <a:ln w="12700">
            <a:solidFill>
              <a:srgbClr val="0E8388"/>
            </a:solidFill>
            <a:prstDash val="solid"/>
          </a:ln>
        </p:spPr>
        <p:txBody>
          <a:bodyPr/>
          <a:lstStyle/>
          <a:p>
            <a:endParaRPr lang="en-US"/>
          </a:p>
        </p:txBody>
      </p:sp>
      <p:sp>
        <p:nvSpPr>
          <p:cNvPr id="17" name="Text 15"/>
          <p:cNvSpPr/>
          <p:nvPr/>
        </p:nvSpPr>
        <p:spPr>
          <a:xfrm>
            <a:off x="6766560" y="3566160"/>
            <a:ext cx="640080" cy="7315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IN</a:t>
            </a:r>
            <a:endParaRPr lang="en-US" sz="1800" dirty="0"/>
          </a:p>
        </p:txBody>
      </p:sp>
      <p:sp>
        <p:nvSpPr>
          <p:cNvPr id="18" name="Text 16"/>
          <p:cNvSpPr/>
          <p:nvPr/>
        </p:nvSpPr>
        <p:spPr>
          <a:xfrm>
            <a:off x="7543800" y="3611880"/>
            <a:ext cx="4023360" cy="320040"/>
          </a:xfrm>
          <a:prstGeom prst="rect">
            <a:avLst/>
          </a:prstGeom>
          <a:noFill/>
          <a:ln/>
        </p:spPr>
        <p:txBody>
          <a:bodyPr wrap="square" lIns="0" tIns="0" rIns="0" bIns="0" rtlCol="0" anchor="ctr"/>
          <a:lstStyle/>
          <a:p>
            <a:pPr marL="0" indent="0">
              <a:buNone/>
            </a:pPr>
            <a:r>
              <a:rPr lang="en-US" sz="1400" b="1" dirty="0">
                <a:solidFill>
                  <a:srgbClr val="0F3D4C"/>
                </a:solidFill>
                <a:latin typeface="Georgia" pitchFamily="34" charset="0"/>
                <a:ea typeface="Georgia" pitchFamily="34" charset="-122"/>
                <a:cs typeface="Georgia" pitchFamily="34" charset="-120"/>
              </a:rPr>
              <a:t>India</a:t>
            </a:r>
            <a:endParaRPr lang="en-US" sz="1400" dirty="0"/>
          </a:p>
        </p:txBody>
      </p:sp>
      <p:sp>
        <p:nvSpPr>
          <p:cNvPr id="19" name="Text 17"/>
          <p:cNvSpPr/>
          <p:nvPr/>
        </p:nvSpPr>
        <p:spPr>
          <a:xfrm>
            <a:off x="7543800" y="3931920"/>
            <a:ext cx="4023360" cy="320040"/>
          </a:xfrm>
          <a:prstGeom prst="rect">
            <a:avLst/>
          </a:prstGeom>
          <a:noFill/>
          <a:ln/>
        </p:spPr>
        <p:txBody>
          <a:bodyPr wrap="square" lIns="0" tIns="0" rIns="0" bIns="0" rtlCol="0" anchor="ctr"/>
          <a:lstStyle/>
          <a:p>
            <a:pPr marL="0" indent="0">
              <a:buNone/>
            </a:pPr>
            <a:r>
              <a:rPr lang="en-US" sz="1100" i="1" dirty="0">
                <a:solidFill>
                  <a:srgbClr val="5A6B72"/>
                </a:solidFill>
                <a:latin typeface="Calibri" pitchFamily="34" charset="0"/>
                <a:ea typeface="Calibri" pitchFamily="34" charset="-122"/>
                <a:cs typeface="Calibri" pitchFamily="34" charset="-120"/>
              </a:rPr>
              <a:t>Population scale + registration</a:t>
            </a:r>
            <a:endParaRPr lang="en-US" sz="1100" dirty="0"/>
          </a:p>
        </p:txBody>
      </p:sp>
      <p:sp>
        <p:nvSpPr>
          <p:cNvPr id="20" name="Shape 18"/>
          <p:cNvSpPr/>
          <p:nvPr/>
        </p:nvSpPr>
        <p:spPr>
          <a:xfrm>
            <a:off x="6766560" y="4434840"/>
            <a:ext cx="4846320" cy="731520"/>
          </a:xfrm>
          <a:prstGeom prst="rect">
            <a:avLst/>
          </a:prstGeom>
          <a:solidFill>
            <a:srgbClr val="FFFFFF"/>
          </a:solidFill>
          <a:ln w="12700">
            <a:solidFill>
              <a:srgbClr val="E5E0D5"/>
            </a:solidFill>
            <a:prstDash val="solid"/>
          </a:ln>
          <a:effectLst>
            <a:outerShdw blurRad="76200" dist="25400" dir="5400000" algn="bl" rotWithShape="0">
              <a:srgbClr val="000000">
                <a:alpha val="5000"/>
              </a:srgbClr>
            </a:outerShdw>
          </a:effectLst>
        </p:spPr>
        <p:txBody>
          <a:bodyPr/>
          <a:lstStyle/>
          <a:p>
            <a:endParaRPr lang="en-US"/>
          </a:p>
        </p:txBody>
      </p:sp>
      <p:sp>
        <p:nvSpPr>
          <p:cNvPr id="21" name="Shape 19"/>
          <p:cNvSpPr/>
          <p:nvPr/>
        </p:nvSpPr>
        <p:spPr>
          <a:xfrm>
            <a:off x="6766560" y="4434840"/>
            <a:ext cx="640080" cy="731520"/>
          </a:xfrm>
          <a:prstGeom prst="rect">
            <a:avLst/>
          </a:prstGeom>
          <a:solidFill>
            <a:srgbClr val="0E8388"/>
          </a:solidFill>
          <a:ln w="12700">
            <a:solidFill>
              <a:srgbClr val="0E8388"/>
            </a:solidFill>
            <a:prstDash val="solid"/>
          </a:ln>
        </p:spPr>
        <p:txBody>
          <a:bodyPr/>
          <a:lstStyle/>
          <a:p>
            <a:endParaRPr lang="en-US"/>
          </a:p>
        </p:txBody>
      </p:sp>
      <p:sp>
        <p:nvSpPr>
          <p:cNvPr id="22" name="Text 20"/>
          <p:cNvSpPr/>
          <p:nvPr/>
        </p:nvSpPr>
        <p:spPr>
          <a:xfrm>
            <a:off x="6766560" y="4434840"/>
            <a:ext cx="640080" cy="7315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MX</a:t>
            </a:r>
            <a:endParaRPr lang="en-US" sz="1800" dirty="0"/>
          </a:p>
        </p:txBody>
      </p:sp>
      <p:sp>
        <p:nvSpPr>
          <p:cNvPr id="23" name="Text 21"/>
          <p:cNvSpPr/>
          <p:nvPr/>
        </p:nvSpPr>
        <p:spPr>
          <a:xfrm>
            <a:off x="7543800" y="4480560"/>
            <a:ext cx="4023360" cy="320040"/>
          </a:xfrm>
          <a:prstGeom prst="rect">
            <a:avLst/>
          </a:prstGeom>
          <a:noFill/>
          <a:ln/>
        </p:spPr>
        <p:txBody>
          <a:bodyPr wrap="square" lIns="0" tIns="0" rIns="0" bIns="0" rtlCol="0" anchor="ctr"/>
          <a:lstStyle/>
          <a:p>
            <a:pPr marL="0" indent="0">
              <a:buNone/>
            </a:pPr>
            <a:r>
              <a:rPr lang="en-US" sz="1400" b="1" dirty="0">
                <a:solidFill>
                  <a:srgbClr val="0F3D4C"/>
                </a:solidFill>
                <a:latin typeface="Georgia" pitchFamily="34" charset="0"/>
                <a:ea typeface="Georgia" pitchFamily="34" charset="-122"/>
                <a:cs typeface="Georgia" pitchFamily="34" charset="-120"/>
              </a:rPr>
              <a:t>Mexico</a:t>
            </a:r>
            <a:endParaRPr lang="en-US" sz="1400" dirty="0"/>
          </a:p>
        </p:txBody>
      </p:sp>
      <p:sp>
        <p:nvSpPr>
          <p:cNvPr id="24" name="Text 22"/>
          <p:cNvSpPr/>
          <p:nvPr/>
        </p:nvSpPr>
        <p:spPr>
          <a:xfrm>
            <a:off x="7543800" y="4800600"/>
            <a:ext cx="4023360" cy="320040"/>
          </a:xfrm>
          <a:prstGeom prst="rect">
            <a:avLst/>
          </a:prstGeom>
          <a:noFill/>
          <a:ln/>
        </p:spPr>
        <p:txBody>
          <a:bodyPr wrap="square" lIns="0" tIns="0" rIns="0" bIns="0" rtlCol="0" anchor="ctr"/>
          <a:lstStyle/>
          <a:p>
            <a:pPr marL="0" indent="0">
              <a:buNone/>
            </a:pPr>
            <a:r>
              <a:rPr lang="en-US" sz="1100" i="1" dirty="0">
                <a:solidFill>
                  <a:srgbClr val="5A6B72"/>
                </a:solidFill>
                <a:latin typeface="Calibri" pitchFamily="34" charset="0"/>
                <a:ea typeface="Calibri" pitchFamily="34" charset="-122"/>
                <a:cs typeface="Calibri" pitchFamily="34" charset="-120"/>
              </a:rPr>
              <a:t>Higher CFR— interesting…</a:t>
            </a:r>
            <a:endParaRPr lang="en-US" sz="1100" dirty="0"/>
          </a:p>
        </p:txBody>
      </p:sp>
      <p:sp>
        <p:nvSpPr>
          <p:cNvPr id="25" name="Shape 23"/>
          <p:cNvSpPr/>
          <p:nvPr/>
        </p:nvSpPr>
        <p:spPr>
          <a:xfrm>
            <a:off x="6766560" y="5303520"/>
            <a:ext cx="4846320" cy="731520"/>
          </a:xfrm>
          <a:prstGeom prst="rect">
            <a:avLst/>
          </a:prstGeom>
          <a:solidFill>
            <a:srgbClr val="FFFFFF"/>
          </a:solidFill>
          <a:ln w="12700">
            <a:solidFill>
              <a:srgbClr val="E5E0D5"/>
            </a:solidFill>
            <a:prstDash val="solid"/>
          </a:ln>
          <a:effectLst>
            <a:outerShdw blurRad="76200" dist="25400" dir="5400000" algn="bl" rotWithShape="0">
              <a:srgbClr val="000000">
                <a:alpha val="5000"/>
              </a:srgbClr>
            </a:outerShdw>
          </a:effectLst>
        </p:spPr>
        <p:txBody>
          <a:bodyPr/>
          <a:lstStyle/>
          <a:p>
            <a:endParaRPr lang="en-US"/>
          </a:p>
        </p:txBody>
      </p:sp>
      <p:sp>
        <p:nvSpPr>
          <p:cNvPr id="26" name="Shape 24"/>
          <p:cNvSpPr/>
          <p:nvPr/>
        </p:nvSpPr>
        <p:spPr>
          <a:xfrm>
            <a:off x="6766560" y="5303520"/>
            <a:ext cx="640080" cy="731520"/>
          </a:xfrm>
          <a:prstGeom prst="rect">
            <a:avLst/>
          </a:prstGeom>
          <a:solidFill>
            <a:srgbClr val="0E8388"/>
          </a:solidFill>
          <a:ln w="12700">
            <a:solidFill>
              <a:srgbClr val="0E8388"/>
            </a:solidFill>
            <a:prstDash val="solid"/>
          </a:ln>
        </p:spPr>
        <p:txBody>
          <a:bodyPr/>
          <a:lstStyle/>
          <a:p>
            <a:endParaRPr lang="en-US"/>
          </a:p>
        </p:txBody>
      </p:sp>
      <p:sp>
        <p:nvSpPr>
          <p:cNvPr id="27" name="Text 25"/>
          <p:cNvSpPr/>
          <p:nvPr/>
        </p:nvSpPr>
        <p:spPr>
          <a:xfrm>
            <a:off x="6766560" y="5303520"/>
            <a:ext cx="640080" cy="7315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CN</a:t>
            </a:r>
            <a:endParaRPr lang="en-US" sz="1800" dirty="0"/>
          </a:p>
        </p:txBody>
      </p:sp>
      <p:sp>
        <p:nvSpPr>
          <p:cNvPr id="28" name="Text 26"/>
          <p:cNvSpPr/>
          <p:nvPr/>
        </p:nvSpPr>
        <p:spPr>
          <a:xfrm>
            <a:off x="7543800" y="5349240"/>
            <a:ext cx="4023360" cy="320040"/>
          </a:xfrm>
          <a:prstGeom prst="rect">
            <a:avLst/>
          </a:prstGeom>
          <a:noFill/>
          <a:ln/>
        </p:spPr>
        <p:txBody>
          <a:bodyPr wrap="square" lIns="0" tIns="0" rIns="0" bIns="0" rtlCol="0" anchor="ctr"/>
          <a:lstStyle/>
          <a:p>
            <a:pPr marL="0" indent="0">
              <a:buNone/>
            </a:pPr>
            <a:r>
              <a:rPr lang="en-US" sz="1400" b="1" dirty="0">
                <a:solidFill>
                  <a:srgbClr val="0F3D4C"/>
                </a:solidFill>
                <a:latin typeface="Georgia" pitchFamily="34" charset="0"/>
                <a:ea typeface="Georgia" pitchFamily="34" charset="-122"/>
                <a:cs typeface="Georgia" pitchFamily="34" charset="-120"/>
              </a:rPr>
              <a:t>China</a:t>
            </a:r>
            <a:endParaRPr lang="en-US" sz="1400" dirty="0"/>
          </a:p>
        </p:txBody>
      </p:sp>
      <p:sp>
        <p:nvSpPr>
          <p:cNvPr id="29" name="Text 27"/>
          <p:cNvSpPr/>
          <p:nvPr/>
        </p:nvSpPr>
        <p:spPr>
          <a:xfrm>
            <a:off x="7543800" y="5669280"/>
            <a:ext cx="4023360" cy="320040"/>
          </a:xfrm>
          <a:prstGeom prst="rect">
            <a:avLst/>
          </a:prstGeom>
          <a:noFill/>
          <a:ln/>
        </p:spPr>
        <p:txBody>
          <a:bodyPr wrap="square" lIns="0" tIns="0" rIns="0" bIns="0" rtlCol="0" anchor="ctr"/>
          <a:lstStyle/>
          <a:p>
            <a:pPr marL="0" indent="0">
              <a:buNone/>
            </a:pPr>
            <a:r>
              <a:rPr lang="en-US" sz="1100" i="1" dirty="0">
                <a:solidFill>
                  <a:srgbClr val="5A6B72"/>
                </a:solidFill>
                <a:latin typeface="Calibri" pitchFamily="34" charset="0"/>
                <a:ea typeface="Calibri" pitchFamily="34" charset="-122"/>
                <a:cs typeface="Calibri" pitchFamily="34" charset="-120"/>
              </a:rPr>
              <a:t>Ground 0</a:t>
            </a:r>
            <a:endParaRPr lang="en-US" sz="1100" dirty="0"/>
          </a:p>
        </p:txBody>
      </p:sp>
      <p:sp>
        <p:nvSpPr>
          <p:cNvPr id="30" name="Text 28"/>
          <p:cNvSpPr/>
          <p:nvPr/>
        </p:nvSpPr>
        <p:spPr>
          <a:xfrm>
            <a:off x="457200" y="6446520"/>
            <a:ext cx="8229600" cy="274320"/>
          </a:xfrm>
          <a:prstGeom prst="rect">
            <a:avLst/>
          </a:prstGeom>
          <a:noFill/>
          <a:ln/>
        </p:spPr>
        <p:txBody>
          <a:bodyPr wrap="square" lIns="0" tIns="0" rIns="0" bIns="0" rtlCol="0" anchor="ctr"/>
          <a:lstStyle/>
          <a:p>
            <a:pPr marL="0" indent="0" algn="l">
              <a:buNone/>
            </a:pPr>
            <a:r>
              <a:rPr lang="en-US" sz="900" dirty="0">
                <a:solidFill>
                  <a:srgbClr val="5A6B72"/>
                </a:solidFill>
                <a:latin typeface="Calibri" pitchFamily="34" charset="0"/>
                <a:ea typeface="Calibri" pitchFamily="34" charset="-122"/>
                <a:cs typeface="Calibri" pitchFamily="34" charset="-120"/>
              </a:rPr>
              <a:t>Julia Monson  |  BAIS 4720  |  COVID-19 Vaccination &amp; Mortality</a:t>
            </a:r>
            <a:endParaRPr lang="en-US" sz="900" dirty="0"/>
          </a:p>
        </p:txBody>
      </p:sp>
      <p:sp>
        <p:nvSpPr>
          <p:cNvPr id="31" name="Text 29"/>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5A6B72"/>
                </a:solidFill>
                <a:latin typeface="Calibri" pitchFamily="34" charset="0"/>
                <a:ea typeface="Calibri" pitchFamily="34" charset="-122"/>
                <a:cs typeface="Calibri" pitchFamily="34" charset="-120"/>
              </a:rPr>
              <a:t>9 / 17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marL="0" indent="0">
              <a:buNone/>
            </a:pPr>
            <a:r>
              <a:rPr lang="en-US" sz="1100" b="1" kern="0" spc="400" dirty="0">
                <a:solidFill>
                  <a:srgbClr val="0E8388"/>
                </a:solidFill>
                <a:latin typeface="Calibri" pitchFamily="34" charset="0"/>
                <a:ea typeface="Calibri" pitchFamily="34" charset="-122"/>
                <a:cs typeface="Calibri" pitchFamily="34" charset="-120"/>
              </a:rPr>
              <a:t>RESEARCH QUESTION 1</a:t>
            </a:r>
            <a:endParaRPr lang="en-US" sz="1100" dirty="0"/>
          </a:p>
        </p:txBody>
      </p:sp>
      <p:sp>
        <p:nvSpPr>
          <p:cNvPr id="3" name="Text 1"/>
          <p:cNvSpPr/>
          <p:nvPr/>
        </p:nvSpPr>
        <p:spPr>
          <a:xfrm>
            <a:off x="548640" y="685800"/>
            <a:ext cx="10972800" cy="640080"/>
          </a:xfrm>
          <a:prstGeom prst="rect">
            <a:avLst/>
          </a:prstGeom>
          <a:noFill/>
          <a:ln/>
        </p:spPr>
        <p:txBody>
          <a:bodyPr wrap="square" lIns="0" tIns="0" rIns="0" bIns="0" rtlCol="0" anchor="ctr"/>
          <a:lstStyle/>
          <a:p>
            <a:pPr marL="0" indent="0">
              <a:buNone/>
            </a:pPr>
            <a:r>
              <a:rPr lang="en-US" sz="3200" b="1" dirty="0">
                <a:solidFill>
                  <a:srgbClr val="0F3D4C"/>
                </a:solidFill>
                <a:latin typeface="Georgia" pitchFamily="34" charset="0"/>
                <a:ea typeface="Georgia" pitchFamily="34" charset="-122"/>
                <a:cs typeface="Georgia" pitchFamily="34" charset="-120"/>
              </a:rPr>
              <a:t>Vaccination Era Comparison</a:t>
            </a:r>
            <a:endParaRPr lang="en-US" sz="3200" dirty="0"/>
          </a:p>
        </p:txBody>
      </p:sp>
      <p:graphicFrame>
        <p:nvGraphicFramePr>
          <p:cNvPr id="4" name="Chart 0"/>
          <p:cNvGraphicFramePr/>
          <p:nvPr/>
        </p:nvGraphicFramePr>
        <p:xfrm>
          <a:off x="548640" y="1828800"/>
          <a:ext cx="731520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092440" y="1828800"/>
            <a:ext cx="3520440" cy="4206240"/>
          </a:xfrm>
          <a:prstGeom prst="rect">
            <a:avLst/>
          </a:prstGeom>
          <a:solidFill>
            <a:srgbClr val="FFFFFF"/>
          </a:solidFill>
          <a:ln w="12700">
            <a:solidFill>
              <a:srgbClr val="E5E0D5"/>
            </a:solidFill>
            <a:prstDash val="solid"/>
          </a:ln>
          <a:effectLst>
            <a:outerShdw blurRad="101600" dist="25400" dir="5400000" algn="bl" rotWithShape="0">
              <a:srgbClr val="000000">
                <a:alpha val="6000"/>
              </a:srgbClr>
            </a:outerShdw>
          </a:effectLst>
        </p:spPr>
        <p:txBody>
          <a:bodyPr/>
          <a:lstStyle/>
          <a:p>
            <a:endParaRPr lang="en-US"/>
          </a:p>
        </p:txBody>
      </p:sp>
      <p:sp>
        <p:nvSpPr>
          <p:cNvPr id="6" name="Shape 3"/>
          <p:cNvSpPr/>
          <p:nvPr/>
        </p:nvSpPr>
        <p:spPr>
          <a:xfrm>
            <a:off x="8092440" y="1828800"/>
            <a:ext cx="3520440" cy="73152"/>
          </a:xfrm>
          <a:prstGeom prst="rect">
            <a:avLst/>
          </a:prstGeom>
          <a:solidFill>
            <a:srgbClr val="0E8388"/>
          </a:solidFill>
          <a:ln w="12700">
            <a:solidFill>
              <a:srgbClr val="0E8388"/>
            </a:solidFill>
            <a:prstDash val="solid"/>
          </a:ln>
        </p:spPr>
        <p:txBody>
          <a:bodyPr/>
          <a:lstStyle/>
          <a:p>
            <a:endParaRPr lang="en-US"/>
          </a:p>
        </p:txBody>
      </p:sp>
      <p:sp>
        <p:nvSpPr>
          <p:cNvPr id="7" name="Text 4"/>
          <p:cNvSpPr/>
          <p:nvPr/>
        </p:nvSpPr>
        <p:spPr>
          <a:xfrm>
            <a:off x="8275320" y="2011680"/>
            <a:ext cx="3200400" cy="274320"/>
          </a:xfrm>
          <a:prstGeom prst="rect">
            <a:avLst/>
          </a:prstGeom>
          <a:noFill/>
          <a:ln/>
        </p:spPr>
        <p:txBody>
          <a:bodyPr wrap="square" lIns="0" tIns="0" rIns="0" bIns="0" rtlCol="0" anchor="ctr"/>
          <a:lstStyle/>
          <a:p>
            <a:pPr marL="0" indent="0">
              <a:buNone/>
            </a:pPr>
            <a:r>
              <a:rPr lang="en-US" sz="1100" b="1" kern="0" spc="400" dirty="0">
                <a:solidFill>
                  <a:srgbClr val="0E8388"/>
                </a:solidFill>
                <a:latin typeface="Calibri" pitchFamily="34" charset="0"/>
                <a:ea typeface="Calibri" pitchFamily="34" charset="-122"/>
                <a:cs typeface="Calibri" pitchFamily="34" charset="-120"/>
              </a:rPr>
              <a:t>THE PATTERN</a:t>
            </a:r>
            <a:endParaRPr lang="en-US" sz="1100" dirty="0"/>
          </a:p>
        </p:txBody>
      </p:sp>
      <p:sp>
        <p:nvSpPr>
          <p:cNvPr id="8" name="Text 5"/>
          <p:cNvSpPr/>
          <p:nvPr/>
        </p:nvSpPr>
        <p:spPr>
          <a:xfrm>
            <a:off x="8275320" y="2331720"/>
            <a:ext cx="3200400" cy="3657600"/>
          </a:xfrm>
          <a:prstGeom prst="rect">
            <a:avLst/>
          </a:prstGeom>
          <a:noFill/>
          <a:ln/>
        </p:spPr>
        <p:txBody>
          <a:bodyPr wrap="square" rtlCol="0" anchor="t"/>
          <a:lstStyle/>
          <a:p>
            <a:pPr marL="0" indent="0">
              <a:buNone/>
            </a:pPr>
            <a:r>
              <a:rPr lang="en-US" sz="1300" b="1" dirty="0">
                <a:solidFill>
                  <a:srgbClr val="0F3D4C"/>
                </a:solidFill>
                <a:latin typeface="Calibri" pitchFamily="34" charset="0"/>
                <a:ea typeface="Calibri" pitchFamily="34" charset="-122"/>
                <a:cs typeface="Calibri" pitchFamily="34" charset="-120"/>
              </a:rPr>
              <a:t>All five countries showed lower case fatality rates after vaccine rollout began.</a:t>
            </a:r>
            <a:endParaRPr lang="en-US" sz="1300" dirty="0"/>
          </a:p>
          <a:p>
            <a:pPr marL="0" indent="0">
              <a:buNone/>
            </a:pPr>
            <a:r>
              <a:rPr lang="en-US" sz="1300" dirty="0">
                <a:solidFill>
                  <a:srgbClr val="1E1E1E"/>
                </a:solidFill>
                <a:latin typeface="Calibri" pitchFamily="34" charset="0"/>
                <a:ea typeface="Calibri" pitchFamily="34" charset="-122"/>
                <a:cs typeface="Calibri" pitchFamily="34" charset="-120"/>
              </a:rPr>
              <a:t> </a:t>
            </a:r>
            <a:endParaRPr lang="en-US" sz="1300" dirty="0"/>
          </a:p>
          <a:p>
            <a:pPr marL="342900" indent="-342900">
              <a:buSzPct val="100000"/>
              <a:buChar char="•"/>
            </a:pPr>
            <a:r>
              <a:rPr lang="en-US" sz="1200" dirty="0">
                <a:solidFill>
                  <a:srgbClr val="1E1E1E"/>
                </a:solidFill>
                <a:latin typeface="Calibri" pitchFamily="34" charset="0"/>
                <a:ea typeface="Calibri" pitchFamily="34" charset="-122"/>
                <a:cs typeface="Calibri" pitchFamily="34" charset="-120"/>
              </a:rPr>
              <a:t>China saw the steepest drop (~77%)</a:t>
            </a:r>
            <a:endParaRPr lang="en-US" sz="1300" dirty="0"/>
          </a:p>
          <a:p>
            <a:pPr marL="0" indent="0">
              <a:buNone/>
            </a:pPr>
            <a:r>
              <a:rPr lang="en-US" sz="1300" dirty="0">
                <a:solidFill>
                  <a:srgbClr val="1E1E1E"/>
                </a:solidFill>
                <a:latin typeface="Calibri" pitchFamily="34" charset="0"/>
                <a:ea typeface="Calibri" pitchFamily="34" charset="-122"/>
                <a:cs typeface="Calibri" pitchFamily="34" charset="-120"/>
              </a:rPr>
              <a:t> </a:t>
            </a:r>
            <a:endParaRPr lang="en-US" sz="1300" dirty="0"/>
          </a:p>
          <a:p>
            <a:pPr marL="342900" indent="-342900">
              <a:buSzPct val="100000"/>
              <a:buChar char="•"/>
            </a:pPr>
            <a:r>
              <a:rPr lang="en-US" sz="1200" dirty="0">
                <a:solidFill>
                  <a:srgbClr val="1E1E1E"/>
                </a:solidFill>
                <a:latin typeface="Calibri" pitchFamily="34" charset="0"/>
                <a:ea typeface="Calibri" pitchFamily="34" charset="-122"/>
                <a:cs typeface="Calibri" pitchFamily="34" charset="-120"/>
              </a:rPr>
              <a:t>Mexico remained highest in both areas suggesting healthcare capacity matters too</a:t>
            </a:r>
            <a:endParaRPr lang="en-US" sz="1300" dirty="0"/>
          </a:p>
          <a:p>
            <a:pPr marL="0" indent="0">
              <a:buNone/>
            </a:pPr>
            <a:r>
              <a:rPr lang="en-US" sz="1100" i="1" dirty="0">
                <a:solidFill>
                  <a:srgbClr val="E07A5F"/>
                </a:solidFill>
                <a:latin typeface="Calibri" pitchFamily="34" charset="0"/>
                <a:ea typeface="Calibri" pitchFamily="34" charset="-122"/>
                <a:cs typeface="Calibri" pitchFamily="34" charset="-120"/>
              </a:rPr>
              <a:t>It is known a lot shifted in 2021, in rules and regulations</a:t>
            </a:r>
          </a:p>
          <a:p>
            <a:pPr marL="0" indent="0">
              <a:buNone/>
            </a:pPr>
            <a:endParaRPr lang="en-US" sz="1100" i="1" dirty="0">
              <a:solidFill>
                <a:srgbClr val="E07A5F"/>
              </a:solidFill>
              <a:latin typeface="Calibri" pitchFamily="34" charset="0"/>
              <a:ea typeface="Calibri" pitchFamily="34" charset="-122"/>
              <a:cs typeface="Calibri" pitchFamily="34" charset="-120"/>
            </a:endParaRPr>
          </a:p>
          <a:p>
            <a:pPr marL="0" indent="0">
              <a:buNone/>
            </a:pPr>
            <a:endParaRPr lang="en-US" sz="1100" i="1" dirty="0">
              <a:solidFill>
                <a:srgbClr val="E07A5F"/>
              </a:solidFill>
              <a:latin typeface="Calibri" pitchFamily="34" charset="0"/>
              <a:ea typeface="Calibri" pitchFamily="34" charset="-122"/>
              <a:cs typeface="Calibri" pitchFamily="34" charset="-120"/>
            </a:endParaRPr>
          </a:p>
          <a:p>
            <a:pPr marL="0" indent="0">
              <a:buNone/>
            </a:pPr>
            <a:r>
              <a:rPr lang="en-US" sz="1100" i="1" dirty="0">
                <a:latin typeface="Calibri" pitchFamily="34" charset="0"/>
                <a:ea typeface="Calibri" pitchFamily="34" charset="-122"/>
                <a:cs typeface="Calibri" pitchFamily="34" charset="-120"/>
              </a:rPr>
              <a:t>Graph made from SQL Case statement.</a:t>
            </a:r>
          </a:p>
          <a:p>
            <a:pPr marL="0" indent="0">
              <a:buNone/>
            </a:pPr>
            <a:endParaRPr lang="en-US" sz="1100" i="1" dirty="0">
              <a:latin typeface="Calibri" pitchFamily="34" charset="0"/>
              <a:ea typeface="Calibri" pitchFamily="34" charset="-122"/>
              <a:cs typeface="Calibri" pitchFamily="34" charset="-120"/>
            </a:endParaRPr>
          </a:p>
          <a:p>
            <a:pPr marL="0" indent="0">
              <a:buNone/>
            </a:pPr>
            <a:endParaRPr lang="en-US" sz="1100" i="1" dirty="0">
              <a:latin typeface="Calibri" pitchFamily="34" charset="0"/>
              <a:ea typeface="Calibri" pitchFamily="34" charset="-122"/>
              <a:cs typeface="Calibri" pitchFamily="34" charset="-120"/>
            </a:endParaRPr>
          </a:p>
          <a:p>
            <a:pPr marL="0" indent="0">
              <a:buNone/>
            </a:pPr>
            <a:r>
              <a:rPr lang="en-US" sz="1100" i="1" dirty="0">
                <a:latin typeface="Calibri" pitchFamily="34" charset="0"/>
                <a:ea typeface="Calibri" pitchFamily="34" charset="-122"/>
                <a:cs typeface="Calibri" pitchFamily="34" charset="-120"/>
              </a:rPr>
              <a:t>2020=before vaccination</a:t>
            </a:r>
          </a:p>
          <a:p>
            <a:pPr marL="0" indent="0">
              <a:buNone/>
            </a:pPr>
            <a:r>
              <a:rPr lang="en-US" sz="1100" i="1" dirty="0">
                <a:latin typeface="Calibri" pitchFamily="34" charset="0"/>
                <a:ea typeface="Calibri" pitchFamily="34" charset="-122"/>
                <a:cs typeface="Calibri" pitchFamily="34" charset="-120"/>
              </a:rPr>
              <a:t>2021=After vaccination rollout</a:t>
            </a:r>
          </a:p>
          <a:p>
            <a:pPr marL="0" indent="0">
              <a:buNone/>
            </a:pPr>
            <a:endParaRPr lang="en-US" sz="1100" i="1" dirty="0">
              <a:latin typeface="Calibri" pitchFamily="34" charset="0"/>
              <a:ea typeface="Calibri" pitchFamily="34" charset="-122"/>
              <a:cs typeface="Calibri" pitchFamily="34" charset="-120"/>
            </a:endParaRPr>
          </a:p>
          <a:p>
            <a:pPr marL="0" indent="0">
              <a:buNone/>
            </a:pPr>
            <a:r>
              <a:rPr lang="en-US" sz="1100" i="1" dirty="0">
                <a:latin typeface="Calibri" pitchFamily="34" charset="0"/>
                <a:ea typeface="Calibri" pitchFamily="34" charset="-122"/>
                <a:cs typeface="Calibri" pitchFamily="34" charset="-120"/>
              </a:rPr>
              <a:t>After the vaccination rollout in 2021, Watson made a full mathematical model to show the vaccination estimated 19.8 million deaths averted from COVID-19!! A win is a win</a:t>
            </a:r>
            <a:endParaRPr lang="en-US" sz="1300" dirty="0"/>
          </a:p>
        </p:txBody>
      </p:sp>
      <p:sp>
        <p:nvSpPr>
          <p:cNvPr id="9" name="Text 6"/>
          <p:cNvSpPr/>
          <p:nvPr/>
        </p:nvSpPr>
        <p:spPr>
          <a:xfrm>
            <a:off x="457200" y="6446520"/>
            <a:ext cx="8229600" cy="274320"/>
          </a:xfrm>
          <a:prstGeom prst="rect">
            <a:avLst/>
          </a:prstGeom>
          <a:noFill/>
          <a:ln/>
        </p:spPr>
        <p:txBody>
          <a:bodyPr wrap="square" lIns="0" tIns="0" rIns="0" bIns="0" rtlCol="0" anchor="ctr"/>
          <a:lstStyle/>
          <a:p>
            <a:pPr marL="0" indent="0" algn="l">
              <a:buNone/>
            </a:pPr>
            <a:r>
              <a:rPr lang="en-US" sz="900" dirty="0">
                <a:solidFill>
                  <a:srgbClr val="5A6B72"/>
                </a:solidFill>
                <a:latin typeface="Calibri" pitchFamily="34" charset="0"/>
                <a:ea typeface="Calibri" pitchFamily="34" charset="-122"/>
                <a:cs typeface="Calibri" pitchFamily="34" charset="-120"/>
              </a:rPr>
              <a:t>Julia Monson  |  BAIS 4720  |  COVID-19 Vaccination &amp; Mortality</a:t>
            </a:r>
            <a:endParaRPr lang="en-US" sz="900" dirty="0"/>
          </a:p>
        </p:txBody>
      </p:sp>
      <p:sp>
        <p:nvSpPr>
          <p:cNvPr id="10" name="Text 7"/>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5A6B72"/>
                </a:solidFill>
                <a:latin typeface="Calibri" pitchFamily="34" charset="0"/>
                <a:ea typeface="Calibri" pitchFamily="34" charset="-122"/>
                <a:cs typeface="Calibri" pitchFamily="34" charset="-120"/>
              </a:rPr>
              <a:t>10 / 17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marL="0" indent="0">
              <a:buNone/>
            </a:pPr>
            <a:r>
              <a:rPr lang="en-US" sz="1100" b="1" kern="0" spc="400" dirty="0">
                <a:solidFill>
                  <a:srgbClr val="0E8388"/>
                </a:solidFill>
                <a:latin typeface="Calibri" pitchFamily="34" charset="0"/>
                <a:ea typeface="Calibri" pitchFamily="34" charset="-122"/>
                <a:cs typeface="Calibri" pitchFamily="34" charset="-120"/>
              </a:rPr>
              <a:t>RESEARCH QUESTION 1</a:t>
            </a:r>
            <a:endParaRPr lang="en-US" sz="1100" dirty="0"/>
          </a:p>
        </p:txBody>
      </p:sp>
      <p:sp>
        <p:nvSpPr>
          <p:cNvPr id="3" name="Text 1"/>
          <p:cNvSpPr/>
          <p:nvPr/>
        </p:nvSpPr>
        <p:spPr>
          <a:xfrm>
            <a:off x="548640" y="685800"/>
            <a:ext cx="10972800" cy="640080"/>
          </a:xfrm>
          <a:prstGeom prst="rect">
            <a:avLst/>
          </a:prstGeom>
          <a:noFill/>
          <a:ln/>
        </p:spPr>
        <p:txBody>
          <a:bodyPr wrap="square" lIns="0" tIns="0" rIns="0" bIns="0" rtlCol="0" anchor="ctr"/>
          <a:lstStyle/>
          <a:p>
            <a:pPr marL="0" indent="0">
              <a:buNone/>
            </a:pPr>
            <a:r>
              <a:rPr lang="en-US" sz="3200" b="1" dirty="0">
                <a:solidFill>
                  <a:srgbClr val="0F3D4C"/>
                </a:solidFill>
                <a:latin typeface="Georgia" pitchFamily="34" charset="0"/>
                <a:ea typeface="Georgia" pitchFamily="34" charset="-122"/>
                <a:cs typeface="Georgia" pitchFamily="34" charset="-120"/>
              </a:rPr>
              <a:t>Vaccination Rollout Timing Varied Sharply</a:t>
            </a:r>
            <a:endParaRPr lang="en-US" sz="3200" dirty="0"/>
          </a:p>
        </p:txBody>
      </p:sp>
      <p:graphicFrame>
        <p:nvGraphicFramePr>
          <p:cNvPr id="4" name="Chart 0"/>
          <p:cNvGraphicFramePr/>
          <p:nvPr/>
        </p:nvGraphicFramePr>
        <p:xfrm>
          <a:off x="548640" y="1828800"/>
          <a:ext cx="768096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458200" y="1828800"/>
            <a:ext cx="3154680" cy="4206240"/>
          </a:xfrm>
          <a:prstGeom prst="rect">
            <a:avLst/>
          </a:prstGeom>
          <a:solidFill>
            <a:srgbClr val="0F3D4C"/>
          </a:solidFill>
          <a:ln w="12700">
            <a:solidFill>
              <a:srgbClr val="0F3D4C"/>
            </a:solidFill>
            <a:prstDash val="solid"/>
          </a:ln>
        </p:spPr>
        <p:txBody>
          <a:bodyPr/>
          <a:lstStyle/>
          <a:p>
            <a:endParaRPr lang="en-US"/>
          </a:p>
        </p:txBody>
      </p:sp>
      <p:sp>
        <p:nvSpPr>
          <p:cNvPr id="6" name="Text 3"/>
          <p:cNvSpPr/>
          <p:nvPr/>
        </p:nvSpPr>
        <p:spPr>
          <a:xfrm>
            <a:off x="8641080" y="2011680"/>
            <a:ext cx="2834640" cy="274320"/>
          </a:xfrm>
          <a:prstGeom prst="rect">
            <a:avLst/>
          </a:prstGeom>
          <a:noFill/>
          <a:ln/>
        </p:spPr>
        <p:txBody>
          <a:bodyPr wrap="square" lIns="0" tIns="0" rIns="0" bIns="0" rtlCol="0" anchor="ctr"/>
          <a:lstStyle/>
          <a:p>
            <a:pPr marL="0" indent="0">
              <a:buNone/>
            </a:pPr>
            <a:r>
              <a:rPr lang="en-US" sz="1100" b="1" kern="0" spc="400" dirty="0">
                <a:solidFill>
                  <a:srgbClr val="2E8B7B"/>
                </a:solidFill>
                <a:latin typeface="Calibri" pitchFamily="34" charset="0"/>
                <a:ea typeface="Calibri" pitchFamily="34" charset="-122"/>
                <a:cs typeface="Calibri" pitchFamily="34" charset="-120"/>
              </a:rPr>
              <a:t>ROLLOUT GAPS</a:t>
            </a:r>
            <a:endParaRPr lang="en-US" sz="1100" dirty="0"/>
          </a:p>
        </p:txBody>
      </p:sp>
      <p:sp>
        <p:nvSpPr>
          <p:cNvPr id="7" name="Text 4"/>
          <p:cNvSpPr/>
          <p:nvPr/>
        </p:nvSpPr>
        <p:spPr>
          <a:xfrm>
            <a:off x="8641080" y="2331720"/>
            <a:ext cx="2834640" cy="3657600"/>
          </a:xfrm>
          <a:prstGeom prst="rect">
            <a:avLst/>
          </a:prstGeom>
          <a:noFill/>
          <a:ln/>
        </p:spPr>
        <p:txBody>
          <a:bodyPr wrap="square"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UK &amp; US started fastest</a:t>
            </a:r>
            <a:endParaRPr lang="en-US" sz="1300" dirty="0"/>
          </a:p>
          <a:p>
            <a:pPr marL="0" indent="0">
              <a:buNone/>
            </a:pPr>
            <a:r>
              <a:rPr lang="en-US" sz="1100" dirty="0">
                <a:solidFill>
                  <a:srgbClr val="F4F1EA"/>
                </a:solidFill>
                <a:latin typeface="Calibri" pitchFamily="34" charset="0"/>
                <a:ea typeface="Calibri" pitchFamily="34" charset="-122"/>
                <a:cs typeface="Calibri" pitchFamily="34" charset="-120"/>
              </a:rPr>
              <a:t>Vaccination began Dec 2020</a:t>
            </a:r>
            <a:endParaRPr lang="en-US" sz="1300" dirty="0"/>
          </a:p>
          <a:p>
            <a:pPr marL="0" indent="0">
              <a:buNone/>
            </a:pPr>
            <a:r>
              <a:rPr lang="en-US" sz="13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FFFFFF"/>
                </a:solidFill>
                <a:latin typeface="Calibri" pitchFamily="34" charset="0"/>
                <a:ea typeface="Calibri" pitchFamily="34" charset="-122"/>
                <a:cs typeface="Calibri" pitchFamily="34" charset="-120"/>
              </a:rPr>
              <a:t>China caught up fastest</a:t>
            </a:r>
            <a:endParaRPr lang="en-US" sz="1300" dirty="0"/>
          </a:p>
          <a:p>
            <a:pPr marL="0" indent="0">
              <a:buNone/>
            </a:pPr>
            <a:r>
              <a:rPr lang="en-US" sz="1100" dirty="0">
                <a:solidFill>
                  <a:srgbClr val="F4F1EA"/>
                </a:solidFill>
                <a:latin typeface="Calibri" pitchFamily="34" charset="0"/>
                <a:ea typeface="Calibri" pitchFamily="34" charset="-122"/>
                <a:cs typeface="Calibri" pitchFamily="34" charset="-120"/>
              </a:rPr>
              <a:t>e #1 globally</a:t>
            </a:r>
            <a:endParaRPr lang="en-US" sz="1300" dirty="0"/>
          </a:p>
          <a:p>
            <a:pPr marL="0" indent="0">
              <a:buNone/>
            </a:pPr>
            <a:r>
              <a:rPr lang="en-US" sz="13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FFFFFF"/>
                </a:solidFill>
                <a:latin typeface="Calibri" pitchFamily="34" charset="0"/>
                <a:ea typeface="Calibri" pitchFamily="34" charset="-122"/>
                <a:cs typeface="Calibri" pitchFamily="34" charset="-120"/>
              </a:rPr>
              <a:t>Mexico lagged significantly</a:t>
            </a:r>
            <a:endParaRPr lang="en-US" sz="1300" dirty="0"/>
          </a:p>
          <a:p>
            <a:pPr marL="0" indent="0">
              <a:buNone/>
            </a:pPr>
            <a:r>
              <a:rPr lang="en-US" sz="1100" dirty="0">
                <a:solidFill>
                  <a:srgbClr val="F4F1EA"/>
                </a:solidFill>
                <a:latin typeface="Calibri" pitchFamily="34" charset="0"/>
                <a:ea typeface="Calibri" pitchFamily="34" charset="-122"/>
                <a:cs typeface="Calibri" pitchFamily="34" charset="-120"/>
              </a:rPr>
              <a:t>Slow rollout time</a:t>
            </a:r>
          </a:p>
          <a:p>
            <a:pPr marL="0" indent="0">
              <a:buNone/>
            </a:pPr>
            <a:endParaRPr lang="en-US" sz="1100" dirty="0">
              <a:solidFill>
                <a:srgbClr val="F4F1EA"/>
              </a:solidFill>
              <a:latin typeface="Calibri" pitchFamily="34" charset="0"/>
              <a:ea typeface="Calibri" pitchFamily="34" charset="-122"/>
              <a:cs typeface="Calibri" pitchFamily="34" charset="-120"/>
            </a:endParaRPr>
          </a:p>
          <a:p>
            <a:pPr marL="0" indent="0">
              <a:buNone/>
            </a:pPr>
            <a:endParaRPr lang="en-US" sz="1100" dirty="0">
              <a:solidFill>
                <a:schemeClr val="bg1"/>
              </a:solidFill>
              <a:latin typeface="Calibri" pitchFamily="34" charset="0"/>
              <a:ea typeface="Calibri" pitchFamily="34" charset="-122"/>
              <a:cs typeface="Calibri" pitchFamily="34" charset="-120"/>
            </a:endParaRPr>
          </a:p>
          <a:p>
            <a:r>
              <a:rPr lang="en-US" sz="1000" dirty="0">
                <a:solidFill>
                  <a:schemeClr val="bg1"/>
                </a:solidFill>
                <a:latin typeface="+mj-lt"/>
                <a:ea typeface="Calibri" pitchFamily="34" charset="-122"/>
                <a:cs typeface="Calibri" pitchFamily="34" charset="-120"/>
              </a:rPr>
              <a:t>-</a:t>
            </a:r>
            <a:r>
              <a:rPr lang="en-US" sz="1000" dirty="0">
                <a:solidFill>
                  <a:schemeClr val="bg1"/>
                </a:solidFill>
                <a:latin typeface="+mj-lt"/>
              </a:rPr>
              <a:t>tracks the rolling cumulative vaccination count by country and date.</a:t>
            </a:r>
          </a:p>
          <a:p>
            <a:pPr marL="0" indent="0">
              <a:buNone/>
            </a:pPr>
            <a:endParaRPr lang="en-US" sz="1300" dirty="0"/>
          </a:p>
        </p:txBody>
      </p:sp>
      <p:sp>
        <p:nvSpPr>
          <p:cNvPr id="8" name="Text 5"/>
          <p:cNvSpPr/>
          <p:nvPr/>
        </p:nvSpPr>
        <p:spPr>
          <a:xfrm>
            <a:off x="457200" y="6446520"/>
            <a:ext cx="8229600" cy="274320"/>
          </a:xfrm>
          <a:prstGeom prst="rect">
            <a:avLst/>
          </a:prstGeom>
          <a:noFill/>
          <a:ln/>
        </p:spPr>
        <p:txBody>
          <a:bodyPr wrap="square" lIns="0" tIns="0" rIns="0" bIns="0" rtlCol="0" anchor="ctr"/>
          <a:lstStyle/>
          <a:p>
            <a:pPr marL="0" indent="0" algn="l">
              <a:buNone/>
            </a:pPr>
            <a:r>
              <a:rPr lang="en-US" sz="900" dirty="0">
                <a:solidFill>
                  <a:srgbClr val="5A6B72"/>
                </a:solidFill>
                <a:latin typeface="Calibri" pitchFamily="34" charset="0"/>
                <a:ea typeface="Calibri" pitchFamily="34" charset="-122"/>
                <a:cs typeface="Calibri" pitchFamily="34" charset="-120"/>
              </a:rPr>
              <a:t>Julia Monson  |  BAIS 4720  |  COVID-19 Vaccination &amp; Mortality</a:t>
            </a:r>
            <a:endParaRPr lang="en-US" sz="900" dirty="0"/>
          </a:p>
        </p:txBody>
      </p:sp>
      <p:sp>
        <p:nvSpPr>
          <p:cNvPr id="9" name="Text 6"/>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5A6B72"/>
                </a:solidFill>
                <a:latin typeface="Calibri" pitchFamily="34" charset="0"/>
                <a:ea typeface="Calibri" pitchFamily="34" charset="-122"/>
                <a:cs typeface="Calibri" pitchFamily="34" charset="-120"/>
              </a:rPr>
              <a:t>11 / 17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marL="0" indent="0">
              <a:buNone/>
            </a:pPr>
            <a:r>
              <a:rPr lang="en-US" sz="1100" b="1" kern="0" spc="400" dirty="0">
                <a:solidFill>
                  <a:srgbClr val="0E8388"/>
                </a:solidFill>
                <a:latin typeface="Calibri" pitchFamily="34" charset="0"/>
                <a:ea typeface="Calibri" pitchFamily="34" charset="-122"/>
                <a:cs typeface="Calibri" pitchFamily="34" charset="-120"/>
              </a:rPr>
              <a:t>TABLEAU DASHBOARD</a:t>
            </a:r>
            <a:endParaRPr lang="en-US" sz="1100" dirty="0"/>
          </a:p>
        </p:txBody>
      </p:sp>
      <p:sp>
        <p:nvSpPr>
          <p:cNvPr id="3" name="Text 1"/>
          <p:cNvSpPr/>
          <p:nvPr/>
        </p:nvSpPr>
        <p:spPr>
          <a:xfrm>
            <a:off x="548640" y="685800"/>
            <a:ext cx="10972800" cy="640080"/>
          </a:xfrm>
          <a:prstGeom prst="rect">
            <a:avLst/>
          </a:prstGeom>
          <a:noFill/>
          <a:ln/>
        </p:spPr>
        <p:txBody>
          <a:bodyPr wrap="square" lIns="0" tIns="0" rIns="0" bIns="0" rtlCol="0" anchor="ctr"/>
          <a:lstStyle/>
          <a:p>
            <a:pPr marL="0" indent="0">
              <a:buNone/>
            </a:pPr>
            <a:r>
              <a:rPr lang="en-US" sz="3200" b="1" dirty="0">
                <a:solidFill>
                  <a:srgbClr val="0F3D4C"/>
                </a:solidFill>
                <a:latin typeface="Georgia" pitchFamily="34" charset="0"/>
              </a:rPr>
              <a:t>Tableau </a:t>
            </a:r>
            <a:endParaRPr lang="en-US" sz="3200" dirty="0"/>
          </a:p>
        </p:txBody>
      </p:sp>
      <p:pic>
        <p:nvPicPr>
          <p:cNvPr id="4" name="Image 0" descr="/home/claude/dashboard_cropped.jpg"/>
          <p:cNvPicPr>
            <a:picLocks noChangeAspect="1"/>
          </p:cNvPicPr>
          <p:nvPr/>
        </p:nvPicPr>
        <p:blipFill>
          <a:blip r:embed="rId3"/>
          <a:srcRect/>
          <a:stretch/>
        </p:blipFill>
        <p:spPr>
          <a:xfrm>
            <a:off x="365760" y="1554480"/>
            <a:ext cx="11430000" cy="4572000"/>
          </a:xfrm>
          <a:prstGeom prst="rect">
            <a:avLst/>
          </a:prstGeom>
        </p:spPr>
      </p:pic>
      <p:sp>
        <p:nvSpPr>
          <p:cNvPr id="5" name="Text 2"/>
          <p:cNvSpPr/>
          <p:nvPr/>
        </p:nvSpPr>
        <p:spPr>
          <a:xfrm>
            <a:off x="548640" y="6172200"/>
            <a:ext cx="11064240" cy="274320"/>
          </a:xfrm>
          <a:prstGeom prst="rect">
            <a:avLst/>
          </a:prstGeom>
          <a:noFill/>
          <a:ln/>
        </p:spPr>
        <p:txBody>
          <a:bodyPr wrap="square" lIns="0" tIns="0" rIns="0" bIns="0" rtlCol="0" anchor="ctr"/>
          <a:lstStyle/>
          <a:p>
            <a:pPr marL="0" indent="0" algn="ctr">
              <a:buNone/>
            </a:pPr>
            <a:r>
              <a:rPr lang="en-US" sz="1100" i="1" dirty="0">
                <a:solidFill>
                  <a:srgbClr val="5A6B72"/>
                </a:solidFill>
                <a:latin typeface="Calibri" pitchFamily="34" charset="0"/>
                <a:ea typeface="Calibri" pitchFamily="34" charset="-122"/>
                <a:cs typeface="Calibri" pitchFamily="34" charset="-120"/>
              </a:rPr>
              <a:t>Dashboard combines 6 visualizations: Global KPIs • Infection Rate Map • Deaths by Continent • Vaccination Era Comparison • 7-Day Rolling Death Average • Vaccination Rollout Timeline</a:t>
            </a:r>
            <a:endParaRPr lang="en-US" sz="1100" dirty="0"/>
          </a:p>
        </p:txBody>
      </p:sp>
      <p:sp>
        <p:nvSpPr>
          <p:cNvPr id="6" name="Text 3"/>
          <p:cNvSpPr/>
          <p:nvPr/>
        </p:nvSpPr>
        <p:spPr>
          <a:xfrm>
            <a:off x="457200" y="6446520"/>
            <a:ext cx="8229600" cy="274320"/>
          </a:xfrm>
          <a:prstGeom prst="rect">
            <a:avLst/>
          </a:prstGeom>
          <a:noFill/>
          <a:ln/>
        </p:spPr>
        <p:txBody>
          <a:bodyPr wrap="square" lIns="0" tIns="0" rIns="0" bIns="0" rtlCol="0" anchor="ctr"/>
          <a:lstStyle/>
          <a:p>
            <a:pPr marL="0" indent="0" algn="l">
              <a:buNone/>
            </a:pPr>
            <a:r>
              <a:rPr lang="en-US" sz="900" dirty="0">
                <a:solidFill>
                  <a:srgbClr val="5A6B72"/>
                </a:solidFill>
                <a:latin typeface="Calibri" pitchFamily="34" charset="0"/>
                <a:ea typeface="Calibri" pitchFamily="34" charset="-122"/>
                <a:cs typeface="Calibri" pitchFamily="34" charset="-120"/>
              </a:rPr>
              <a:t>Julia Monson  |  BAIS 4720  |  COVID-19 Vaccination &amp; Mortality</a:t>
            </a:r>
            <a:endParaRPr lang="en-US" sz="900" dirty="0"/>
          </a:p>
        </p:txBody>
      </p:sp>
      <p:sp>
        <p:nvSpPr>
          <p:cNvPr id="7" name="Text 4"/>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5A6B72"/>
                </a:solidFill>
                <a:latin typeface="Calibri" pitchFamily="34" charset="0"/>
                <a:ea typeface="Calibri" pitchFamily="34" charset="-122"/>
                <a:cs typeface="Calibri" pitchFamily="34" charset="-120"/>
              </a:rPr>
              <a:t>12 / 17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marL="0" indent="0">
              <a:buNone/>
            </a:pPr>
            <a:r>
              <a:rPr lang="en-US" sz="1100" b="1" kern="0" spc="400" dirty="0">
                <a:solidFill>
                  <a:srgbClr val="0E8388"/>
                </a:solidFill>
                <a:latin typeface="Calibri" pitchFamily="34" charset="0"/>
                <a:ea typeface="Calibri" pitchFamily="34" charset="-122"/>
                <a:cs typeface="Calibri" pitchFamily="34" charset="-120"/>
              </a:rPr>
              <a:t>PRIMARY DATA</a:t>
            </a:r>
            <a:endParaRPr lang="en-US" sz="1100" dirty="0"/>
          </a:p>
        </p:txBody>
      </p:sp>
      <p:sp>
        <p:nvSpPr>
          <p:cNvPr id="3" name="Text 1"/>
          <p:cNvSpPr/>
          <p:nvPr/>
        </p:nvSpPr>
        <p:spPr>
          <a:xfrm>
            <a:off x="548640" y="685800"/>
            <a:ext cx="10972800" cy="640080"/>
          </a:xfrm>
          <a:prstGeom prst="rect">
            <a:avLst/>
          </a:prstGeom>
          <a:noFill/>
          <a:ln/>
        </p:spPr>
        <p:txBody>
          <a:bodyPr wrap="square" lIns="0" tIns="0" rIns="0" bIns="0" rtlCol="0" anchor="ctr"/>
          <a:lstStyle/>
          <a:p>
            <a:pPr marL="0" indent="0">
              <a:buNone/>
            </a:pPr>
            <a:r>
              <a:rPr lang="en-US" sz="3200" b="1" dirty="0">
                <a:solidFill>
                  <a:srgbClr val="0F3D4C"/>
                </a:solidFill>
                <a:latin typeface="Georgia" pitchFamily="34" charset="0"/>
                <a:ea typeface="Georgia" pitchFamily="34" charset="-122"/>
                <a:cs typeface="Georgia" pitchFamily="34" charset="-120"/>
              </a:rPr>
              <a:t>Qualtrics Survey: 40 Clean Responses</a:t>
            </a:r>
            <a:endParaRPr lang="en-US" sz="3200" dirty="0"/>
          </a:p>
        </p:txBody>
      </p:sp>
      <p:sp>
        <p:nvSpPr>
          <p:cNvPr id="4" name="Shape 2"/>
          <p:cNvSpPr/>
          <p:nvPr/>
        </p:nvSpPr>
        <p:spPr>
          <a:xfrm>
            <a:off x="548640" y="1828800"/>
            <a:ext cx="2697480" cy="1920240"/>
          </a:xfrm>
          <a:prstGeom prst="rect">
            <a:avLst/>
          </a:prstGeom>
          <a:solidFill>
            <a:srgbClr val="FFFFFF"/>
          </a:solidFill>
          <a:ln w="12700">
            <a:solidFill>
              <a:srgbClr val="E5E0D5"/>
            </a:solidFill>
            <a:prstDash val="solid"/>
          </a:ln>
          <a:effectLst>
            <a:outerShdw blurRad="101600" dist="25400" dir="5400000" algn="bl" rotWithShape="0">
              <a:srgbClr val="000000">
                <a:alpha val="6000"/>
              </a:srgbClr>
            </a:outerShdw>
          </a:effectLst>
        </p:spPr>
        <p:txBody>
          <a:bodyPr/>
          <a:lstStyle/>
          <a:p>
            <a:endParaRPr lang="en-US"/>
          </a:p>
        </p:txBody>
      </p:sp>
      <p:sp>
        <p:nvSpPr>
          <p:cNvPr id="5" name="Shape 3"/>
          <p:cNvSpPr/>
          <p:nvPr/>
        </p:nvSpPr>
        <p:spPr>
          <a:xfrm>
            <a:off x="548640" y="1828800"/>
            <a:ext cx="2697480" cy="54864"/>
          </a:xfrm>
          <a:prstGeom prst="rect">
            <a:avLst/>
          </a:prstGeom>
          <a:solidFill>
            <a:srgbClr val="0E8388"/>
          </a:solidFill>
          <a:ln w="12700">
            <a:solidFill>
              <a:srgbClr val="0E8388"/>
            </a:solidFill>
            <a:prstDash val="solid"/>
          </a:ln>
        </p:spPr>
        <p:txBody>
          <a:bodyPr/>
          <a:lstStyle/>
          <a:p>
            <a:endParaRPr lang="en-US"/>
          </a:p>
        </p:txBody>
      </p:sp>
      <p:sp>
        <p:nvSpPr>
          <p:cNvPr id="6" name="Text 4"/>
          <p:cNvSpPr/>
          <p:nvPr/>
        </p:nvSpPr>
        <p:spPr>
          <a:xfrm>
            <a:off x="548640" y="1965960"/>
            <a:ext cx="2697480" cy="868680"/>
          </a:xfrm>
          <a:prstGeom prst="rect">
            <a:avLst/>
          </a:prstGeom>
          <a:noFill/>
          <a:ln/>
        </p:spPr>
        <p:txBody>
          <a:bodyPr wrap="square" lIns="0" tIns="0" rIns="0" bIns="0" rtlCol="0" anchor="ctr"/>
          <a:lstStyle/>
          <a:p>
            <a:pPr marL="0" indent="0" algn="ctr">
              <a:buNone/>
            </a:pPr>
            <a:r>
              <a:rPr lang="en-US" sz="4400" b="1" dirty="0">
                <a:solidFill>
                  <a:srgbClr val="0F3D4C"/>
                </a:solidFill>
                <a:latin typeface="Georgia" pitchFamily="34" charset="0"/>
                <a:ea typeface="Georgia" pitchFamily="34" charset="-122"/>
                <a:cs typeface="Georgia" pitchFamily="34" charset="-120"/>
              </a:rPr>
              <a:t>40</a:t>
            </a:r>
            <a:endParaRPr lang="en-US" sz="4400" dirty="0"/>
          </a:p>
        </p:txBody>
      </p:sp>
      <p:sp>
        <p:nvSpPr>
          <p:cNvPr id="7" name="Text 5"/>
          <p:cNvSpPr/>
          <p:nvPr/>
        </p:nvSpPr>
        <p:spPr>
          <a:xfrm>
            <a:off x="640080" y="2880360"/>
            <a:ext cx="2514600" cy="274320"/>
          </a:xfrm>
          <a:prstGeom prst="rect">
            <a:avLst/>
          </a:prstGeom>
          <a:noFill/>
          <a:ln/>
        </p:spPr>
        <p:txBody>
          <a:bodyPr wrap="square" lIns="0" tIns="0" rIns="0" bIns="0" rtlCol="0" anchor="ctr"/>
          <a:lstStyle/>
          <a:p>
            <a:pPr marL="0" indent="0" algn="ctr">
              <a:buNone/>
            </a:pPr>
            <a:r>
              <a:rPr lang="en-US" sz="1100" b="1" kern="0" spc="300" dirty="0">
                <a:solidFill>
                  <a:srgbClr val="0E8388"/>
                </a:solidFill>
                <a:latin typeface="Calibri" pitchFamily="34" charset="0"/>
                <a:ea typeface="Calibri" pitchFamily="34" charset="-122"/>
                <a:cs typeface="Calibri" pitchFamily="34" charset="-120"/>
              </a:rPr>
              <a:t>CLEAN RESPONSES</a:t>
            </a:r>
            <a:endParaRPr lang="en-US" sz="1100" dirty="0"/>
          </a:p>
        </p:txBody>
      </p:sp>
      <p:sp>
        <p:nvSpPr>
          <p:cNvPr id="8" name="Text 6"/>
          <p:cNvSpPr/>
          <p:nvPr/>
        </p:nvSpPr>
        <p:spPr>
          <a:xfrm>
            <a:off x="640080" y="3154680"/>
            <a:ext cx="2514600" cy="502920"/>
          </a:xfrm>
          <a:prstGeom prst="rect">
            <a:avLst/>
          </a:prstGeom>
          <a:noFill/>
          <a:ln/>
        </p:spPr>
        <p:txBody>
          <a:bodyPr wrap="square" lIns="0" tIns="0" rIns="0" bIns="0" rtlCol="0" anchor="ctr"/>
          <a:lstStyle/>
          <a:p>
            <a:pPr marL="0" indent="0" algn="ctr">
              <a:buNone/>
            </a:pPr>
            <a:r>
              <a:rPr lang="en-US" sz="1100" i="1" dirty="0">
                <a:solidFill>
                  <a:srgbClr val="5A6B72"/>
                </a:solidFill>
                <a:latin typeface="Calibri" pitchFamily="34" charset="0"/>
                <a:ea typeface="Calibri" pitchFamily="34" charset="-122"/>
                <a:cs typeface="Calibri" pitchFamily="34" charset="-120"/>
              </a:rPr>
              <a:t>After cleaning</a:t>
            </a:r>
            <a:endParaRPr lang="en-US" sz="1100" dirty="0"/>
          </a:p>
        </p:txBody>
      </p:sp>
      <p:sp>
        <p:nvSpPr>
          <p:cNvPr id="9" name="Shape 7"/>
          <p:cNvSpPr/>
          <p:nvPr/>
        </p:nvSpPr>
        <p:spPr>
          <a:xfrm>
            <a:off x="3383280" y="1828800"/>
            <a:ext cx="2697480" cy="1920240"/>
          </a:xfrm>
          <a:prstGeom prst="rect">
            <a:avLst/>
          </a:prstGeom>
          <a:solidFill>
            <a:srgbClr val="FFFFFF"/>
          </a:solidFill>
          <a:ln w="12700">
            <a:solidFill>
              <a:srgbClr val="E5E0D5"/>
            </a:solidFill>
            <a:prstDash val="solid"/>
          </a:ln>
          <a:effectLst>
            <a:outerShdw blurRad="101600" dist="25400" dir="5400000" algn="bl" rotWithShape="0">
              <a:srgbClr val="000000">
                <a:alpha val="6000"/>
              </a:srgbClr>
            </a:outerShdw>
          </a:effectLst>
        </p:spPr>
        <p:txBody>
          <a:bodyPr/>
          <a:lstStyle/>
          <a:p>
            <a:endParaRPr lang="en-US"/>
          </a:p>
        </p:txBody>
      </p:sp>
      <p:sp>
        <p:nvSpPr>
          <p:cNvPr id="10" name="Shape 8"/>
          <p:cNvSpPr/>
          <p:nvPr/>
        </p:nvSpPr>
        <p:spPr>
          <a:xfrm>
            <a:off x="3383280" y="1828800"/>
            <a:ext cx="2697480" cy="54864"/>
          </a:xfrm>
          <a:prstGeom prst="rect">
            <a:avLst/>
          </a:prstGeom>
          <a:solidFill>
            <a:srgbClr val="0E8388"/>
          </a:solidFill>
          <a:ln w="12700">
            <a:solidFill>
              <a:srgbClr val="0E8388"/>
            </a:solidFill>
            <a:prstDash val="solid"/>
          </a:ln>
        </p:spPr>
        <p:txBody>
          <a:bodyPr/>
          <a:lstStyle/>
          <a:p>
            <a:endParaRPr lang="en-US"/>
          </a:p>
        </p:txBody>
      </p:sp>
      <p:sp>
        <p:nvSpPr>
          <p:cNvPr id="11" name="Text 9"/>
          <p:cNvSpPr/>
          <p:nvPr/>
        </p:nvSpPr>
        <p:spPr>
          <a:xfrm>
            <a:off x="3383280" y="1965960"/>
            <a:ext cx="2697480" cy="868680"/>
          </a:xfrm>
          <a:prstGeom prst="rect">
            <a:avLst/>
          </a:prstGeom>
          <a:noFill/>
          <a:ln/>
        </p:spPr>
        <p:txBody>
          <a:bodyPr wrap="square" lIns="0" tIns="0" rIns="0" bIns="0" rtlCol="0" anchor="ctr"/>
          <a:lstStyle/>
          <a:p>
            <a:pPr marL="0" indent="0" algn="ctr">
              <a:buNone/>
            </a:pPr>
            <a:r>
              <a:rPr lang="en-US" sz="4400" b="1" dirty="0">
                <a:solidFill>
                  <a:srgbClr val="0F3D4C"/>
                </a:solidFill>
                <a:latin typeface="Georgia" pitchFamily="34" charset="0"/>
                <a:ea typeface="Georgia" pitchFamily="34" charset="-122"/>
                <a:cs typeface="Georgia" pitchFamily="34" charset="-120"/>
              </a:rPr>
              <a:t>16</a:t>
            </a:r>
            <a:endParaRPr lang="en-US" sz="4400" dirty="0"/>
          </a:p>
        </p:txBody>
      </p:sp>
      <p:sp>
        <p:nvSpPr>
          <p:cNvPr id="12" name="Text 10"/>
          <p:cNvSpPr/>
          <p:nvPr/>
        </p:nvSpPr>
        <p:spPr>
          <a:xfrm>
            <a:off x="3474720" y="2880360"/>
            <a:ext cx="2514600" cy="274320"/>
          </a:xfrm>
          <a:prstGeom prst="rect">
            <a:avLst/>
          </a:prstGeom>
          <a:noFill/>
          <a:ln/>
        </p:spPr>
        <p:txBody>
          <a:bodyPr wrap="square" lIns="0" tIns="0" rIns="0" bIns="0" rtlCol="0" anchor="ctr"/>
          <a:lstStyle/>
          <a:p>
            <a:pPr marL="0" indent="0" algn="ctr">
              <a:buNone/>
            </a:pPr>
            <a:r>
              <a:rPr lang="en-US" sz="1100" b="1" kern="0" spc="300" dirty="0">
                <a:solidFill>
                  <a:srgbClr val="0E8388"/>
                </a:solidFill>
                <a:latin typeface="Calibri" pitchFamily="34" charset="0"/>
                <a:ea typeface="Calibri" pitchFamily="34" charset="-122"/>
                <a:cs typeface="Calibri" pitchFamily="34" charset="-120"/>
              </a:rPr>
              <a:t>SURVEY QUESTIONS</a:t>
            </a:r>
            <a:endParaRPr lang="en-US" sz="1100" dirty="0"/>
          </a:p>
        </p:txBody>
      </p:sp>
      <p:sp>
        <p:nvSpPr>
          <p:cNvPr id="13" name="Text 11"/>
          <p:cNvSpPr/>
          <p:nvPr/>
        </p:nvSpPr>
        <p:spPr>
          <a:xfrm>
            <a:off x="3474720" y="3154680"/>
            <a:ext cx="2514600" cy="502920"/>
          </a:xfrm>
          <a:prstGeom prst="rect">
            <a:avLst/>
          </a:prstGeom>
          <a:noFill/>
          <a:ln/>
        </p:spPr>
        <p:txBody>
          <a:bodyPr wrap="square" lIns="0" tIns="0" rIns="0" bIns="0" rtlCol="0" anchor="ctr"/>
          <a:lstStyle/>
          <a:p>
            <a:pPr marL="0" indent="0" algn="ctr">
              <a:buNone/>
            </a:pPr>
            <a:r>
              <a:rPr lang="en-US" sz="1100" i="1" dirty="0">
                <a:solidFill>
                  <a:srgbClr val="5A6B72"/>
                </a:solidFill>
                <a:latin typeface="Calibri" pitchFamily="34" charset="0"/>
                <a:ea typeface="Calibri" pitchFamily="34" charset="-122"/>
                <a:cs typeface="Calibri" pitchFamily="34" charset="-120"/>
              </a:rPr>
              <a:t>Demographics + Likert + open</a:t>
            </a:r>
            <a:endParaRPr lang="en-US" sz="1100" dirty="0"/>
          </a:p>
        </p:txBody>
      </p:sp>
      <p:sp>
        <p:nvSpPr>
          <p:cNvPr id="14" name="Shape 12"/>
          <p:cNvSpPr/>
          <p:nvPr/>
        </p:nvSpPr>
        <p:spPr>
          <a:xfrm>
            <a:off x="6217920" y="1828800"/>
            <a:ext cx="2697480" cy="1920240"/>
          </a:xfrm>
          <a:prstGeom prst="rect">
            <a:avLst/>
          </a:prstGeom>
          <a:solidFill>
            <a:srgbClr val="FFFFFF"/>
          </a:solidFill>
          <a:ln w="12700">
            <a:solidFill>
              <a:srgbClr val="E5E0D5"/>
            </a:solidFill>
            <a:prstDash val="solid"/>
          </a:ln>
          <a:effectLst>
            <a:outerShdw blurRad="101600" dist="25400" dir="5400000" algn="bl" rotWithShape="0">
              <a:srgbClr val="000000">
                <a:alpha val="6000"/>
              </a:srgbClr>
            </a:outerShdw>
          </a:effectLst>
        </p:spPr>
        <p:txBody>
          <a:bodyPr/>
          <a:lstStyle/>
          <a:p>
            <a:endParaRPr lang="en-US"/>
          </a:p>
        </p:txBody>
      </p:sp>
      <p:sp>
        <p:nvSpPr>
          <p:cNvPr id="15" name="Shape 13"/>
          <p:cNvSpPr/>
          <p:nvPr/>
        </p:nvSpPr>
        <p:spPr>
          <a:xfrm>
            <a:off x="6217920" y="1828800"/>
            <a:ext cx="2697480" cy="54864"/>
          </a:xfrm>
          <a:prstGeom prst="rect">
            <a:avLst/>
          </a:prstGeom>
          <a:solidFill>
            <a:srgbClr val="0E8388"/>
          </a:solidFill>
          <a:ln w="12700">
            <a:solidFill>
              <a:srgbClr val="0E8388"/>
            </a:solidFill>
            <a:prstDash val="solid"/>
          </a:ln>
        </p:spPr>
        <p:txBody>
          <a:bodyPr/>
          <a:lstStyle/>
          <a:p>
            <a:endParaRPr lang="en-US"/>
          </a:p>
        </p:txBody>
      </p:sp>
      <p:sp>
        <p:nvSpPr>
          <p:cNvPr id="16" name="Text 14"/>
          <p:cNvSpPr/>
          <p:nvPr/>
        </p:nvSpPr>
        <p:spPr>
          <a:xfrm>
            <a:off x="6217920" y="1965960"/>
            <a:ext cx="2697480" cy="868680"/>
          </a:xfrm>
          <a:prstGeom prst="rect">
            <a:avLst/>
          </a:prstGeom>
          <a:noFill/>
          <a:ln/>
        </p:spPr>
        <p:txBody>
          <a:bodyPr wrap="square" lIns="0" tIns="0" rIns="0" bIns="0" rtlCol="0" anchor="ctr"/>
          <a:lstStyle/>
          <a:p>
            <a:pPr marL="0" indent="0" algn="ctr">
              <a:buNone/>
            </a:pPr>
            <a:r>
              <a:rPr lang="en-US" sz="4400" b="1" dirty="0">
                <a:solidFill>
                  <a:srgbClr val="0F3D4C"/>
                </a:solidFill>
                <a:latin typeface="Georgia" pitchFamily="34" charset="0"/>
                <a:ea typeface="Georgia" pitchFamily="34" charset="-122"/>
                <a:cs typeface="Georgia" pitchFamily="34" charset="-120"/>
              </a:rPr>
              <a:t>72.5%</a:t>
            </a:r>
            <a:endParaRPr lang="en-US" sz="4400" dirty="0"/>
          </a:p>
        </p:txBody>
      </p:sp>
      <p:sp>
        <p:nvSpPr>
          <p:cNvPr id="17" name="Text 15"/>
          <p:cNvSpPr/>
          <p:nvPr/>
        </p:nvSpPr>
        <p:spPr>
          <a:xfrm>
            <a:off x="6309360" y="2880360"/>
            <a:ext cx="2514600" cy="274320"/>
          </a:xfrm>
          <a:prstGeom prst="rect">
            <a:avLst/>
          </a:prstGeom>
          <a:noFill/>
          <a:ln/>
        </p:spPr>
        <p:txBody>
          <a:bodyPr wrap="square" lIns="0" tIns="0" rIns="0" bIns="0" rtlCol="0" anchor="ctr"/>
          <a:lstStyle/>
          <a:p>
            <a:pPr marL="0" indent="0" algn="ctr">
              <a:buNone/>
            </a:pPr>
            <a:r>
              <a:rPr lang="en-US" sz="1100" b="1" kern="0" spc="300" dirty="0">
                <a:solidFill>
                  <a:srgbClr val="0E8388"/>
                </a:solidFill>
                <a:latin typeface="Calibri" pitchFamily="34" charset="0"/>
                <a:ea typeface="Calibri" pitchFamily="34" charset="-122"/>
                <a:cs typeface="Calibri" pitchFamily="34" charset="-120"/>
              </a:rPr>
              <a:t>VACCINATED</a:t>
            </a:r>
            <a:endParaRPr lang="en-US" sz="1100" dirty="0"/>
          </a:p>
        </p:txBody>
      </p:sp>
      <p:sp>
        <p:nvSpPr>
          <p:cNvPr id="18" name="Text 16"/>
          <p:cNvSpPr/>
          <p:nvPr/>
        </p:nvSpPr>
        <p:spPr>
          <a:xfrm>
            <a:off x="6309360" y="3154680"/>
            <a:ext cx="2514600" cy="502920"/>
          </a:xfrm>
          <a:prstGeom prst="rect">
            <a:avLst/>
          </a:prstGeom>
          <a:noFill/>
          <a:ln/>
        </p:spPr>
        <p:txBody>
          <a:bodyPr wrap="square" lIns="0" tIns="0" rIns="0" bIns="0" rtlCol="0" anchor="ctr"/>
          <a:lstStyle/>
          <a:p>
            <a:pPr marL="0" indent="0" algn="ctr">
              <a:buNone/>
            </a:pPr>
            <a:r>
              <a:rPr lang="en-US" sz="1100" i="1" dirty="0">
                <a:solidFill>
                  <a:srgbClr val="5A6B72"/>
                </a:solidFill>
                <a:latin typeface="Calibri" pitchFamily="34" charset="0"/>
                <a:ea typeface="Calibri" pitchFamily="34" charset="-122"/>
                <a:cs typeface="Calibri" pitchFamily="34" charset="-120"/>
              </a:rPr>
              <a:t>29 of 40 received at least one dose</a:t>
            </a:r>
            <a:endParaRPr lang="en-US" sz="1100" dirty="0"/>
          </a:p>
        </p:txBody>
      </p:sp>
      <p:sp>
        <p:nvSpPr>
          <p:cNvPr id="19" name="Shape 17"/>
          <p:cNvSpPr/>
          <p:nvPr/>
        </p:nvSpPr>
        <p:spPr>
          <a:xfrm>
            <a:off x="9052560" y="1828800"/>
            <a:ext cx="2697480" cy="1920240"/>
          </a:xfrm>
          <a:prstGeom prst="rect">
            <a:avLst/>
          </a:prstGeom>
          <a:solidFill>
            <a:srgbClr val="FFFFFF"/>
          </a:solidFill>
          <a:ln w="12700">
            <a:solidFill>
              <a:srgbClr val="E5E0D5"/>
            </a:solidFill>
            <a:prstDash val="solid"/>
          </a:ln>
          <a:effectLst>
            <a:outerShdw blurRad="101600" dist="25400" dir="5400000" algn="bl" rotWithShape="0">
              <a:srgbClr val="000000">
                <a:alpha val="6000"/>
              </a:srgbClr>
            </a:outerShdw>
          </a:effectLst>
        </p:spPr>
        <p:txBody>
          <a:bodyPr/>
          <a:lstStyle/>
          <a:p>
            <a:endParaRPr lang="en-US"/>
          </a:p>
        </p:txBody>
      </p:sp>
      <p:sp>
        <p:nvSpPr>
          <p:cNvPr id="20" name="Shape 18"/>
          <p:cNvSpPr/>
          <p:nvPr/>
        </p:nvSpPr>
        <p:spPr>
          <a:xfrm>
            <a:off x="9052560" y="1828800"/>
            <a:ext cx="2697480" cy="54864"/>
          </a:xfrm>
          <a:prstGeom prst="rect">
            <a:avLst/>
          </a:prstGeom>
          <a:solidFill>
            <a:srgbClr val="0E8388"/>
          </a:solidFill>
          <a:ln w="12700">
            <a:solidFill>
              <a:srgbClr val="0E8388"/>
            </a:solidFill>
            <a:prstDash val="solid"/>
          </a:ln>
        </p:spPr>
        <p:txBody>
          <a:bodyPr/>
          <a:lstStyle/>
          <a:p>
            <a:endParaRPr lang="en-US"/>
          </a:p>
        </p:txBody>
      </p:sp>
      <p:sp>
        <p:nvSpPr>
          <p:cNvPr id="21" name="Text 19"/>
          <p:cNvSpPr/>
          <p:nvPr/>
        </p:nvSpPr>
        <p:spPr>
          <a:xfrm>
            <a:off x="9052560" y="1965960"/>
            <a:ext cx="2697480" cy="868680"/>
          </a:xfrm>
          <a:prstGeom prst="rect">
            <a:avLst/>
          </a:prstGeom>
          <a:noFill/>
          <a:ln/>
        </p:spPr>
        <p:txBody>
          <a:bodyPr wrap="square" lIns="0" tIns="0" rIns="0" bIns="0" rtlCol="0" anchor="ctr"/>
          <a:lstStyle/>
          <a:p>
            <a:pPr marL="0" indent="0" algn="ctr">
              <a:buNone/>
            </a:pPr>
            <a:r>
              <a:rPr lang="en-US" sz="4400" b="1" dirty="0">
                <a:solidFill>
                  <a:srgbClr val="0F3D4C"/>
                </a:solidFill>
                <a:latin typeface="Georgia" pitchFamily="34" charset="0"/>
                <a:ea typeface="Georgia" pitchFamily="34" charset="-122"/>
                <a:cs typeface="Georgia" pitchFamily="34" charset="-120"/>
              </a:rPr>
              <a:t>65%</a:t>
            </a:r>
            <a:endParaRPr lang="en-US" sz="4400" dirty="0"/>
          </a:p>
        </p:txBody>
      </p:sp>
      <p:sp>
        <p:nvSpPr>
          <p:cNvPr id="22" name="Text 20"/>
          <p:cNvSpPr/>
          <p:nvPr/>
        </p:nvSpPr>
        <p:spPr>
          <a:xfrm>
            <a:off x="9144000" y="2880360"/>
            <a:ext cx="2514600" cy="274320"/>
          </a:xfrm>
          <a:prstGeom prst="rect">
            <a:avLst/>
          </a:prstGeom>
          <a:noFill/>
          <a:ln/>
        </p:spPr>
        <p:txBody>
          <a:bodyPr wrap="square" lIns="0" tIns="0" rIns="0" bIns="0" rtlCol="0" anchor="ctr"/>
          <a:lstStyle/>
          <a:p>
            <a:pPr marL="0" indent="0" algn="ctr">
              <a:buNone/>
            </a:pPr>
            <a:r>
              <a:rPr lang="en-US" sz="1100" b="1" kern="0" spc="300" dirty="0">
                <a:solidFill>
                  <a:srgbClr val="0E8388"/>
                </a:solidFill>
                <a:latin typeface="Calibri" pitchFamily="34" charset="0"/>
                <a:ea typeface="Calibri" pitchFamily="34" charset="-122"/>
                <a:cs typeface="Calibri" pitchFamily="34" charset="-120"/>
              </a:rPr>
              <a:t>TESTED POSITIVE</a:t>
            </a:r>
            <a:endParaRPr lang="en-US" sz="1100" dirty="0"/>
          </a:p>
        </p:txBody>
      </p:sp>
      <p:sp>
        <p:nvSpPr>
          <p:cNvPr id="23" name="Text 21"/>
          <p:cNvSpPr/>
          <p:nvPr/>
        </p:nvSpPr>
        <p:spPr>
          <a:xfrm>
            <a:off x="9144000" y="3154680"/>
            <a:ext cx="2514600" cy="502920"/>
          </a:xfrm>
          <a:prstGeom prst="rect">
            <a:avLst/>
          </a:prstGeom>
          <a:noFill/>
          <a:ln/>
        </p:spPr>
        <p:txBody>
          <a:bodyPr wrap="square" lIns="0" tIns="0" rIns="0" bIns="0" rtlCol="0" anchor="ctr"/>
          <a:lstStyle/>
          <a:p>
            <a:pPr marL="0" indent="0" algn="ctr">
              <a:buNone/>
            </a:pPr>
            <a:r>
              <a:rPr lang="en-US" sz="1100" i="1" dirty="0">
                <a:solidFill>
                  <a:srgbClr val="5A6B72"/>
                </a:solidFill>
                <a:latin typeface="Calibri" pitchFamily="34" charset="0"/>
                <a:ea typeface="Calibri" pitchFamily="34" charset="-122"/>
                <a:cs typeface="Calibri" pitchFamily="34" charset="-120"/>
              </a:rPr>
              <a:t>26 of 40 had COVID-19</a:t>
            </a:r>
            <a:endParaRPr lang="en-US" sz="1100" dirty="0"/>
          </a:p>
        </p:txBody>
      </p:sp>
      <p:sp>
        <p:nvSpPr>
          <p:cNvPr id="24" name="Shape 22"/>
          <p:cNvSpPr/>
          <p:nvPr/>
        </p:nvSpPr>
        <p:spPr>
          <a:xfrm>
            <a:off x="254642" y="4023360"/>
            <a:ext cx="8340717" cy="1920240"/>
          </a:xfrm>
          <a:prstGeom prst="rect">
            <a:avLst/>
          </a:prstGeom>
          <a:solidFill>
            <a:srgbClr val="FFFFFF"/>
          </a:solidFill>
          <a:ln w="12700">
            <a:solidFill>
              <a:srgbClr val="E5E0D5"/>
            </a:solidFill>
            <a:prstDash val="solid"/>
          </a:ln>
          <a:effectLst>
            <a:outerShdw blurRad="101600" dist="25400" dir="5400000" algn="bl" rotWithShape="0">
              <a:srgbClr val="000000">
                <a:alpha val="6000"/>
              </a:srgbClr>
            </a:outerShdw>
          </a:effectLst>
        </p:spPr>
        <p:txBody>
          <a:bodyPr/>
          <a:lstStyle/>
          <a:p>
            <a:endParaRPr lang="en-US"/>
          </a:p>
        </p:txBody>
      </p:sp>
      <p:sp>
        <p:nvSpPr>
          <p:cNvPr id="25" name="Shape 23"/>
          <p:cNvSpPr/>
          <p:nvPr/>
        </p:nvSpPr>
        <p:spPr>
          <a:xfrm>
            <a:off x="548640" y="4023360"/>
            <a:ext cx="73152" cy="1920240"/>
          </a:xfrm>
          <a:prstGeom prst="rect">
            <a:avLst/>
          </a:prstGeom>
          <a:solidFill>
            <a:srgbClr val="0E8388"/>
          </a:solidFill>
          <a:ln w="12700">
            <a:solidFill>
              <a:srgbClr val="0E8388"/>
            </a:solidFill>
            <a:prstDash val="solid"/>
          </a:ln>
        </p:spPr>
        <p:txBody>
          <a:bodyPr/>
          <a:lstStyle/>
          <a:p>
            <a:endParaRPr lang="en-US"/>
          </a:p>
        </p:txBody>
      </p:sp>
      <p:sp>
        <p:nvSpPr>
          <p:cNvPr id="26" name="Text 24"/>
          <p:cNvSpPr/>
          <p:nvPr/>
        </p:nvSpPr>
        <p:spPr>
          <a:xfrm>
            <a:off x="777240" y="4160520"/>
            <a:ext cx="4572000" cy="274320"/>
          </a:xfrm>
          <a:prstGeom prst="rect">
            <a:avLst/>
          </a:prstGeom>
          <a:noFill/>
          <a:ln/>
        </p:spPr>
        <p:txBody>
          <a:bodyPr wrap="square" lIns="0" tIns="0" rIns="0" bIns="0" rtlCol="0" anchor="ctr"/>
          <a:lstStyle/>
          <a:p>
            <a:pPr marL="0" indent="0">
              <a:buNone/>
            </a:pPr>
            <a:r>
              <a:rPr lang="en-US" sz="1100" b="1" kern="0" spc="400" dirty="0">
                <a:solidFill>
                  <a:srgbClr val="0E8388"/>
                </a:solidFill>
                <a:latin typeface="Calibri" pitchFamily="34" charset="0"/>
                <a:ea typeface="Calibri" pitchFamily="34" charset="-122"/>
                <a:cs typeface="Calibri" pitchFamily="34" charset="-120"/>
              </a:rPr>
              <a:t>SAMPLE PROFILE</a:t>
            </a:r>
            <a:endParaRPr lang="en-US" sz="1100" dirty="0"/>
          </a:p>
        </p:txBody>
      </p:sp>
      <p:sp>
        <p:nvSpPr>
          <p:cNvPr id="27" name="Text 25"/>
          <p:cNvSpPr/>
          <p:nvPr/>
        </p:nvSpPr>
        <p:spPr>
          <a:xfrm>
            <a:off x="777240" y="4480560"/>
            <a:ext cx="10698480" cy="1417320"/>
          </a:xfrm>
          <a:prstGeom prst="rect">
            <a:avLst/>
          </a:prstGeom>
          <a:noFill/>
          <a:ln/>
        </p:spPr>
        <p:txBody>
          <a:bodyPr wrap="square" rtlCol="0" anchor="t"/>
          <a:lstStyle/>
          <a:p>
            <a:pPr marL="0" indent="0">
              <a:spcAft>
                <a:spcPts val="400"/>
              </a:spcAft>
              <a:buNone/>
            </a:pPr>
            <a:r>
              <a:rPr lang="en-US" sz="1300" dirty="0">
                <a:solidFill>
                  <a:srgbClr val="0F3D4C"/>
                </a:solidFill>
                <a:latin typeface="Calibri" pitchFamily="34" charset="0"/>
                <a:ea typeface="Calibri" pitchFamily="34" charset="-122"/>
                <a:cs typeface="Calibri" pitchFamily="34" charset="-120"/>
              </a:rPr>
              <a:t>Age groups: </a:t>
            </a:r>
            <a:r>
              <a:rPr lang="en-US" sz="1300" dirty="0">
                <a:solidFill>
                  <a:srgbClr val="1E1E1E"/>
                </a:solidFill>
                <a:latin typeface="Calibri" pitchFamily="34" charset="0"/>
                <a:ea typeface="Calibri" pitchFamily="34" charset="-122"/>
                <a:cs typeface="Calibri" pitchFamily="34" charset="-120"/>
              </a:rPr>
              <a:t>85% age 18–24 (EIU students)</a:t>
            </a:r>
            <a:endParaRPr lang="en-US" sz="1300" dirty="0"/>
          </a:p>
          <a:p>
            <a:pPr marL="0" indent="0">
              <a:spcAft>
                <a:spcPts val="400"/>
              </a:spcAft>
              <a:buNone/>
            </a:pPr>
            <a:r>
              <a:rPr lang="en-US" sz="1300" dirty="0">
                <a:solidFill>
                  <a:srgbClr val="0F3D4C"/>
                </a:solidFill>
                <a:latin typeface="Calibri" pitchFamily="34" charset="0"/>
                <a:ea typeface="Calibri" pitchFamily="34" charset="-122"/>
                <a:cs typeface="Calibri" pitchFamily="34" charset="-120"/>
              </a:rPr>
              <a:t>Doses received: </a:t>
            </a:r>
            <a:r>
              <a:rPr lang="en-US" sz="1300" dirty="0">
                <a:solidFill>
                  <a:srgbClr val="1E1E1E"/>
                </a:solidFill>
                <a:latin typeface="Calibri" pitchFamily="34" charset="0"/>
                <a:ea typeface="Calibri" pitchFamily="34" charset="-122"/>
                <a:cs typeface="Calibri" pitchFamily="34" charset="-120"/>
              </a:rPr>
              <a:t>65.5% got 2 doses, 17.2% got 1 dose, 17.2% got 3+ doses</a:t>
            </a:r>
            <a:endParaRPr lang="en-US" sz="1300" dirty="0"/>
          </a:p>
          <a:p>
            <a:pPr marL="0" indent="0">
              <a:spcAft>
                <a:spcPts val="400"/>
              </a:spcAft>
              <a:buNone/>
            </a:pPr>
            <a:r>
              <a:rPr lang="en-US" sz="1300" dirty="0">
                <a:solidFill>
                  <a:srgbClr val="0F3D4C"/>
                </a:solidFill>
                <a:latin typeface="Calibri" pitchFamily="34" charset="0"/>
                <a:ea typeface="Calibri" pitchFamily="34" charset="-122"/>
                <a:cs typeface="Calibri" pitchFamily="34" charset="-120"/>
              </a:rPr>
              <a:t>Future boosters: </a:t>
            </a:r>
            <a:r>
              <a:rPr lang="en-US" sz="1300" dirty="0">
                <a:solidFill>
                  <a:srgbClr val="E07A5F"/>
                </a:solidFill>
                <a:latin typeface="Calibri" pitchFamily="34" charset="0"/>
                <a:ea typeface="Calibri" pitchFamily="34" charset="-122"/>
                <a:cs typeface="Calibri" pitchFamily="34" charset="-120"/>
              </a:rPr>
              <a:t>77.5% said they were unlikely to get future boosters</a:t>
            </a:r>
            <a:endParaRPr lang="en-US" sz="1300" dirty="0"/>
          </a:p>
        </p:txBody>
      </p:sp>
      <p:sp>
        <p:nvSpPr>
          <p:cNvPr id="28" name="Text 26"/>
          <p:cNvSpPr/>
          <p:nvPr/>
        </p:nvSpPr>
        <p:spPr>
          <a:xfrm>
            <a:off x="457200" y="6446520"/>
            <a:ext cx="8229600" cy="274320"/>
          </a:xfrm>
          <a:prstGeom prst="rect">
            <a:avLst/>
          </a:prstGeom>
          <a:noFill/>
          <a:ln/>
        </p:spPr>
        <p:txBody>
          <a:bodyPr wrap="square" lIns="0" tIns="0" rIns="0" bIns="0" rtlCol="0" anchor="ctr"/>
          <a:lstStyle/>
          <a:p>
            <a:pPr marL="0" indent="0" algn="l">
              <a:buNone/>
            </a:pPr>
            <a:r>
              <a:rPr lang="en-US" sz="900" dirty="0">
                <a:solidFill>
                  <a:srgbClr val="5A6B72"/>
                </a:solidFill>
                <a:latin typeface="Calibri" pitchFamily="34" charset="0"/>
                <a:ea typeface="Calibri" pitchFamily="34" charset="-122"/>
                <a:cs typeface="Calibri" pitchFamily="34" charset="-120"/>
              </a:rPr>
              <a:t>Julia Monson  |  BAIS 4720  |  COVID-19 Vaccination &amp; Mortality</a:t>
            </a:r>
            <a:endParaRPr lang="en-US" sz="900" dirty="0"/>
          </a:p>
        </p:txBody>
      </p:sp>
      <p:sp>
        <p:nvSpPr>
          <p:cNvPr id="29" name="Text 27"/>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5A6B72"/>
                </a:solidFill>
                <a:latin typeface="Calibri" pitchFamily="34" charset="0"/>
                <a:ea typeface="Calibri" pitchFamily="34" charset="-122"/>
                <a:cs typeface="Calibri" pitchFamily="34" charset="-120"/>
              </a:rPr>
              <a:t>13 / 17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marL="0" indent="0">
              <a:buNone/>
            </a:pPr>
            <a:r>
              <a:rPr lang="en-US" sz="1100" b="1" kern="0" spc="400" dirty="0">
                <a:solidFill>
                  <a:srgbClr val="0E8388"/>
                </a:solidFill>
                <a:latin typeface="Calibri" pitchFamily="34" charset="0"/>
                <a:ea typeface="Calibri" pitchFamily="34" charset="-122"/>
                <a:cs typeface="Calibri" pitchFamily="34" charset="-120"/>
              </a:rPr>
              <a:t>SURVEY FINDINGS</a:t>
            </a:r>
            <a:endParaRPr lang="en-US" sz="1100" dirty="0"/>
          </a:p>
        </p:txBody>
      </p:sp>
      <p:sp>
        <p:nvSpPr>
          <p:cNvPr id="3" name="Text 1"/>
          <p:cNvSpPr/>
          <p:nvPr/>
        </p:nvSpPr>
        <p:spPr>
          <a:xfrm>
            <a:off x="548640" y="685800"/>
            <a:ext cx="10972800" cy="640080"/>
          </a:xfrm>
          <a:prstGeom prst="rect">
            <a:avLst/>
          </a:prstGeom>
          <a:noFill/>
          <a:ln/>
        </p:spPr>
        <p:txBody>
          <a:bodyPr wrap="square" lIns="0" tIns="0" rIns="0" bIns="0" rtlCol="0" anchor="ctr"/>
          <a:lstStyle/>
          <a:p>
            <a:pPr marL="0" indent="0">
              <a:buNone/>
            </a:pPr>
            <a:r>
              <a:rPr lang="en-US" sz="3200" b="1" dirty="0">
                <a:solidFill>
                  <a:srgbClr val="0F3D4C"/>
                </a:solidFill>
                <a:latin typeface="Georgia" pitchFamily="34" charset="0"/>
                <a:ea typeface="Georgia" pitchFamily="34" charset="-122"/>
                <a:cs typeface="Georgia" pitchFamily="34" charset="-120"/>
              </a:rPr>
              <a:t>What Influenced Vaccination Decisions</a:t>
            </a:r>
            <a:endParaRPr lang="en-US" sz="3200" dirty="0"/>
          </a:p>
        </p:txBody>
      </p:sp>
      <p:sp>
        <p:nvSpPr>
          <p:cNvPr id="4" name="Text 2"/>
          <p:cNvSpPr/>
          <p:nvPr/>
        </p:nvSpPr>
        <p:spPr>
          <a:xfrm>
            <a:off x="548640" y="1783080"/>
            <a:ext cx="11064240" cy="365760"/>
          </a:xfrm>
          <a:prstGeom prst="rect">
            <a:avLst/>
          </a:prstGeom>
          <a:noFill/>
          <a:ln/>
        </p:spPr>
        <p:txBody>
          <a:bodyPr wrap="square" lIns="0" tIns="0" rIns="0" bIns="0" rtlCol="0" anchor="ctr"/>
          <a:lstStyle/>
          <a:p>
            <a:pPr marL="0" indent="0">
              <a:buNone/>
            </a:pPr>
            <a:r>
              <a:rPr lang="en-US" sz="1300" i="1" dirty="0">
                <a:solidFill>
                  <a:srgbClr val="5A6B72"/>
                </a:solidFill>
                <a:latin typeface="Calibri" pitchFamily="34" charset="0"/>
                <a:ea typeface="Calibri" pitchFamily="34" charset="-122"/>
                <a:cs typeface="Calibri" pitchFamily="34" charset="-120"/>
              </a:rPr>
              <a:t>How much did each factor influence your vaccination decision?</a:t>
            </a:r>
            <a:endParaRPr lang="en-US" sz="1300" dirty="0"/>
          </a:p>
        </p:txBody>
      </p:sp>
      <p:sp>
        <p:nvSpPr>
          <p:cNvPr id="5" name="Shape 3"/>
          <p:cNvSpPr/>
          <p:nvPr/>
        </p:nvSpPr>
        <p:spPr>
          <a:xfrm>
            <a:off x="548640" y="2286000"/>
            <a:ext cx="11064240" cy="457200"/>
          </a:xfrm>
          <a:prstGeom prst="rect">
            <a:avLst/>
          </a:prstGeom>
          <a:solidFill>
            <a:srgbClr val="FFFFFF"/>
          </a:solidFill>
          <a:ln w="12700">
            <a:solidFill>
              <a:srgbClr val="E5E0D5"/>
            </a:solidFill>
            <a:prstDash val="solid"/>
          </a:ln>
        </p:spPr>
        <p:txBody>
          <a:bodyPr/>
          <a:lstStyle/>
          <a:p>
            <a:endParaRPr lang="en-US"/>
          </a:p>
        </p:txBody>
      </p:sp>
      <p:sp>
        <p:nvSpPr>
          <p:cNvPr id="6" name="Shape 4"/>
          <p:cNvSpPr/>
          <p:nvPr/>
        </p:nvSpPr>
        <p:spPr>
          <a:xfrm>
            <a:off x="640080" y="2331720"/>
            <a:ext cx="365760" cy="365760"/>
          </a:xfrm>
          <a:prstGeom prst="ellipse">
            <a:avLst/>
          </a:prstGeom>
          <a:solidFill>
            <a:srgbClr val="0E8388"/>
          </a:solidFill>
          <a:ln w="12700">
            <a:solidFill>
              <a:srgbClr val="0E8388"/>
            </a:solidFill>
            <a:prstDash val="solid"/>
          </a:ln>
        </p:spPr>
        <p:txBody>
          <a:bodyPr/>
          <a:lstStyle/>
          <a:p>
            <a:endParaRPr lang="en-US"/>
          </a:p>
        </p:txBody>
      </p:sp>
      <p:sp>
        <p:nvSpPr>
          <p:cNvPr id="7" name="Text 5"/>
          <p:cNvSpPr/>
          <p:nvPr/>
        </p:nvSpPr>
        <p:spPr>
          <a:xfrm>
            <a:off x="640080" y="23317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8" name="Text 6"/>
          <p:cNvSpPr/>
          <p:nvPr/>
        </p:nvSpPr>
        <p:spPr>
          <a:xfrm>
            <a:off x="1143000" y="2286000"/>
            <a:ext cx="5029200" cy="457200"/>
          </a:xfrm>
          <a:prstGeom prst="rect">
            <a:avLst/>
          </a:prstGeom>
          <a:noFill/>
          <a:ln/>
        </p:spPr>
        <p:txBody>
          <a:bodyPr wrap="square" lIns="0" tIns="0" rIns="0" bIns="0" rtlCol="0" anchor="ctr"/>
          <a:lstStyle/>
          <a:p>
            <a:pPr marL="0" indent="0">
              <a:buNone/>
            </a:pPr>
            <a:r>
              <a:rPr lang="en-US" sz="1400" b="1" dirty="0">
                <a:solidFill>
                  <a:srgbClr val="0F3D4C"/>
                </a:solidFill>
                <a:latin typeface="Calibri" pitchFamily="34" charset="0"/>
                <a:ea typeface="Calibri" pitchFamily="34" charset="-122"/>
                <a:cs typeface="Calibri" pitchFamily="34" charset="-120"/>
              </a:rPr>
              <a:t>Personal Health Concerns</a:t>
            </a:r>
            <a:endParaRPr lang="en-US" sz="1400" dirty="0"/>
          </a:p>
        </p:txBody>
      </p:sp>
      <p:sp>
        <p:nvSpPr>
          <p:cNvPr id="9" name="Text 7"/>
          <p:cNvSpPr/>
          <p:nvPr/>
        </p:nvSpPr>
        <p:spPr>
          <a:xfrm>
            <a:off x="6263640" y="2286000"/>
            <a:ext cx="5212080" cy="457200"/>
          </a:xfrm>
          <a:prstGeom prst="rect">
            <a:avLst/>
          </a:prstGeom>
          <a:noFill/>
          <a:ln/>
        </p:spPr>
        <p:txBody>
          <a:bodyPr wrap="square" lIns="0" tIns="0" rIns="0" bIns="0" rtlCol="0" anchor="ctr"/>
          <a:lstStyle/>
          <a:p>
            <a:pPr marL="0" indent="0">
              <a:buNone/>
            </a:pPr>
            <a:r>
              <a:rPr lang="en-US" sz="1200" i="1" dirty="0">
                <a:solidFill>
                  <a:srgbClr val="5A6B72"/>
                </a:solidFill>
                <a:latin typeface="Calibri" pitchFamily="34" charset="0"/>
                <a:ea typeface="Calibri" pitchFamily="34" charset="-122"/>
                <a:cs typeface="Calibri" pitchFamily="34" charset="-120"/>
              </a:rPr>
              <a:t>Most cited driver</a:t>
            </a:r>
            <a:endParaRPr lang="en-US" sz="1200" dirty="0"/>
          </a:p>
        </p:txBody>
      </p:sp>
      <p:sp>
        <p:nvSpPr>
          <p:cNvPr id="10" name="Shape 8"/>
          <p:cNvSpPr/>
          <p:nvPr/>
        </p:nvSpPr>
        <p:spPr>
          <a:xfrm>
            <a:off x="548640" y="2834640"/>
            <a:ext cx="11064240" cy="457200"/>
          </a:xfrm>
          <a:prstGeom prst="rect">
            <a:avLst/>
          </a:prstGeom>
          <a:solidFill>
            <a:srgbClr val="FFFFFF"/>
          </a:solidFill>
          <a:ln w="12700">
            <a:solidFill>
              <a:srgbClr val="E5E0D5"/>
            </a:solidFill>
            <a:prstDash val="solid"/>
          </a:ln>
        </p:spPr>
        <p:txBody>
          <a:bodyPr/>
          <a:lstStyle/>
          <a:p>
            <a:endParaRPr lang="en-US"/>
          </a:p>
        </p:txBody>
      </p:sp>
      <p:sp>
        <p:nvSpPr>
          <p:cNvPr id="11" name="Shape 9"/>
          <p:cNvSpPr/>
          <p:nvPr/>
        </p:nvSpPr>
        <p:spPr>
          <a:xfrm>
            <a:off x="640080" y="2880360"/>
            <a:ext cx="365760" cy="365760"/>
          </a:xfrm>
          <a:prstGeom prst="ellipse">
            <a:avLst/>
          </a:prstGeom>
          <a:solidFill>
            <a:srgbClr val="0E8388"/>
          </a:solidFill>
          <a:ln w="12700">
            <a:solidFill>
              <a:srgbClr val="0E8388"/>
            </a:solidFill>
            <a:prstDash val="solid"/>
          </a:ln>
        </p:spPr>
        <p:txBody>
          <a:bodyPr/>
          <a:lstStyle/>
          <a:p>
            <a:endParaRPr lang="en-US"/>
          </a:p>
        </p:txBody>
      </p:sp>
      <p:sp>
        <p:nvSpPr>
          <p:cNvPr id="12" name="Text 10"/>
          <p:cNvSpPr/>
          <p:nvPr/>
        </p:nvSpPr>
        <p:spPr>
          <a:xfrm>
            <a:off x="640080" y="28803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3" name="Text 11"/>
          <p:cNvSpPr/>
          <p:nvPr/>
        </p:nvSpPr>
        <p:spPr>
          <a:xfrm>
            <a:off x="1143000" y="2834640"/>
            <a:ext cx="5029200" cy="457200"/>
          </a:xfrm>
          <a:prstGeom prst="rect">
            <a:avLst/>
          </a:prstGeom>
          <a:noFill/>
          <a:ln/>
        </p:spPr>
        <p:txBody>
          <a:bodyPr wrap="square" lIns="0" tIns="0" rIns="0" bIns="0" rtlCol="0" anchor="ctr"/>
          <a:lstStyle/>
          <a:p>
            <a:pPr marL="0" indent="0">
              <a:buNone/>
            </a:pPr>
            <a:r>
              <a:rPr lang="en-US" sz="1400" b="1" dirty="0">
                <a:solidFill>
                  <a:srgbClr val="0F3D4C"/>
                </a:solidFill>
                <a:latin typeface="Calibri" pitchFamily="34" charset="0"/>
                <a:ea typeface="Calibri" pitchFamily="34" charset="-122"/>
                <a:cs typeface="Calibri" pitchFamily="34" charset="-120"/>
              </a:rPr>
              <a:t>Work or School Requirements</a:t>
            </a:r>
            <a:endParaRPr lang="en-US" sz="1400" dirty="0"/>
          </a:p>
        </p:txBody>
      </p:sp>
      <p:sp>
        <p:nvSpPr>
          <p:cNvPr id="14" name="Text 12"/>
          <p:cNvSpPr/>
          <p:nvPr/>
        </p:nvSpPr>
        <p:spPr>
          <a:xfrm>
            <a:off x="6263640" y="2834640"/>
            <a:ext cx="5212080" cy="457200"/>
          </a:xfrm>
          <a:prstGeom prst="rect">
            <a:avLst/>
          </a:prstGeom>
          <a:noFill/>
          <a:ln/>
        </p:spPr>
        <p:txBody>
          <a:bodyPr wrap="square" lIns="0" tIns="0" rIns="0" bIns="0" rtlCol="0" anchor="ctr"/>
          <a:lstStyle/>
          <a:p>
            <a:pPr marL="0" indent="0">
              <a:buNone/>
            </a:pPr>
            <a:r>
              <a:rPr lang="en-US" sz="1200" i="1" dirty="0">
                <a:solidFill>
                  <a:srgbClr val="5A6B72"/>
                </a:solidFill>
                <a:latin typeface="Calibri" pitchFamily="34" charset="0"/>
                <a:ea typeface="Calibri" pitchFamily="34" charset="-122"/>
                <a:cs typeface="Calibri" pitchFamily="34" charset="-120"/>
              </a:rPr>
              <a:t>Similar to what people said in the open-ended question</a:t>
            </a:r>
            <a:endParaRPr lang="en-US" sz="1200" dirty="0"/>
          </a:p>
        </p:txBody>
      </p:sp>
      <p:sp>
        <p:nvSpPr>
          <p:cNvPr id="15" name="Shape 13"/>
          <p:cNvSpPr/>
          <p:nvPr/>
        </p:nvSpPr>
        <p:spPr>
          <a:xfrm>
            <a:off x="548640" y="3383280"/>
            <a:ext cx="11064240" cy="457200"/>
          </a:xfrm>
          <a:prstGeom prst="rect">
            <a:avLst/>
          </a:prstGeom>
          <a:solidFill>
            <a:srgbClr val="FFFFFF"/>
          </a:solidFill>
          <a:ln w="12700">
            <a:solidFill>
              <a:srgbClr val="E5E0D5"/>
            </a:solidFill>
            <a:prstDash val="solid"/>
          </a:ln>
        </p:spPr>
        <p:txBody>
          <a:bodyPr/>
          <a:lstStyle/>
          <a:p>
            <a:endParaRPr lang="en-US"/>
          </a:p>
        </p:txBody>
      </p:sp>
      <p:sp>
        <p:nvSpPr>
          <p:cNvPr id="16" name="Shape 14"/>
          <p:cNvSpPr/>
          <p:nvPr/>
        </p:nvSpPr>
        <p:spPr>
          <a:xfrm>
            <a:off x="640080" y="3429000"/>
            <a:ext cx="365760" cy="365760"/>
          </a:xfrm>
          <a:prstGeom prst="ellipse">
            <a:avLst/>
          </a:prstGeom>
          <a:solidFill>
            <a:srgbClr val="0E8388"/>
          </a:solidFill>
          <a:ln w="12700">
            <a:solidFill>
              <a:srgbClr val="0E8388"/>
            </a:solidFill>
            <a:prstDash val="solid"/>
          </a:ln>
        </p:spPr>
        <p:txBody>
          <a:bodyPr/>
          <a:lstStyle/>
          <a:p>
            <a:endParaRPr lang="en-US"/>
          </a:p>
        </p:txBody>
      </p:sp>
      <p:sp>
        <p:nvSpPr>
          <p:cNvPr id="17" name="Text 15"/>
          <p:cNvSpPr/>
          <p:nvPr/>
        </p:nvSpPr>
        <p:spPr>
          <a:xfrm>
            <a:off x="640080" y="34290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8" name="Text 16"/>
          <p:cNvSpPr/>
          <p:nvPr/>
        </p:nvSpPr>
        <p:spPr>
          <a:xfrm>
            <a:off x="1143000" y="3383280"/>
            <a:ext cx="5029200" cy="457200"/>
          </a:xfrm>
          <a:prstGeom prst="rect">
            <a:avLst/>
          </a:prstGeom>
          <a:noFill/>
          <a:ln/>
        </p:spPr>
        <p:txBody>
          <a:bodyPr wrap="square" lIns="0" tIns="0" rIns="0" bIns="0" rtlCol="0" anchor="ctr"/>
          <a:lstStyle/>
          <a:p>
            <a:pPr marL="0" indent="0">
              <a:buNone/>
            </a:pPr>
            <a:r>
              <a:rPr lang="en-US" sz="1400" b="1" dirty="0">
                <a:solidFill>
                  <a:srgbClr val="0F3D4C"/>
                </a:solidFill>
                <a:latin typeface="Calibri" pitchFamily="34" charset="0"/>
                <a:ea typeface="Calibri" pitchFamily="34" charset="-122"/>
                <a:cs typeface="Calibri" pitchFamily="34" charset="-120"/>
              </a:rPr>
              <a:t>Advice from Medical Professionals</a:t>
            </a:r>
            <a:endParaRPr lang="en-US" sz="1400" dirty="0"/>
          </a:p>
        </p:txBody>
      </p:sp>
      <p:sp>
        <p:nvSpPr>
          <p:cNvPr id="19" name="Text 17"/>
          <p:cNvSpPr/>
          <p:nvPr/>
        </p:nvSpPr>
        <p:spPr>
          <a:xfrm>
            <a:off x="6263640" y="3383280"/>
            <a:ext cx="5212080" cy="457200"/>
          </a:xfrm>
          <a:prstGeom prst="rect">
            <a:avLst/>
          </a:prstGeom>
          <a:noFill/>
          <a:ln/>
        </p:spPr>
        <p:txBody>
          <a:bodyPr wrap="square" lIns="0" tIns="0" rIns="0" bIns="0" rtlCol="0" anchor="ctr"/>
          <a:lstStyle/>
          <a:p>
            <a:pPr marL="0" indent="0">
              <a:buNone/>
            </a:pPr>
            <a:r>
              <a:rPr lang="en-US" sz="1200" i="1" dirty="0">
                <a:solidFill>
                  <a:srgbClr val="5A6B72"/>
                </a:solidFill>
                <a:latin typeface="Calibri" pitchFamily="34" charset="0"/>
                <a:ea typeface="Calibri" pitchFamily="34" charset="-122"/>
                <a:cs typeface="Calibri" pitchFamily="34" charset="-120"/>
              </a:rPr>
              <a:t>Source of trust</a:t>
            </a:r>
            <a:endParaRPr lang="en-US" sz="1200" dirty="0"/>
          </a:p>
        </p:txBody>
      </p:sp>
      <p:sp>
        <p:nvSpPr>
          <p:cNvPr id="20" name="Shape 18"/>
          <p:cNvSpPr/>
          <p:nvPr/>
        </p:nvSpPr>
        <p:spPr>
          <a:xfrm>
            <a:off x="548640" y="3931920"/>
            <a:ext cx="11064240" cy="457200"/>
          </a:xfrm>
          <a:prstGeom prst="rect">
            <a:avLst/>
          </a:prstGeom>
          <a:solidFill>
            <a:srgbClr val="FFFFFF"/>
          </a:solidFill>
          <a:ln w="12700">
            <a:solidFill>
              <a:srgbClr val="E5E0D5"/>
            </a:solidFill>
            <a:prstDash val="solid"/>
          </a:ln>
        </p:spPr>
        <p:txBody>
          <a:bodyPr/>
          <a:lstStyle/>
          <a:p>
            <a:endParaRPr lang="en-US"/>
          </a:p>
        </p:txBody>
      </p:sp>
      <p:sp>
        <p:nvSpPr>
          <p:cNvPr id="21" name="Shape 19"/>
          <p:cNvSpPr/>
          <p:nvPr/>
        </p:nvSpPr>
        <p:spPr>
          <a:xfrm>
            <a:off x="640080" y="3977640"/>
            <a:ext cx="365760" cy="365760"/>
          </a:xfrm>
          <a:prstGeom prst="ellipse">
            <a:avLst/>
          </a:prstGeom>
          <a:solidFill>
            <a:srgbClr val="5A6B72"/>
          </a:solidFill>
          <a:ln w="12700">
            <a:solidFill>
              <a:srgbClr val="5A6B72"/>
            </a:solidFill>
            <a:prstDash val="solid"/>
          </a:ln>
        </p:spPr>
        <p:txBody>
          <a:bodyPr/>
          <a:lstStyle/>
          <a:p>
            <a:endParaRPr lang="en-US"/>
          </a:p>
        </p:txBody>
      </p:sp>
      <p:sp>
        <p:nvSpPr>
          <p:cNvPr id="22" name="Text 20"/>
          <p:cNvSpPr/>
          <p:nvPr/>
        </p:nvSpPr>
        <p:spPr>
          <a:xfrm>
            <a:off x="640080" y="39776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23" name="Text 21"/>
          <p:cNvSpPr/>
          <p:nvPr/>
        </p:nvSpPr>
        <p:spPr>
          <a:xfrm>
            <a:off x="1143000" y="3931920"/>
            <a:ext cx="5029200" cy="457200"/>
          </a:xfrm>
          <a:prstGeom prst="rect">
            <a:avLst/>
          </a:prstGeom>
          <a:noFill/>
          <a:ln/>
        </p:spPr>
        <p:txBody>
          <a:bodyPr wrap="square" lIns="0" tIns="0" rIns="0" bIns="0" rtlCol="0" anchor="ctr"/>
          <a:lstStyle/>
          <a:p>
            <a:pPr marL="0" indent="0">
              <a:buNone/>
            </a:pPr>
            <a:r>
              <a:rPr lang="en-US" sz="1400" b="1" dirty="0">
                <a:solidFill>
                  <a:srgbClr val="0F3D4C"/>
                </a:solidFill>
                <a:latin typeface="Calibri" pitchFamily="34" charset="0"/>
                <a:ea typeface="Calibri" pitchFamily="34" charset="-122"/>
                <a:cs typeface="Calibri" pitchFamily="34" charset="-120"/>
              </a:rPr>
              <a:t>Family or Friends</a:t>
            </a:r>
            <a:endParaRPr lang="en-US" sz="1400" dirty="0"/>
          </a:p>
        </p:txBody>
      </p:sp>
      <p:sp>
        <p:nvSpPr>
          <p:cNvPr id="24" name="Text 22"/>
          <p:cNvSpPr/>
          <p:nvPr/>
        </p:nvSpPr>
        <p:spPr>
          <a:xfrm>
            <a:off x="6263640" y="3931920"/>
            <a:ext cx="5212080" cy="457200"/>
          </a:xfrm>
          <a:prstGeom prst="rect">
            <a:avLst/>
          </a:prstGeom>
          <a:noFill/>
          <a:ln/>
        </p:spPr>
        <p:txBody>
          <a:bodyPr wrap="square" lIns="0" tIns="0" rIns="0" bIns="0" rtlCol="0" anchor="ctr"/>
          <a:lstStyle/>
          <a:p>
            <a:pPr marL="0" indent="0">
              <a:buNone/>
            </a:pPr>
            <a:r>
              <a:rPr lang="en-US" sz="1200" i="1" dirty="0">
                <a:solidFill>
                  <a:srgbClr val="5A6B72"/>
                </a:solidFill>
                <a:latin typeface="Calibri" pitchFamily="34" charset="0"/>
                <a:ea typeface="Calibri" pitchFamily="34" charset="-122"/>
                <a:cs typeface="Calibri" pitchFamily="34" charset="-120"/>
              </a:rPr>
              <a:t>Common in younger respondents</a:t>
            </a:r>
            <a:endParaRPr lang="en-US" sz="1200" dirty="0"/>
          </a:p>
        </p:txBody>
      </p:sp>
      <p:sp>
        <p:nvSpPr>
          <p:cNvPr id="25" name="Shape 23"/>
          <p:cNvSpPr/>
          <p:nvPr/>
        </p:nvSpPr>
        <p:spPr>
          <a:xfrm>
            <a:off x="548640" y="4480560"/>
            <a:ext cx="11064240" cy="457200"/>
          </a:xfrm>
          <a:prstGeom prst="rect">
            <a:avLst/>
          </a:prstGeom>
          <a:solidFill>
            <a:srgbClr val="FFFFFF"/>
          </a:solidFill>
          <a:ln w="12700">
            <a:solidFill>
              <a:srgbClr val="E5E0D5"/>
            </a:solidFill>
            <a:prstDash val="solid"/>
          </a:ln>
        </p:spPr>
        <p:txBody>
          <a:bodyPr/>
          <a:lstStyle/>
          <a:p>
            <a:endParaRPr lang="en-US"/>
          </a:p>
        </p:txBody>
      </p:sp>
      <p:sp>
        <p:nvSpPr>
          <p:cNvPr id="26" name="Shape 24"/>
          <p:cNvSpPr/>
          <p:nvPr/>
        </p:nvSpPr>
        <p:spPr>
          <a:xfrm>
            <a:off x="640080" y="4526280"/>
            <a:ext cx="365760" cy="365760"/>
          </a:xfrm>
          <a:prstGeom prst="ellipse">
            <a:avLst/>
          </a:prstGeom>
          <a:solidFill>
            <a:srgbClr val="5A6B72"/>
          </a:solidFill>
          <a:ln w="12700">
            <a:solidFill>
              <a:srgbClr val="5A6B72"/>
            </a:solidFill>
            <a:prstDash val="solid"/>
          </a:ln>
        </p:spPr>
        <p:txBody>
          <a:bodyPr/>
          <a:lstStyle/>
          <a:p>
            <a:endParaRPr lang="en-US"/>
          </a:p>
        </p:txBody>
      </p:sp>
      <p:sp>
        <p:nvSpPr>
          <p:cNvPr id="27" name="Text 25"/>
          <p:cNvSpPr/>
          <p:nvPr/>
        </p:nvSpPr>
        <p:spPr>
          <a:xfrm>
            <a:off x="640080" y="45262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5</a:t>
            </a:r>
            <a:endParaRPr lang="en-US" sz="1400" dirty="0"/>
          </a:p>
        </p:txBody>
      </p:sp>
      <p:sp>
        <p:nvSpPr>
          <p:cNvPr id="28" name="Text 26"/>
          <p:cNvSpPr/>
          <p:nvPr/>
        </p:nvSpPr>
        <p:spPr>
          <a:xfrm>
            <a:off x="1143000" y="4480560"/>
            <a:ext cx="5029200" cy="457200"/>
          </a:xfrm>
          <a:prstGeom prst="rect">
            <a:avLst/>
          </a:prstGeom>
          <a:noFill/>
          <a:ln/>
        </p:spPr>
        <p:txBody>
          <a:bodyPr wrap="square" lIns="0" tIns="0" rIns="0" bIns="0" rtlCol="0" anchor="ctr"/>
          <a:lstStyle/>
          <a:p>
            <a:pPr marL="0" indent="0">
              <a:buNone/>
            </a:pPr>
            <a:r>
              <a:rPr lang="en-US" sz="1400" b="1" dirty="0">
                <a:solidFill>
                  <a:srgbClr val="0F3D4C"/>
                </a:solidFill>
                <a:latin typeface="Calibri" pitchFamily="34" charset="0"/>
                <a:ea typeface="Calibri" pitchFamily="34" charset="-122"/>
                <a:cs typeface="Calibri" pitchFamily="34" charset="-120"/>
              </a:rPr>
              <a:t>Government Recommendations</a:t>
            </a:r>
            <a:endParaRPr lang="en-US" sz="1400" dirty="0"/>
          </a:p>
        </p:txBody>
      </p:sp>
      <p:sp>
        <p:nvSpPr>
          <p:cNvPr id="29" name="Text 27"/>
          <p:cNvSpPr/>
          <p:nvPr/>
        </p:nvSpPr>
        <p:spPr>
          <a:xfrm>
            <a:off x="6263640" y="4480560"/>
            <a:ext cx="5212080" cy="457200"/>
          </a:xfrm>
          <a:prstGeom prst="rect">
            <a:avLst/>
          </a:prstGeom>
          <a:noFill/>
          <a:ln/>
        </p:spPr>
        <p:txBody>
          <a:bodyPr wrap="square" lIns="0" tIns="0" rIns="0" bIns="0" rtlCol="0" anchor="ctr"/>
          <a:lstStyle/>
          <a:p>
            <a:pPr marL="0" indent="0">
              <a:buNone/>
            </a:pPr>
            <a:r>
              <a:rPr lang="en-US" sz="1200" i="1" dirty="0">
                <a:solidFill>
                  <a:srgbClr val="5A6B72"/>
                </a:solidFill>
                <a:latin typeface="Calibri" pitchFamily="34" charset="0"/>
                <a:ea typeface="Calibri" pitchFamily="34" charset="-122"/>
                <a:cs typeface="Calibri" pitchFamily="34" charset="-120"/>
              </a:rPr>
              <a:t>Mixed responses</a:t>
            </a:r>
            <a:endParaRPr lang="en-US" sz="1200" dirty="0"/>
          </a:p>
        </p:txBody>
      </p:sp>
      <p:sp>
        <p:nvSpPr>
          <p:cNvPr id="30" name="Shape 28"/>
          <p:cNvSpPr/>
          <p:nvPr/>
        </p:nvSpPr>
        <p:spPr>
          <a:xfrm>
            <a:off x="548640" y="5029200"/>
            <a:ext cx="11064240" cy="457200"/>
          </a:xfrm>
          <a:prstGeom prst="rect">
            <a:avLst/>
          </a:prstGeom>
          <a:solidFill>
            <a:srgbClr val="FFFFFF"/>
          </a:solidFill>
          <a:ln w="12700">
            <a:solidFill>
              <a:srgbClr val="E5E0D5"/>
            </a:solidFill>
            <a:prstDash val="solid"/>
          </a:ln>
        </p:spPr>
        <p:txBody>
          <a:bodyPr/>
          <a:lstStyle/>
          <a:p>
            <a:endParaRPr lang="en-US"/>
          </a:p>
        </p:txBody>
      </p:sp>
      <p:sp>
        <p:nvSpPr>
          <p:cNvPr id="31" name="Shape 29"/>
          <p:cNvSpPr/>
          <p:nvPr/>
        </p:nvSpPr>
        <p:spPr>
          <a:xfrm>
            <a:off x="640080" y="5074920"/>
            <a:ext cx="365760" cy="365760"/>
          </a:xfrm>
          <a:prstGeom prst="ellipse">
            <a:avLst/>
          </a:prstGeom>
          <a:solidFill>
            <a:srgbClr val="5A6B72"/>
          </a:solidFill>
          <a:ln w="12700">
            <a:solidFill>
              <a:srgbClr val="5A6B72"/>
            </a:solidFill>
            <a:prstDash val="solid"/>
          </a:ln>
        </p:spPr>
        <p:txBody>
          <a:bodyPr/>
          <a:lstStyle/>
          <a:p>
            <a:endParaRPr lang="en-US"/>
          </a:p>
        </p:txBody>
      </p:sp>
      <p:sp>
        <p:nvSpPr>
          <p:cNvPr id="32" name="Text 30"/>
          <p:cNvSpPr/>
          <p:nvPr/>
        </p:nvSpPr>
        <p:spPr>
          <a:xfrm>
            <a:off x="640080" y="50749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6</a:t>
            </a:r>
            <a:endParaRPr lang="en-US" sz="1400" dirty="0"/>
          </a:p>
        </p:txBody>
      </p:sp>
      <p:sp>
        <p:nvSpPr>
          <p:cNvPr id="33" name="Text 31"/>
          <p:cNvSpPr/>
          <p:nvPr/>
        </p:nvSpPr>
        <p:spPr>
          <a:xfrm>
            <a:off x="1143000" y="5029200"/>
            <a:ext cx="5029200" cy="457200"/>
          </a:xfrm>
          <a:prstGeom prst="rect">
            <a:avLst/>
          </a:prstGeom>
          <a:noFill/>
          <a:ln/>
        </p:spPr>
        <p:txBody>
          <a:bodyPr wrap="square" lIns="0" tIns="0" rIns="0" bIns="0" rtlCol="0" anchor="ctr"/>
          <a:lstStyle/>
          <a:p>
            <a:pPr marL="0" indent="0">
              <a:buNone/>
            </a:pPr>
            <a:r>
              <a:rPr lang="en-US" sz="1400" b="1" dirty="0">
                <a:solidFill>
                  <a:srgbClr val="0F3D4C"/>
                </a:solidFill>
                <a:latin typeface="Calibri" pitchFamily="34" charset="0"/>
                <a:ea typeface="Calibri" pitchFamily="34" charset="-122"/>
                <a:cs typeface="Calibri" pitchFamily="34" charset="-120"/>
              </a:rPr>
              <a:t>News Media</a:t>
            </a:r>
            <a:endParaRPr lang="en-US" sz="1400" dirty="0"/>
          </a:p>
        </p:txBody>
      </p:sp>
      <p:sp>
        <p:nvSpPr>
          <p:cNvPr id="34" name="Text 32"/>
          <p:cNvSpPr/>
          <p:nvPr/>
        </p:nvSpPr>
        <p:spPr>
          <a:xfrm>
            <a:off x="6263640" y="5029200"/>
            <a:ext cx="5212080" cy="457200"/>
          </a:xfrm>
          <a:prstGeom prst="rect">
            <a:avLst/>
          </a:prstGeom>
          <a:noFill/>
          <a:ln/>
        </p:spPr>
        <p:txBody>
          <a:bodyPr wrap="square" lIns="0" tIns="0" rIns="0" bIns="0" rtlCol="0" anchor="ctr"/>
          <a:lstStyle/>
          <a:p>
            <a:pPr marL="0" indent="0">
              <a:buNone/>
            </a:pPr>
            <a:r>
              <a:rPr lang="en-US" sz="1200" i="1" dirty="0">
                <a:solidFill>
                  <a:srgbClr val="5A6B72"/>
                </a:solidFill>
                <a:latin typeface="Calibri" pitchFamily="34" charset="0"/>
                <a:ea typeface="Calibri" pitchFamily="34" charset="-122"/>
                <a:cs typeface="Calibri" pitchFamily="34" charset="-120"/>
              </a:rPr>
              <a:t>Lower trust overall</a:t>
            </a:r>
            <a:endParaRPr lang="en-US" sz="1200" dirty="0"/>
          </a:p>
        </p:txBody>
      </p:sp>
      <p:sp>
        <p:nvSpPr>
          <p:cNvPr id="35" name="Shape 33"/>
          <p:cNvSpPr/>
          <p:nvPr/>
        </p:nvSpPr>
        <p:spPr>
          <a:xfrm>
            <a:off x="548640" y="5577840"/>
            <a:ext cx="11064240" cy="457200"/>
          </a:xfrm>
          <a:prstGeom prst="rect">
            <a:avLst/>
          </a:prstGeom>
          <a:solidFill>
            <a:srgbClr val="FFFFFF"/>
          </a:solidFill>
          <a:ln w="12700">
            <a:solidFill>
              <a:srgbClr val="E5E0D5"/>
            </a:solidFill>
            <a:prstDash val="solid"/>
          </a:ln>
        </p:spPr>
        <p:txBody>
          <a:bodyPr/>
          <a:lstStyle/>
          <a:p>
            <a:endParaRPr lang="en-US"/>
          </a:p>
        </p:txBody>
      </p:sp>
      <p:sp>
        <p:nvSpPr>
          <p:cNvPr id="36" name="Shape 34"/>
          <p:cNvSpPr/>
          <p:nvPr/>
        </p:nvSpPr>
        <p:spPr>
          <a:xfrm>
            <a:off x="640080" y="5623560"/>
            <a:ext cx="365760" cy="365760"/>
          </a:xfrm>
          <a:prstGeom prst="ellipse">
            <a:avLst/>
          </a:prstGeom>
          <a:solidFill>
            <a:srgbClr val="5A6B72"/>
          </a:solidFill>
          <a:ln w="12700">
            <a:solidFill>
              <a:srgbClr val="5A6B72"/>
            </a:solidFill>
            <a:prstDash val="solid"/>
          </a:ln>
        </p:spPr>
        <p:txBody>
          <a:bodyPr/>
          <a:lstStyle/>
          <a:p>
            <a:endParaRPr lang="en-US"/>
          </a:p>
        </p:txBody>
      </p:sp>
      <p:sp>
        <p:nvSpPr>
          <p:cNvPr id="37" name="Text 35"/>
          <p:cNvSpPr/>
          <p:nvPr/>
        </p:nvSpPr>
        <p:spPr>
          <a:xfrm>
            <a:off x="640080" y="56235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7</a:t>
            </a:r>
            <a:endParaRPr lang="en-US" sz="1400" dirty="0"/>
          </a:p>
        </p:txBody>
      </p:sp>
      <p:sp>
        <p:nvSpPr>
          <p:cNvPr id="38" name="Text 36"/>
          <p:cNvSpPr/>
          <p:nvPr/>
        </p:nvSpPr>
        <p:spPr>
          <a:xfrm>
            <a:off x="1143000" y="5577840"/>
            <a:ext cx="5029200" cy="457200"/>
          </a:xfrm>
          <a:prstGeom prst="rect">
            <a:avLst/>
          </a:prstGeom>
          <a:noFill/>
          <a:ln/>
        </p:spPr>
        <p:txBody>
          <a:bodyPr wrap="square" lIns="0" tIns="0" rIns="0" bIns="0" rtlCol="0" anchor="ctr"/>
          <a:lstStyle/>
          <a:p>
            <a:pPr marL="0" indent="0">
              <a:buNone/>
            </a:pPr>
            <a:r>
              <a:rPr lang="en-US" sz="1400" b="1" dirty="0">
                <a:solidFill>
                  <a:srgbClr val="0F3D4C"/>
                </a:solidFill>
                <a:latin typeface="Calibri" pitchFamily="34" charset="0"/>
                <a:ea typeface="Calibri" pitchFamily="34" charset="-122"/>
                <a:cs typeface="Calibri" pitchFamily="34" charset="-120"/>
              </a:rPr>
              <a:t>Social Media</a:t>
            </a:r>
            <a:endParaRPr lang="en-US" sz="1400" dirty="0"/>
          </a:p>
        </p:txBody>
      </p:sp>
      <p:sp>
        <p:nvSpPr>
          <p:cNvPr id="39" name="Text 37"/>
          <p:cNvSpPr/>
          <p:nvPr/>
        </p:nvSpPr>
        <p:spPr>
          <a:xfrm>
            <a:off x="6263640" y="5577840"/>
            <a:ext cx="5212080" cy="457200"/>
          </a:xfrm>
          <a:prstGeom prst="rect">
            <a:avLst/>
          </a:prstGeom>
          <a:noFill/>
          <a:ln/>
        </p:spPr>
        <p:txBody>
          <a:bodyPr wrap="square" lIns="0" tIns="0" rIns="0" bIns="0" rtlCol="0" anchor="ctr"/>
          <a:lstStyle/>
          <a:p>
            <a:pPr marL="0" indent="0">
              <a:buNone/>
            </a:pPr>
            <a:r>
              <a:rPr lang="en-US" sz="1200" i="1" dirty="0">
                <a:solidFill>
                  <a:srgbClr val="5A6B72"/>
                </a:solidFill>
                <a:latin typeface="Calibri" pitchFamily="34" charset="0"/>
                <a:ea typeface="Calibri" pitchFamily="34" charset="-122"/>
                <a:cs typeface="Calibri" pitchFamily="34" charset="-120"/>
              </a:rPr>
              <a:t>Lowest reported influence</a:t>
            </a:r>
            <a:endParaRPr lang="en-US" sz="1200" dirty="0"/>
          </a:p>
        </p:txBody>
      </p:sp>
      <p:sp>
        <p:nvSpPr>
          <p:cNvPr id="40" name="Text 38"/>
          <p:cNvSpPr/>
          <p:nvPr/>
        </p:nvSpPr>
        <p:spPr>
          <a:xfrm>
            <a:off x="457200" y="6446520"/>
            <a:ext cx="8229600" cy="274320"/>
          </a:xfrm>
          <a:prstGeom prst="rect">
            <a:avLst/>
          </a:prstGeom>
          <a:noFill/>
          <a:ln/>
        </p:spPr>
        <p:txBody>
          <a:bodyPr wrap="square" lIns="0" tIns="0" rIns="0" bIns="0" rtlCol="0" anchor="ctr"/>
          <a:lstStyle/>
          <a:p>
            <a:pPr marL="0" indent="0" algn="l">
              <a:buNone/>
            </a:pPr>
            <a:r>
              <a:rPr lang="en-US" sz="900" dirty="0">
                <a:solidFill>
                  <a:srgbClr val="5A6B72"/>
                </a:solidFill>
                <a:latin typeface="Calibri" pitchFamily="34" charset="0"/>
                <a:ea typeface="Calibri" pitchFamily="34" charset="-122"/>
                <a:cs typeface="Calibri" pitchFamily="34" charset="-120"/>
              </a:rPr>
              <a:t>Julia Monson  |  BAIS 4720  |  COVID-19 Vaccination &amp; Mortality</a:t>
            </a:r>
            <a:endParaRPr lang="en-US" sz="900" dirty="0"/>
          </a:p>
        </p:txBody>
      </p:sp>
      <p:sp>
        <p:nvSpPr>
          <p:cNvPr id="41" name="Text 39"/>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5A6B72"/>
                </a:solidFill>
                <a:latin typeface="Calibri" pitchFamily="34" charset="0"/>
                <a:ea typeface="Calibri" pitchFamily="34" charset="-122"/>
                <a:cs typeface="Calibri" pitchFamily="34" charset="-120"/>
              </a:rPr>
              <a:t>14 / 17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marL="0" indent="0">
              <a:buNone/>
            </a:pPr>
            <a:r>
              <a:rPr lang="en-US" sz="1100" b="1" kern="0" spc="400" dirty="0">
                <a:solidFill>
                  <a:srgbClr val="0E8388"/>
                </a:solidFill>
                <a:latin typeface="Calibri" pitchFamily="34" charset="0"/>
                <a:ea typeface="Calibri" pitchFamily="34" charset="-122"/>
                <a:cs typeface="Calibri" pitchFamily="34" charset="-120"/>
              </a:rPr>
              <a:t>SURVEY FINDINGS</a:t>
            </a:r>
            <a:endParaRPr lang="en-US" sz="1100" dirty="0"/>
          </a:p>
        </p:txBody>
      </p:sp>
      <p:sp>
        <p:nvSpPr>
          <p:cNvPr id="3" name="Text 1"/>
          <p:cNvSpPr/>
          <p:nvPr/>
        </p:nvSpPr>
        <p:spPr>
          <a:xfrm>
            <a:off x="548640" y="685800"/>
            <a:ext cx="10972800" cy="640080"/>
          </a:xfrm>
          <a:prstGeom prst="rect">
            <a:avLst/>
          </a:prstGeom>
          <a:noFill/>
          <a:ln/>
        </p:spPr>
        <p:txBody>
          <a:bodyPr wrap="square" lIns="0" tIns="0" rIns="0" bIns="0" rtlCol="0" anchor="ctr"/>
          <a:lstStyle/>
          <a:p>
            <a:pPr marL="0" indent="0">
              <a:buNone/>
            </a:pPr>
            <a:r>
              <a:rPr lang="en-US" sz="3200" b="1" dirty="0">
                <a:solidFill>
                  <a:srgbClr val="0F3D4C"/>
                </a:solidFill>
                <a:latin typeface="Georgia" pitchFamily="34" charset="0"/>
                <a:ea typeface="Georgia" pitchFamily="34" charset="-122"/>
                <a:cs typeface="Georgia" pitchFamily="34" charset="-120"/>
              </a:rPr>
              <a:t>What People Said in Their Own Words</a:t>
            </a:r>
            <a:endParaRPr lang="en-US" sz="3200" dirty="0"/>
          </a:p>
        </p:txBody>
      </p:sp>
      <p:sp>
        <p:nvSpPr>
          <p:cNvPr id="4" name="Text 2"/>
          <p:cNvSpPr/>
          <p:nvPr/>
        </p:nvSpPr>
        <p:spPr>
          <a:xfrm>
            <a:off x="548640" y="1783080"/>
            <a:ext cx="11064240" cy="365760"/>
          </a:xfrm>
          <a:prstGeom prst="rect">
            <a:avLst/>
          </a:prstGeom>
          <a:noFill/>
          <a:ln/>
        </p:spPr>
        <p:txBody>
          <a:bodyPr wrap="square" lIns="0" tIns="0" rIns="0" bIns="0" rtlCol="0" anchor="ctr"/>
          <a:lstStyle/>
          <a:p>
            <a:pPr marL="0" indent="0">
              <a:buNone/>
            </a:pPr>
            <a:r>
              <a:rPr lang="en-US" sz="1300" i="1" dirty="0">
                <a:solidFill>
                  <a:srgbClr val="5A6B72"/>
                </a:solidFill>
                <a:latin typeface="Calibri" pitchFamily="34" charset="0"/>
                <a:ea typeface="Calibri" pitchFamily="34" charset="-122"/>
                <a:cs typeface="Calibri" pitchFamily="34" charset="-120"/>
              </a:rPr>
              <a:t>"Please briefly explain the main reason for your vaccination decision."</a:t>
            </a:r>
            <a:endParaRPr lang="en-US" sz="1300" dirty="0"/>
          </a:p>
        </p:txBody>
      </p:sp>
      <p:sp>
        <p:nvSpPr>
          <p:cNvPr id="5" name="Shape 3"/>
          <p:cNvSpPr/>
          <p:nvPr/>
        </p:nvSpPr>
        <p:spPr>
          <a:xfrm>
            <a:off x="548640" y="2286000"/>
            <a:ext cx="5440680" cy="1737360"/>
          </a:xfrm>
          <a:prstGeom prst="rect">
            <a:avLst/>
          </a:prstGeom>
          <a:solidFill>
            <a:srgbClr val="FFFFFF"/>
          </a:solidFill>
          <a:ln w="12700">
            <a:solidFill>
              <a:srgbClr val="E5E0D5"/>
            </a:solidFill>
            <a:prstDash val="solid"/>
          </a:ln>
          <a:effectLst>
            <a:outerShdw blurRad="101600" dist="25400" dir="5400000" algn="bl" rotWithShape="0">
              <a:srgbClr val="000000">
                <a:alpha val="6000"/>
              </a:srgbClr>
            </a:outerShdw>
          </a:effectLst>
        </p:spPr>
        <p:txBody>
          <a:bodyPr/>
          <a:lstStyle/>
          <a:p>
            <a:endParaRPr lang="en-US"/>
          </a:p>
        </p:txBody>
      </p:sp>
      <p:sp>
        <p:nvSpPr>
          <p:cNvPr id="6" name="Shape 4"/>
          <p:cNvSpPr/>
          <p:nvPr/>
        </p:nvSpPr>
        <p:spPr>
          <a:xfrm>
            <a:off x="548640" y="2286000"/>
            <a:ext cx="73152" cy="1737360"/>
          </a:xfrm>
          <a:prstGeom prst="rect">
            <a:avLst/>
          </a:prstGeom>
          <a:solidFill>
            <a:srgbClr val="0E8388"/>
          </a:solidFill>
          <a:ln w="12700">
            <a:solidFill>
              <a:srgbClr val="0E8388"/>
            </a:solidFill>
            <a:prstDash val="solid"/>
          </a:ln>
        </p:spPr>
        <p:txBody>
          <a:bodyPr/>
          <a:lstStyle/>
          <a:p>
            <a:endParaRPr lang="en-US"/>
          </a:p>
        </p:txBody>
      </p:sp>
      <p:sp>
        <p:nvSpPr>
          <p:cNvPr id="7" name="Text 5"/>
          <p:cNvSpPr/>
          <p:nvPr/>
        </p:nvSpPr>
        <p:spPr>
          <a:xfrm>
            <a:off x="777240" y="2377440"/>
            <a:ext cx="5120640" cy="365760"/>
          </a:xfrm>
          <a:prstGeom prst="rect">
            <a:avLst/>
          </a:prstGeom>
          <a:noFill/>
          <a:ln/>
        </p:spPr>
        <p:txBody>
          <a:bodyPr wrap="square" lIns="0" tIns="0" rIns="0" bIns="0" rtlCol="0" anchor="ctr"/>
          <a:lstStyle/>
          <a:p>
            <a:pPr marL="0" indent="0">
              <a:buNone/>
            </a:pPr>
            <a:r>
              <a:rPr lang="en-US" sz="1600" b="1" dirty="0">
                <a:solidFill>
                  <a:srgbClr val="0F3D4C"/>
                </a:solidFill>
                <a:latin typeface="Georgia" pitchFamily="34" charset="0"/>
                <a:ea typeface="Georgia" pitchFamily="34" charset="-122"/>
                <a:cs typeface="Georgia" pitchFamily="34" charset="-120"/>
              </a:rPr>
              <a:t>Requirements</a:t>
            </a:r>
            <a:endParaRPr lang="en-US" sz="1600" dirty="0"/>
          </a:p>
        </p:txBody>
      </p:sp>
      <p:sp>
        <p:nvSpPr>
          <p:cNvPr id="8" name="Text 6"/>
          <p:cNvSpPr/>
          <p:nvPr/>
        </p:nvSpPr>
        <p:spPr>
          <a:xfrm>
            <a:off x="777240" y="2788920"/>
            <a:ext cx="5120640" cy="457200"/>
          </a:xfrm>
          <a:prstGeom prst="rect">
            <a:avLst/>
          </a:prstGeom>
          <a:noFill/>
          <a:ln/>
        </p:spPr>
        <p:txBody>
          <a:bodyPr wrap="square" lIns="0" tIns="0" rIns="0" bIns="0" rtlCol="0" anchor="ctr"/>
          <a:lstStyle/>
          <a:p>
            <a:pPr marL="0" indent="0">
              <a:buNone/>
            </a:pPr>
            <a:r>
              <a:rPr lang="en-US" sz="1200" dirty="0">
                <a:solidFill>
                  <a:srgbClr val="1E1E1E"/>
                </a:solidFill>
                <a:latin typeface="Calibri" pitchFamily="34" charset="0"/>
                <a:ea typeface="Calibri" pitchFamily="34" charset="-122"/>
                <a:cs typeface="Calibri" pitchFamily="34" charset="-120"/>
              </a:rPr>
              <a:t>School, work, military, and travel rules drove many vaccinations</a:t>
            </a:r>
            <a:endParaRPr lang="en-US" sz="1200" dirty="0"/>
          </a:p>
        </p:txBody>
      </p:sp>
      <p:sp>
        <p:nvSpPr>
          <p:cNvPr id="9" name="Text 7"/>
          <p:cNvSpPr/>
          <p:nvPr/>
        </p:nvSpPr>
        <p:spPr>
          <a:xfrm>
            <a:off x="777240" y="3337560"/>
            <a:ext cx="5120640" cy="594360"/>
          </a:xfrm>
          <a:prstGeom prst="rect">
            <a:avLst/>
          </a:prstGeom>
          <a:noFill/>
          <a:ln/>
        </p:spPr>
        <p:txBody>
          <a:bodyPr wrap="square" lIns="0" tIns="0" rIns="0" bIns="0" rtlCol="0" anchor="ctr"/>
          <a:lstStyle/>
          <a:p>
            <a:pPr marL="0" indent="0">
              <a:buNone/>
            </a:pPr>
            <a:r>
              <a:rPr lang="en-US" sz="1200" i="1" dirty="0">
                <a:solidFill>
                  <a:srgbClr val="0E8388"/>
                </a:solidFill>
                <a:latin typeface="Georgia" pitchFamily="34" charset="0"/>
                <a:ea typeface="Georgia" pitchFamily="34" charset="-122"/>
                <a:cs typeface="Georgia" pitchFamily="34" charset="-120"/>
              </a:rPr>
              <a:t>"I'm in the military so it was required and I had no choice."</a:t>
            </a:r>
            <a:endParaRPr lang="en-US" sz="1200" dirty="0"/>
          </a:p>
        </p:txBody>
      </p:sp>
      <p:sp>
        <p:nvSpPr>
          <p:cNvPr id="10" name="Shape 8"/>
          <p:cNvSpPr/>
          <p:nvPr/>
        </p:nvSpPr>
        <p:spPr>
          <a:xfrm>
            <a:off x="6172200" y="2286000"/>
            <a:ext cx="5440680" cy="1737360"/>
          </a:xfrm>
          <a:prstGeom prst="rect">
            <a:avLst/>
          </a:prstGeom>
          <a:solidFill>
            <a:srgbClr val="FFFFFF"/>
          </a:solidFill>
          <a:ln w="12700">
            <a:solidFill>
              <a:srgbClr val="E5E0D5"/>
            </a:solidFill>
            <a:prstDash val="solid"/>
          </a:ln>
          <a:effectLst>
            <a:outerShdw blurRad="101600" dist="25400" dir="5400000" algn="bl" rotWithShape="0">
              <a:srgbClr val="000000">
                <a:alpha val="6000"/>
              </a:srgbClr>
            </a:outerShdw>
          </a:effectLst>
        </p:spPr>
        <p:txBody>
          <a:bodyPr/>
          <a:lstStyle/>
          <a:p>
            <a:endParaRPr lang="en-US"/>
          </a:p>
        </p:txBody>
      </p:sp>
      <p:sp>
        <p:nvSpPr>
          <p:cNvPr id="11" name="Shape 9"/>
          <p:cNvSpPr/>
          <p:nvPr/>
        </p:nvSpPr>
        <p:spPr>
          <a:xfrm>
            <a:off x="6172200" y="2286000"/>
            <a:ext cx="73152" cy="1737360"/>
          </a:xfrm>
          <a:prstGeom prst="rect">
            <a:avLst/>
          </a:prstGeom>
          <a:solidFill>
            <a:srgbClr val="0E8388"/>
          </a:solidFill>
          <a:ln w="12700">
            <a:solidFill>
              <a:srgbClr val="0E8388"/>
            </a:solidFill>
            <a:prstDash val="solid"/>
          </a:ln>
        </p:spPr>
        <p:txBody>
          <a:bodyPr/>
          <a:lstStyle/>
          <a:p>
            <a:endParaRPr lang="en-US"/>
          </a:p>
        </p:txBody>
      </p:sp>
      <p:sp>
        <p:nvSpPr>
          <p:cNvPr id="12" name="Text 10"/>
          <p:cNvSpPr/>
          <p:nvPr/>
        </p:nvSpPr>
        <p:spPr>
          <a:xfrm>
            <a:off x="6400800" y="2377440"/>
            <a:ext cx="5120640" cy="365760"/>
          </a:xfrm>
          <a:prstGeom prst="rect">
            <a:avLst/>
          </a:prstGeom>
          <a:noFill/>
          <a:ln/>
        </p:spPr>
        <p:txBody>
          <a:bodyPr wrap="square" lIns="0" tIns="0" rIns="0" bIns="0" rtlCol="0" anchor="ctr"/>
          <a:lstStyle/>
          <a:p>
            <a:pPr marL="0" indent="0">
              <a:buNone/>
            </a:pPr>
            <a:r>
              <a:rPr lang="en-US" sz="1600" b="1" dirty="0">
                <a:solidFill>
                  <a:srgbClr val="0F3D4C"/>
                </a:solidFill>
                <a:latin typeface="Georgia" pitchFamily="34" charset="0"/>
                <a:ea typeface="Georgia" pitchFamily="34" charset="-122"/>
                <a:cs typeface="Georgia" pitchFamily="34" charset="-120"/>
              </a:rPr>
              <a:t>Loved Ones</a:t>
            </a:r>
            <a:endParaRPr lang="en-US" sz="1600" dirty="0"/>
          </a:p>
        </p:txBody>
      </p:sp>
      <p:sp>
        <p:nvSpPr>
          <p:cNvPr id="13" name="Text 11"/>
          <p:cNvSpPr/>
          <p:nvPr/>
        </p:nvSpPr>
        <p:spPr>
          <a:xfrm>
            <a:off x="6400800" y="2788920"/>
            <a:ext cx="5120640" cy="457200"/>
          </a:xfrm>
          <a:prstGeom prst="rect">
            <a:avLst/>
          </a:prstGeom>
          <a:noFill/>
          <a:ln/>
        </p:spPr>
        <p:txBody>
          <a:bodyPr wrap="square" lIns="0" tIns="0" rIns="0" bIns="0" rtlCol="0" anchor="ctr"/>
          <a:lstStyle/>
          <a:p>
            <a:pPr marL="0" indent="0">
              <a:buNone/>
            </a:pPr>
            <a:r>
              <a:rPr lang="en-US" sz="1200" dirty="0">
                <a:solidFill>
                  <a:srgbClr val="1E1E1E"/>
                </a:solidFill>
                <a:latin typeface="Calibri" pitchFamily="34" charset="0"/>
                <a:ea typeface="Calibri" pitchFamily="34" charset="-122"/>
                <a:cs typeface="Calibri" pitchFamily="34" charset="-120"/>
              </a:rPr>
              <a:t>Concern for vulnerable family members was a major motivator</a:t>
            </a:r>
            <a:endParaRPr lang="en-US" sz="1200" dirty="0"/>
          </a:p>
        </p:txBody>
      </p:sp>
      <p:sp>
        <p:nvSpPr>
          <p:cNvPr id="14" name="Text 12"/>
          <p:cNvSpPr/>
          <p:nvPr/>
        </p:nvSpPr>
        <p:spPr>
          <a:xfrm>
            <a:off x="6400800" y="3337560"/>
            <a:ext cx="5120640" cy="594360"/>
          </a:xfrm>
          <a:prstGeom prst="rect">
            <a:avLst/>
          </a:prstGeom>
          <a:noFill/>
          <a:ln/>
        </p:spPr>
        <p:txBody>
          <a:bodyPr wrap="square" lIns="0" tIns="0" rIns="0" bIns="0" rtlCol="0" anchor="ctr"/>
          <a:lstStyle/>
          <a:p>
            <a:pPr marL="0" indent="0">
              <a:buNone/>
            </a:pPr>
            <a:r>
              <a:rPr lang="en-US" sz="1200" i="1" dirty="0">
                <a:solidFill>
                  <a:srgbClr val="0E8388"/>
                </a:solidFill>
                <a:latin typeface="Georgia" pitchFamily="34" charset="0"/>
                <a:ea typeface="Georgia" pitchFamily="34" charset="-122"/>
                <a:cs typeface="Georgia" pitchFamily="34" charset="-120"/>
              </a:rPr>
              <a:t>"I have close relatives who are immunocompromised and I didn't want to risk getting them sick."</a:t>
            </a:r>
            <a:endParaRPr lang="en-US" sz="1200" dirty="0"/>
          </a:p>
        </p:txBody>
      </p:sp>
      <p:sp>
        <p:nvSpPr>
          <p:cNvPr id="15" name="Shape 13"/>
          <p:cNvSpPr/>
          <p:nvPr/>
        </p:nvSpPr>
        <p:spPr>
          <a:xfrm>
            <a:off x="548640" y="4160520"/>
            <a:ext cx="5440680" cy="1737360"/>
          </a:xfrm>
          <a:prstGeom prst="rect">
            <a:avLst/>
          </a:prstGeom>
          <a:solidFill>
            <a:srgbClr val="FFFFFF"/>
          </a:solidFill>
          <a:ln w="12700">
            <a:solidFill>
              <a:srgbClr val="E5E0D5"/>
            </a:solidFill>
            <a:prstDash val="solid"/>
          </a:ln>
          <a:effectLst>
            <a:outerShdw blurRad="101600" dist="25400" dir="5400000" algn="bl" rotWithShape="0">
              <a:srgbClr val="000000">
                <a:alpha val="6000"/>
              </a:srgbClr>
            </a:outerShdw>
          </a:effectLst>
        </p:spPr>
        <p:txBody>
          <a:bodyPr/>
          <a:lstStyle/>
          <a:p>
            <a:endParaRPr lang="en-US"/>
          </a:p>
        </p:txBody>
      </p:sp>
      <p:sp>
        <p:nvSpPr>
          <p:cNvPr id="16" name="Shape 14"/>
          <p:cNvSpPr/>
          <p:nvPr/>
        </p:nvSpPr>
        <p:spPr>
          <a:xfrm>
            <a:off x="548640" y="4160520"/>
            <a:ext cx="73152" cy="1737360"/>
          </a:xfrm>
          <a:prstGeom prst="rect">
            <a:avLst/>
          </a:prstGeom>
          <a:solidFill>
            <a:srgbClr val="0E8388"/>
          </a:solidFill>
          <a:ln w="12700">
            <a:solidFill>
              <a:srgbClr val="0E8388"/>
            </a:solidFill>
            <a:prstDash val="solid"/>
          </a:ln>
        </p:spPr>
        <p:txBody>
          <a:bodyPr/>
          <a:lstStyle/>
          <a:p>
            <a:endParaRPr lang="en-US"/>
          </a:p>
        </p:txBody>
      </p:sp>
      <p:sp>
        <p:nvSpPr>
          <p:cNvPr id="17" name="Text 15"/>
          <p:cNvSpPr/>
          <p:nvPr/>
        </p:nvSpPr>
        <p:spPr>
          <a:xfrm>
            <a:off x="777240" y="4251960"/>
            <a:ext cx="5120640" cy="365760"/>
          </a:xfrm>
          <a:prstGeom prst="rect">
            <a:avLst/>
          </a:prstGeom>
          <a:noFill/>
          <a:ln/>
        </p:spPr>
        <p:txBody>
          <a:bodyPr wrap="square" lIns="0" tIns="0" rIns="0" bIns="0" rtlCol="0" anchor="ctr"/>
          <a:lstStyle/>
          <a:p>
            <a:pPr marL="0" indent="0">
              <a:buNone/>
            </a:pPr>
            <a:r>
              <a:rPr lang="en-US" sz="1600" b="1" dirty="0">
                <a:solidFill>
                  <a:srgbClr val="0F3D4C"/>
                </a:solidFill>
                <a:latin typeface="Georgia" pitchFamily="34" charset="0"/>
                <a:ea typeface="Georgia" pitchFamily="34" charset="-122"/>
                <a:cs typeface="Georgia" pitchFamily="34" charset="-120"/>
              </a:rPr>
              <a:t>Distrust</a:t>
            </a:r>
            <a:endParaRPr lang="en-US" sz="1600" dirty="0"/>
          </a:p>
        </p:txBody>
      </p:sp>
      <p:sp>
        <p:nvSpPr>
          <p:cNvPr id="18" name="Text 16"/>
          <p:cNvSpPr/>
          <p:nvPr/>
        </p:nvSpPr>
        <p:spPr>
          <a:xfrm>
            <a:off x="777240" y="4663440"/>
            <a:ext cx="5120640" cy="457200"/>
          </a:xfrm>
          <a:prstGeom prst="rect">
            <a:avLst/>
          </a:prstGeom>
          <a:noFill/>
          <a:ln/>
        </p:spPr>
        <p:txBody>
          <a:bodyPr wrap="square" lIns="0" tIns="0" rIns="0" bIns="0" rtlCol="0" anchor="ctr"/>
          <a:lstStyle/>
          <a:p>
            <a:pPr marL="0" indent="0">
              <a:buNone/>
            </a:pPr>
            <a:r>
              <a:rPr lang="en-US" sz="1200" dirty="0">
                <a:solidFill>
                  <a:srgbClr val="1E1E1E"/>
                </a:solidFill>
                <a:latin typeface="Calibri" pitchFamily="34" charset="0"/>
                <a:ea typeface="Calibri" pitchFamily="34" charset="-122"/>
                <a:cs typeface="Calibri" pitchFamily="34" charset="-120"/>
              </a:rPr>
              <a:t>Some declined due to perceived ineffectiveness or unknown long-term effects</a:t>
            </a:r>
            <a:endParaRPr lang="en-US" sz="1200" dirty="0"/>
          </a:p>
        </p:txBody>
      </p:sp>
      <p:sp>
        <p:nvSpPr>
          <p:cNvPr id="19" name="Text 17"/>
          <p:cNvSpPr/>
          <p:nvPr/>
        </p:nvSpPr>
        <p:spPr>
          <a:xfrm>
            <a:off x="777240" y="5212080"/>
            <a:ext cx="5120640" cy="594360"/>
          </a:xfrm>
          <a:prstGeom prst="rect">
            <a:avLst/>
          </a:prstGeom>
          <a:noFill/>
          <a:ln/>
        </p:spPr>
        <p:txBody>
          <a:bodyPr wrap="square" lIns="0" tIns="0" rIns="0" bIns="0" rtlCol="0" anchor="ctr"/>
          <a:lstStyle/>
          <a:p>
            <a:pPr marL="0" indent="0">
              <a:buNone/>
            </a:pPr>
            <a:r>
              <a:rPr lang="en-US" sz="1200" i="1" dirty="0">
                <a:solidFill>
                  <a:srgbClr val="0E8388"/>
                </a:solidFill>
                <a:latin typeface="Georgia" pitchFamily="34" charset="0"/>
                <a:ea typeface="Georgia" pitchFamily="34" charset="-122"/>
                <a:cs typeface="Georgia" pitchFamily="34" charset="-120"/>
              </a:rPr>
              <a:t>"I knew people who got vaccinated and still had COVID multiple times so I didn't feel the need."</a:t>
            </a:r>
            <a:endParaRPr lang="en-US" sz="1200" dirty="0"/>
          </a:p>
        </p:txBody>
      </p:sp>
      <p:sp>
        <p:nvSpPr>
          <p:cNvPr id="20" name="Shape 18"/>
          <p:cNvSpPr/>
          <p:nvPr/>
        </p:nvSpPr>
        <p:spPr>
          <a:xfrm>
            <a:off x="6172200" y="4160520"/>
            <a:ext cx="5440680" cy="1737360"/>
          </a:xfrm>
          <a:prstGeom prst="rect">
            <a:avLst/>
          </a:prstGeom>
          <a:solidFill>
            <a:srgbClr val="FFFFFF"/>
          </a:solidFill>
          <a:ln w="12700">
            <a:solidFill>
              <a:srgbClr val="E5E0D5"/>
            </a:solidFill>
            <a:prstDash val="solid"/>
          </a:ln>
          <a:effectLst>
            <a:outerShdw blurRad="101600" dist="25400" dir="5400000" algn="bl" rotWithShape="0">
              <a:srgbClr val="000000">
                <a:alpha val="6000"/>
              </a:srgbClr>
            </a:outerShdw>
          </a:effectLst>
        </p:spPr>
        <p:txBody>
          <a:bodyPr/>
          <a:lstStyle/>
          <a:p>
            <a:endParaRPr lang="en-US"/>
          </a:p>
        </p:txBody>
      </p:sp>
      <p:sp>
        <p:nvSpPr>
          <p:cNvPr id="21" name="Shape 19"/>
          <p:cNvSpPr/>
          <p:nvPr/>
        </p:nvSpPr>
        <p:spPr>
          <a:xfrm>
            <a:off x="6172200" y="4160520"/>
            <a:ext cx="73152" cy="1737360"/>
          </a:xfrm>
          <a:prstGeom prst="rect">
            <a:avLst/>
          </a:prstGeom>
          <a:solidFill>
            <a:srgbClr val="0E8388"/>
          </a:solidFill>
          <a:ln w="12700">
            <a:solidFill>
              <a:srgbClr val="0E8388"/>
            </a:solidFill>
            <a:prstDash val="solid"/>
          </a:ln>
        </p:spPr>
        <p:txBody>
          <a:bodyPr/>
          <a:lstStyle/>
          <a:p>
            <a:endParaRPr lang="en-US"/>
          </a:p>
        </p:txBody>
      </p:sp>
      <p:sp>
        <p:nvSpPr>
          <p:cNvPr id="22" name="Text 20"/>
          <p:cNvSpPr/>
          <p:nvPr/>
        </p:nvSpPr>
        <p:spPr>
          <a:xfrm>
            <a:off x="6400800" y="4251960"/>
            <a:ext cx="5120640" cy="365760"/>
          </a:xfrm>
          <a:prstGeom prst="rect">
            <a:avLst/>
          </a:prstGeom>
          <a:noFill/>
          <a:ln/>
        </p:spPr>
        <p:txBody>
          <a:bodyPr wrap="square" lIns="0" tIns="0" rIns="0" bIns="0" rtlCol="0" anchor="ctr"/>
          <a:lstStyle/>
          <a:p>
            <a:pPr marL="0" indent="0">
              <a:buNone/>
            </a:pPr>
            <a:r>
              <a:rPr lang="en-US" sz="1600" b="1" dirty="0">
                <a:solidFill>
                  <a:srgbClr val="0F3D4C"/>
                </a:solidFill>
                <a:latin typeface="Georgia" pitchFamily="34" charset="0"/>
                <a:ea typeface="Georgia" pitchFamily="34" charset="-122"/>
                <a:cs typeface="Georgia" pitchFamily="34" charset="-120"/>
              </a:rPr>
              <a:t>Parental Influence</a:t>
            </a:r>
            <a:endParaRPr lang="en-US" sz="1600" dirty="0"/>
          </a:p>
        </p:txBody>
      </p:sp>
      <p:sp>
        <p:nvSpPr>
          <p:cNvPr id="23" name="Text 21"/>
          <p:cNvSpPr/>
          <p:nvPr/>
        </p:nvSpPr>
        <p:spPr>
          <a:xfrm>
            <a:off x="6400800" y="4663440"/>
            <a:ext cx="5120640" cy="457200"/>
          </a:xfrm>
          <a:prstGeom prst="rect">
            <a:avLst/>
          </a:prstGeom>
          <a:noFill/>
          <a:ln/>
        </p:spPr>
        <p:txBody>
          <a:bodyPr wrap="square" lIns="0" tIns="0" rIns="0" bIns="0" rtlCol="0" anchor="ctr"/>
          <a:lstStyle/>
          <a:p>
            <a:pPr marL="0" indent="0">
              <a:buNone/>
            </a:pPr>
            <a:r>
              <a:rPr lang="en-US" sz="1200" dirty="0">
                <a:solidFill>
                  <a:srgbClr val="1E1E1E"/>
                </a:solidFill>
                <a:latin typeface="Calibri" pitchFamily="34" charset="0"/>
                <a:ea typeface="Calibri" pitchFamily="34" charset="-122"/>
                <a:cs typeface="Calibri" pitchFamily="34" charset="-120"/>
              </a:rPr>
              <a:t>Younger respondents often noted decisions were made by parents</a:t>
            </a:r>
            <a:endParaRPr lang="en-US" sz="1200" dirty="0"/>
          </a:p>
        </p:txBody>
      </p:sp>
      <p:sp>
        <p:nvSpPr>
          <p:cNvPr id="24" name="Text 22"/>
          <p:cNvSpPr/>
          <p:nvPr/>
        </p:nvSpPr>
        <p:spPr>
          <a:xfrm>
            <a:off x="6400800" y="5212080"/>
            <a:ext cx="5120640" cy="594360"/>
          </a:xfrm>
          <a:prstGeom prst="rect">
            <a:avLst/>
          </a:prstGeom>
          <a:noFill/>
          <a:ln/>
        </p:spPr>
        <p:txBody>
          <a:bodyPr wrap="square" lIns="0" tIns="0" rIns="0" bIns="0" rtlCol="0" anchor="ctr"/>
          <a:lstStyle/>
          <a:p>
            <a:pPr marL="0" indent="0">
              <a:buNone/>
            </a:pPr>
            <a:r>
              <a:rPr lang="en-US" sz="1200" i="1" dirty="0">
                <a:solidFill>
                  <a:srgbClr val="0E8388"/>
                </a:solidFill>
                <a:latin typeface="Georgia" pitchFamily="34" charset="0"/>
                <a:ea typeface="Georgia" pitchFamily="34" charset="-122"/>
                <a:cs typeface="Georgia" pitchFamily="34" charset="-120"/>
              </a:rPr>
              <a:t>"My parents didn't want me to get it."</a:t>
            </a:r>
            <a:endParaRPr lang="en-US" sz="1200" dirty="0"/>
          </a:p>
        </p:txBody>
      </p:sp>
      <p:sp>
        <p:nvSpPr>
          <p:cNvPr id="25" name="Text 23"/>
          <p:cNvSpPr/>
          <p:nvPr/>
        </p:nvSpPr>
        <p:spPr>
          <a:xfrm>
            <a:off x="457200" y="6446520"/>
            <a:ext cx="8229600" cy="274320"/>
          </a:xfrm>
          <a:prstGeom prst="rect">
            <a:avLst/>
          </a:prstGeom>
          <a:noFill/>
          <a:ln/>
        </p:spPr>
        <p:txBody>
          <a:bodyPr wrap="square" lIns="0" tIns="0" rIns="0" bIns="0" rtlCol="0" anchor="ctr"/>
          <a:lstStyle/>
          <a:p>
            <a:pPr marL="0" indent="0" algn="l">
              <a:buNone/>
            </a:pPr>
            <a:r>
              <a:rPr lang="en-US" sz="900" dirty="0">
                <a:solidFill>
                  <a:srgbClr val="5A6B72"/>
                </a:solidFill>
                <a:latin typeface="Calibri" pitchFamily="34" charset="0"/>
                <a:ea typeface="Calibri" pitchFamily="34" charset="-122"/>
                <a:cs typeface="Calibri" pitchFamily="34" charset="-120"/>
              </a:rPr>
              <a:t>Julia Monson  |  BAIS 4720  |  COVID-19 Vaccination &amp; Mortality</a:t>
            </a:r>
            <a:endParaRPr lang="en-US" sz="900" dirty="0"/>
          </a:p>
        </p:txBody>
      </p:sp>
      <p:sp>
        <p:nvSpPr>
          <p:cNvPr id="26" name="Text 24"/>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5A6B72"/>
                </a:solidFill>
                <a:latin typeface="Calibri" pitchFamily="34" charset="0"/>
                <a:ea typeface="Calibri" pitchFamily="34" charset="-122"/>
                <a:cs typeface="Calibri" pitchFamily="34" charset="-120"/>
              </a:rPr>
              <a:t>15 / 17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marL="0" indent="0">
              <a:buNone/>
            </a:pPr>
            <a:r>
              <a:rPr lang="en-US" sz="1100" b="1" kern="0" spc="400" dirty="0">
                <a:solidFill>
                  <a:srgbClr val="0E8388"/>
                </a:solidFill>
                <a:latin typeface="Calibri" pitchFamily="34" charset="0"/>
                <a:ea typeface="Calibri" pitchFamily="34" charset="-122"/>
                <a:cs typeface="Calibri" pitchFamily="34" charset="-120"/>
              </a:rPr>
              <a:t>REFLECTION</a:t>
            </a:r>
            <a:endParaRPr lang="en-US" sz="1100" dirty="0"/>
          </a:p>
        </p:txBody>
      </p:sp>
      <p:sp>
        <p:nvSpPr>
          <p:cNvPr id="3" name="Text 1"/>
          <p:cNvSpPr/>
          <p:nvPr/>
        </p:nvSpPr>
        <p:spPr>
          <a:xfrm>
            <a:off x="548640" y="685800"/>
            <a:ext cx="10972800" cy="640080"/>
          </a:xfrm>
          <a:prstGeom prst="rect">
            <a:avLst/>
          </a:prstGeom>
          <a:noFill/>
          <a:ln/>
        </p:spPr>
        <p:txBody>
          <a:bodyPr wrap="square" lIns="0" tIns="0" rIns="0" bIns="0" rtlCol="0" anchor="ctr"/>
          <a:lstStyle/>
          <a:p>
            <a:pPr marL="0" indent="0">
              <a:buNone/>
            </a:pPr>
            <a:r>
              <a:rPr lang="en-US" sz="3200" b="1" dirty="0">
                <a:solidFill>
                  <a:srgbClr val="0F3D4C"/>
                </a:solidFill>
                <a:latin typeface="Georgia" pitchFamily="34" charset="0"/>
                <a:ea typeface="Georgia" pitchFamily="34" charset="-122"/>
                <a:cs typeface="Georgia" pitchFamily="34" charset="-120"/>
              </a:rPr>
              <a:t>Limitations &amp; Lessons Learned</a:t>
            </a:r>
            <a:endParaRPr lang="en-US" sz="3200" dirty="0"/>
          </a:p>
        </p:txBody>
      </p:sp>
      <p:sp>
        <p:nvSpPr>
          <p:cNvPr id="4" name="Shape 2"/>
          <p:cNvSpPr/>
          <p:nvPr/>
        </p:nvSpPr>
        <p:spPr>
          <a:xfrm>
            <a:off x="621792" y="1828800"/>
            <a:ext cx="5486400" cy="4206240"/>
          </a:xfrm>
          <a:prstGeom prst="rect">
            <a:avLst/>
          </a:prstGeom>
          <a:solidFill>
            <a:srgbClr val="FFFFFF"/>
          </a:solidFill>
          <a:ln w="12700">
            <a:solidFill>
              <a:srgbClr val="E5E0D5"/>
            </a:solidFill>
            <a:prstDash val="solid"/>
          </a:ln>
          <a:effectLst>
            <a:outerShdw blurRad="101600" dist="25400" dir="5400000" algn="bl" rotWithShape="0">
              <a:srgbClr val="000000">
                <a:alpha val="6000"/>
              </a:srgbClr>
            </a:outerShdw>
          </a:effectLst>
        </p:spPr>
        <p:txBody>
          <a:bodyPr/>
          <a:lstStyle/>
          <a:p>
            <a:endParaRPr lang="en-US"/>
          </a:p>
        </p:txBody>
      </p:sp>
      <p:sp>
        <p:nvSpPr>
          <p:cNvPr id="5" name="Shape 3"/>
          <p:cNvSpPr/>
          <p:nvPr/>
        </p:nvSpPr>
        <p:spPr>
          <a:xfrm>
            <a:off x="548640" y="1828800"/>
            <a:ext cx="73152" cy="4206240"/>
          </a:xfrm>
          <a:prstGeom prst="rect">
            <a:avLst/>
          </a:prstGeom>
          <a:solidFill>
            <a:srgbClr val="E07A5F"/>
          </a:solidFill>
          <a:ln w="12700">
            <a:solidFill>
              <a:srgbClr val="E07A5F"/>
            </a:solidFill>
            <a:prstDash val="solid"/>
          </a:ln>
        </p:spPr>
        <p:txBody>
          <a:bodyPr/>
          <a:lstStyle/>
          <a:p>
            <a:endParaRPr lang="en-US"/>
          </a:p>
        </p:txBody>
      </p:sp>
      <p:sp>
        <p:nvSpPr>
          <p:cNvPr id="6" name="Text 4"/>
          <p:cNvSpPr/>
          <p:nvPr/>
        </p:nvSpPr>
        <p:spPr>
          <a:xfrm>
            <a:off x="777240" y="1965960"/>
            <a:ext cx="5120640" cy="274320"/>
          </a:xfrm>
          <a:prstGeom prst="rect">
            <a:avLst/>
          </a:prstGeom>
          <a:noFill/>
          <a:ln/>
        </p:spPr>
        <p:txBody>
          <a:bodyPr wrap="square" lIns="0" tIns="0" rIns="0" bIns="0" rtlCol="0" anchor="ctr"/>
          <a:lstStyle/>
          <a:p>
            <a:pPr marL="0" indent="0">
              <a:buNone/>
            </a:pPr>
            <a:r>
              <a:rPr lang="en-US" sz="1100" b="1" kern="0" spc="400" dirty="0">
                <a:solidFill>
                  <a:srgbClr val="E07A5F"/>
                </a:solidFill>
                <a:latin typeface="Calibri" pitchFamily="34" charset="0"/>
                <a:ea typeface="Calibri" pitchFamily="34" charset="-122"/>
                <a:cs typeface="Calibri" pitchFamily="34" charset="-120"/>
              </a:rPr>
              <a:t>LIMITATIONS</a:t>
            </a:r>
            <a:endParaRPr lang="en-US" sz="1100" dirty="0"/>
          </a:p>
        </p:txBody>
      </p:sp>
      <p:sp>
        <p:nvSpPr>
          <p:cNvPr id="7" name="Text 5"/>
          <p:cNvSpPr/>
          <p:nvPr/>
        </p:nvSpPr>
        <p:spPr>
          <a:xfrm>
            <a:off x="777240" y="2286000"/>
            <a:ext cx="5120640" cy="3657600"/>
          </a:xfrm>
          <a:prstGeom prst="rect">
            <a:avLst/>
          </a:prstGeom>
          <a:noFill/>
          <a:ln/>
        </p:spPr>
        <p:txBody>
          <a:bodyPr wrap="square" rtlCol="0" anchor="t"/>
          <a:lstStyle/>
          <a:p>
            <a:pPr marL="0" indent="0">
              <a:buNone/>
            </a:pPr>
            <a:r>
              <a:rPr lang="en-US" sz="1100" dirty="0">
                <a:latin typeface="Georgia" panose="02040502050405020303" pitchFamily="18" charset="0"/>
                <a:ea typeface="Calibri" pitchFamily="34" charset="-122"/>
                <a:cs typeface="Calibri" pitchFamily="34" charset="-120"/>
              </a:rPr>
              <a:t>-Death counts undercount in lower-income countries</a:t>
            </a:r>
            <a:endParaRPr lang="en-US" sz="1300" dirty="0">
              <a:latin typeface="Georgia" panose="02040502050405020303" pitchFamily="18" charset="0"/>
            </a:endParaRPr>
          </a:p>
          <a:p>
            <a:pPr marL="0" indent="0">
              <a:buNone/>
            </a:pPr>
            <a:r>
              <a:rPr lang="en-US" sz="1300" dirty="0">
                <a:latin typeface="Georgia" panose="02040502050405020303" pitchFamily="18" charset="0"/>
                <a:ea typeface="Calibri" pitchFamily="34" charset="-122"/>
                <a:cs typeface="Calibri" pitchFamily="34" charset="-120"/>
              </a:rPr>
              <a:t> </a:t>
            </a:r>
            <a:endParaRPr lang="en-US" sz="1300" dirty="0">
              <a:latin typeface="Georgia" panose="02040502050405020303" pitchFamily="18" charset="0"/>
            </a:endParaRPr>
          </a:p>
          <a:p>
            <a:pPr marL="0" indent="0">
              <a:buNone/>
            </a:pPr>
            <a:r>
              <a:rPr lang="en-US" sz="1100" dirty="0">
                <a:latin typeface="Georgia" panose="02040502050405020303" pitchFamily="18" charset="0"/>
                <a:ea typeface="Calibri" pitchFamily="34" charset="-122"/>
                <a:cs typeface="Calibri" pitchFamily="34" charset="-120"/>
              </a:rPr>
              <a:t>-Skewed to 18–24 EIU students; limited to a wide representation</a:t>
            </a:r>
            <a:endParaRPr lang="en-US" sz="1300" dirty="0">
              <a:latin typeface="Georgia" panose="02040502050405020303" pitchFamily="18" charset="0"/>
            </a:endParaRPr>
          </a:p>
          <a:p>
            <a:pPr marL="0" indent="0">
              <a:buNone/>
            </a:pPr>
            <a:r>
              <a:rPr lang="en-US" sz="1300" dirty="0">
                <a:latin typeface="Georgia" panose="02040502050405020303" pitchFamily="18" charset="0"/>
                <a:ea typeface="Calibri" pitchFamily="34" charset="-122"/>
                <a:cs typeface="Calibri" pitchFamily="34" charset="-120"/>
              </a:rPr>
              <a:t>  </a:t>
            </a:r>
            <a:endParaRPr lang="en-US" sz="1300" dirty="0">
              <a:latin typeface="Georgia" panose="02040502050405020303" pitchFamily="18" charset="0"/>
            </a:endParaRPr>
          </a:p>
          <a:p>
            <a:pPr marL="0" indent="0">
              <a:buNone/>
            </a:pPr>
            <a:r>
              <a:rPr lang="en-US" sz="1100" dirty="0">
                <a:latin typeface="Georgia" panose="02040502050405020303" pitchFamily="18" charset="0"/>
                <a:ea typeface="Calibri" pitchFamily="34" charset="-122"/>
                <a:cs typeface="Calibri" pitchFamily="34" charset="-120"/>
              </a:rPr>
              <a:t>-The effectiveness of the vaccine goes down over time…Feikin et al. 2022 …protection drops 20–30% in 6 months</a:t>
            </a:r>
            <a:endParaRPr lang="en-US" sz="1300" dirty="0">
              <a:latin typeface="Georgia" panose="02040502050405020303" pitchFamily="18" charset="0"/>
            </a:endParaRPr>
          </a:p>
        </p:txBody>
      </p:sp>
      <p:sp>
        <p:nvSpPr>
          <p:cNvPr id="8" name="Shape 6"/>
          <p:cNvSpPr/>
          <p:nvPr/>
        </p:nvSpPr>
        <p:spPr>
          <a:xfrm>
            <a:off x="6355080" y="1828800"/>
            <a:ext cx="5257800" cy="4206240"/>
          </a:xfrm>
          <a:prstGeom prst="rect">
            <a:avLst/>
          </a:prstGeom>
          <a:solidFill>
            <a:srgbClr val="FFFFFF"/>
          </a:solidFill>
          <a:ln w="12700">
            <a:solidFill>
              <a:srgbClr val="E5E0D5"/>
            </a:solidFill>
            <a:prstDash val="solid"/>
          </a:ln>
          <a:effectLst>
            <a:outerShdw blurRad="101600" dist="25400" dir="5400000" algn="bl" rotWithShape="0">
              <a:srgbClr val="000000">
                <a:alpha val="6000"/>
              </a:srgbClr>
            </a:outerShdw>
          </a:effectLst>
        </p:spPr>
        <p:txBody>
          <a:bodyPr/>
          <a:lstStyle/>
          <a:p>
            <a:endParaRPr lang="en-US"/>
          </a:p>
        </p:txBody>
      </p:sp>
      <p:sp>
        <p:nvSpPr>
          <p:cNvPr id="9" name="Shape 7"/>
          <p:cNvSpPr/>
          <p:nvPr/>
        </p:nvSpPr>
        <p:spPr>
          <a:xfrm>
            <a:off x="6355080" y="1828800"/>
            <a:ext cx="73152" cy="4206240"/>
          </a:xfrm>
          <a:prstGeom prst="rect">
            <a:avLst/>
          </a:prstGeom>
          <a:solidFill>
            <a:srgbClr val="0E8388"/>
          </a:solidFill>
          <a:ln w="12700">
            <a:solidFill>
              <a:srgbClr val="0E8388"/>
            </a:solidFill>
            <a:prstDash val="solid"/>
          </a:ln>
        </p:spPr>
        <p:txBody>
          <a:bodyPr/>
          <a:lstStyle/>
          <a:p>
            <a:endParaRPr lang="en-US"/>
          </a:p>
        </p:txBody>
      </p:sp>
      <p:sp>
        <p:nvSpPr>
          <p:cNvPr id="10" name="Text 8"/>
          <p:cNvSpPr/>
          <p:nvPr/>
        </p:nvSpPr>
        <p:spPr>
          <a:xfrm>
            <a:off x="6583680" y="1965960"/>
            <a:ext cx="4937760" cy="274320"/>
          </a:xfrm>
          <a:prstGeom prst="rect">
            <a:avLst/>
          </a:prstGeom>
          <a:noFill/>
          <a:ln/>
        </p:spPr>
        <p:txBody>
          <a:bodyPr wrap="square" lIns="0" tIns="0" rIns="0" bIns="0" rtlCol="0" anchor="ctr"/>
          <a:lstStyle/>
          <a:p>
            <a:pPr marL="0" indent="0">
              <a:buNone/>
            </a:pPr>
            <a:r>
              <a:rPr lang="en-US" sz="1100" b="1" kern="0" spc="400" dirty="0">
                <a:solidFill>
                  <a:srgbClr val="0E8388"/>
                </a:solidFill>
                <a:latin typeface="Calibri" pitchFamily="34" charset="0"/>
                <a:ea typeface="Calibri" pitchFamily="34" charset="-122"/>
                <a:cs typeface="Calibri" pitchFamily="34" charset="-120"/>
              </a:rPr>
              <a:t>WHAT I LEARNED</a:t>
            </a:r>
            <a:endParaRPr lang="en-US" sz="1100" dirty="0"/>
          </a:p>
        </p:txBody>
      </p:sp>
      <p:sp>
        <p:nvSpPr>
          <p:cNvPr id="11" name="Text 9"/>
          <p:cNvSpPr/>
          <p:nvPr/>
        </p:nvSpPr>
        <p:spPr>
          <a:xfrm>
            <a:off x="6583680" y="2286000"/>
            <a:ext cx="4937760" cy="3657600"/>
          </a:xfrm>
          <a:prstGeom prst="rect">
            <a:avLst/>
          </a:prstGeom>
          <a:noFill/>
          <a:ln/>
        </p:spPr>
        <p:txBody>
          <a:bodyPr wrap="square" rtlCol="0" anchor="t"/>
          <a:lstStyle/>
          <a:p>
            <a:r>
              <a:rPr lang="en-US" sz="1400" i="1" dirty="0"/>
              <a:t>-The data was way messier than I thought, continent rows almost double-counted everything</a:t>
            </a:r>
            <a:endParaRPr lang="en-US" sz="1400" dirty="0"/>
          </a:p>
          <a:p>
            <a:r>
              <a:rPr lang="en-US" sz="1400" i="1" dirty="0"/>
              <a:t>-Survey design took forever, way longer than the SQL did</a:t>
            </a:r>
          </a:p>
          <a:p>
            <a:r>
              <a:rPr lang="en-US" sz="1400" dirty="0"/>
              <a:t> -</a:t>
            </a:r>
            <a:r>
              <a:rPr lang="en-US" sz="1400" i="1" dirty="0"/>
              <a:t>Tableau actually caught two things my SQL didn’t</a:t>
            </a:r>
            <a:endParaRPr lang="en-US" sz="1400" dirty="0"/>
          </a:p>
          <a:p>
            <a:r>
              <a:rPr lang="en-US" sz="1400" i="1" dirty="0"/>
              <a:t>- had to dial back the conclusion I wanted to say vaccines worked, but the data only really lets me say it correlates</a:t>
            </a:r>
            <a:endParaRPr lang="en-US" sz="1300" dirty="0"/>
          </a:p>
        </p:txBody>
      </p:sp>
      <p:sp>
        <p:nvSpPr>
          <p:cNvPr id="12" name="Text 10"/>
          <p:cNvSpPr/>
          <p:nvPr/>
        </p:nvSpPr>
        <p:spPr>
          <a:xfrm>
            <a:off x="457200" y="6446520"/>
            <a:ext cx="8229600" cy="274320"/>
          </a:xfrm>
          <a:prstGeom prst="rect">
            <a:avLst/>
          </a:prstGeom>
          <a:noFill/>
          <a:ln/>
        </p:spPr>
        <p:txBody>
          <a:bodyPr wrap="square" lIns="0" tIns="0" rIns="0" bIns="0" rtlCol="0" anchor="ctr"/>
          <a:lstStyle/>
          <a:p>
            <a:pPr marL="0" indent="0" algn="l">
              <a:buNone/>
            </a:pPr>
            <a:r>
              <a:rPr lang="en-US" sz="900" dirty="0">
                <a:solidFill>
                  <a:srgbClr val="5A6B72"/>
                </a:solidFill>
                <a:latin typeface="Calibri" pitchFamily="34" charset="0"/>
                <a:ea typeface="Calibri" pitchFamily="34" charset="-122"/>
                <a:cs typeface="Calibri" pitchFamily="34" charset="-120"/>
              </a:rPr>
              <a:t>Julia Monson  |  BAIS 4720  |  COVID-19 Vaccination &amp; Mortality</a:t>
            </a:r>
            <a:endParaRPr lang="en-US" sz="900" dirty="0"/>
          </a:p>
        </p:txBody>
      </p:sp>
      <p:sp>
        <p:nvSpPr>
          <p:cNvPr id="13" name="Text 11"/>
          <p:cNvSpPr/>
          <p:nvPr/>
        </p:nvSpPr>
        <p:spPr>
          <a:xfrm>
            <a:off x="10972800" y="6446520"/>
            <a:ext cx="731520" cy="274320"/>
          </a:xfrm>
          <a:prstGeom prst="rect">
            <a:avLst/>
          </a:prstGeom>
          <a:noFill/>
          <a:ln/>
        </p:spPr>
        <p:txBody>
          <a:bodyPr wrap="square" lIns="0" tIns="0" rIns="0" bIns="0" rtlCol="0" anchor="ctr"/>
          <a:lstStyle/>
          <a:p>
            <a:pPr marL="0" indent="0" algn="r">
              <a:buNone/>
            </a:pPr>
            <a:r>
              <a:rPr lang="en-US" sz="900" dirty="0">
                <a:solidFill>
                  <a:srgbClr val="5A6B72"/>
                </a:solidFill>
                <a:latin typeface="Calibri" pitchFamily="34" charset="0"/>
                <a:ea typeface="Calibri" pitchFamily="34" charset="-122"/>
                <a:cs typeface="Calibri" pitchFamily="34" charset="-120"/>
              </a:rPr>
              <a:t>16 / 17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3D4C"/>
        </a:solidFill>
        <a:effectLst/>
      </p:bgPr>
    </p:bg>
    <p:spTree>
      <p:nvGrpSpPr>
        <p:cNvPr id="1" name=""/>
        <p:cNvGrpSpPr/>
        <p:nvPr/>
      </p:nvGrpSpPr>
      <p:grpSpPr>
        <a:xfrm>
          <a:off x="0" y="0"/>
          <a:ext cx="0" cy="0"/>
          <a:chOff x="0" y="0"/>
          <a:chExt cx="0" cy="0"/>
        </a:xfrm>
      </p:grpSpPr>
      <p:sp>
        <p:nvSpPr>
          <p:cNvPr id="2" name="Text 0"/>
          <p:cNvSpPr/>
          <p:nvPr/>
        </p:nvSpPr>
        <p:spPr>
          <a:xfrm>
            <a:off x="548640" y="548640"/>
            <a:ext cx="10972800" cy="365760"/>
          </a:xfrm>
          <a:prstGeom prst="rect">
            <a:avLst/>
          </a:prstGeom>
          <a:noFill/>
          <a:ln/>
        </p:spPr>
        <p:txBody>
          <a:bodyPr wrap="square" lIns="0" tIns="0" rIns="0" bIns="0" rtlCol="0" anchor="ctr"/>
          <a:lstStyle/>
          <a:p>
            <a:pPr marL="0" indent="0">
              <a:buNone/>
            </a:pPr>
            <a:r>
              <a:rPr lang="en-US" sz="1300" b="1" kern="0" spc="600" dirty="0">
                <a:solidFill>
                  <a:srgbClr val="2E8B7B"/>
                </a:solidFill>
                <a:latin typeface="Calibri" pitchFamily="34" charset="0"/>
                <a:ea typeface="Calibri" pitchFamily="34" charset="-122"/>
                <a:cs typeface="Calibri" pitchFamily="34" charset="-120"/>
              </a:rPr>
              <a:t>CONCLUSION</a:t>
            </a:r>
            <a:endParaRPr lang="en-US" sz="1300" dirty="0"/>
          </a:p>
        </p:txBody>
      </p:sp>
      <p:sp>
        <p:nvSpPr>
          <p:cNvPr id="3" name="Text 1"/>
          <p:cNvSpPr/>
          <p:nvPr/>
        </p:nvSpPr>
        <p:spPr>
          <a:xfrm>
            <a:off x="548640" y="914400"/>
            <a:ext cx="10972800" cy="640080"/>
          </a:xfrm>
          <a:prstGeom prst="rect">
            <a:avLst/>
          </a:prstGeom>
          <a:noFill/>
          <a:ln/>
        </p:spPr>
        <p:txBody>
          <a:bodyPr wrap="square" lIns="0" tIns="0" rIns="0" bIns="0" rtlCol="0" anchor="ctr"/>
          <a:lstStyle/>
          <a:p>
            <a:pPr marL="0" indent="0">
              <a:buNone/>
            </a:pPr>
            <a:r>
              <a:rPr lang="en-US" sz="2800" dirty="0">
                <a:solidFill>
                  <a:srgbClr val="FFFFFF"/>
                </a:solidFill>
                <a:latin typeface="Georgia" pitchFamily="34" charset="0"/>
                <a:ea typeface="Georgia" pitchFamily="34" charset="-122"/>
                <a:cs typeface="Georgia" pitchFamily="34" charset="-120"/>
              </a:rPr>
              <a:t>The COVID-19 vaccine appears to have had</a:t>
            </a:r>
            <a:endParaRPr lang="en-US" sz="2800" dirty="0"/>
          </a:p>
        </p:txBody>
      </p:sp>
      <p:sp>
        <p:nvSpPr>
          <p:cNvPr id="4" name="Text 2"/>
          <p:cNvSpPr/>
          <p:nvPr/>
        </p:nvSpPr>
        <p:spPr>
          <a:xfrm>
            <a:off x="548640" y="1508760"/>
            <a:ext cx="10972800" cy="640080"/>
          </a:xfrm>
          <a:prstGeom prst="rect">
            <a:avLst/>
          </a:prstGeom>
          <a:noFill/>
          <a:ln/>
        </p:spPr>
        <p:txBody>
          <a:bodyPr wrap="square" lIns="0" tIns="0" rIns="0" bIns="0" rtlCol="0" anchor="ctr"/>
          <a:lstStyle/>
          <a:p>
            <a:pPr marL="0" indent="0">
              <a:buNone/>
            </a:pPr>
            <a:r>
              <a:rPr lang="en-US" sz="2800" dirty="0">
                <a:solidFill>
                  <a:srgbClr val="FFFFFF"/>
                </a:solidFill>
                <a:latin typeface="Georgia" pitchFamily="34" charset="0"/>
                <a:ea typeface="Georgia" pitchFamily="34" charset="-122"/>
                <a:cs typeface="Georgia" pitchFamily="34" charset="-120"/>
              </a:rPr>
              <a:t>a positive impact on global mortality.</a:t>
            </a:r>
            <a:endParaRPr lang="en-US" sz="2800" dirty="0"/>
          </a:p>
        </p:txBody>
      </p:sp>
      <p:sp>
        <p:nvSpPr>
          <p:cNvPr id="5" name="Shape 3"/>
          <p:cNvSpPr/>
          <p:nvPr/>
        </p:nvSpPr>
        <p:spPr>
          <a:xfrm>
            <a:off x="548640" y="2468880"/>
            <a:ext cx="3657600" cy="2743200"/>
          </a:xfrm>
          <a:prstGeom prst="rect">
            <a:avLst/>
          </a:prstGeom>
          <a:solidFill>
            <a:srgbClr val="F4F1EA"/>
          </a:solidFill>
          <a:ln w="12700">
            <a:solidFill>
              <a:srgbClr val="F4F1EA"/>
            </a:solidFill>
            <a:prstDash val="solid"/>
          </a:ln>
        </p:spPr>
        <p:txBody>
          <a:bodyPr/>
          <a:lstStyle/>
          <a:p>
            <a:endParaRPr lang="en-US"/>
          </a:p>
        </p:txBody>
      </p:sp>
      <p:sp>
        <p:nvSpPr>
          <p:cNvPr id="6" name="Shape 4"/>
          <p:cNvSpPr/>
          <p:nvPr/>
        </p:nvSpPr>
        <p:spPr>
          <a:xfrm>
            <a:off x="1920240" y="2697480"/>
            <a:ext cx="914400" cy="914400"/>
          </a:xfrm>
          <a:prstGeom prst="ellipse">
            <a:avLst/>
          </a:prstGeom>
          <a:solidFill>
            <a:srgbClr val="0E8388"/>
          </a:solidFill>
          <a:ln w="12700">
            <a:solidFill>
              <a:srgbClr val="0E8388"/>
            </a:solidFill>
            <a:prstDash val="solid"/>
          </a:ln>
        </p:spPr>
        <p:txBody>
          <a:bodyPr/>
          <a:lstStyle/>
          <a:p>
            <a:endParaRPr lang="en-US"/>
          </a:p>
        </p:txBody>
      </p:sp>
      <p:sp>
        <p:nvSpPr>
          <p:cNvPr id="7" name="Text 5"/>
          <p:cNvSpPr/>
          <p:nvPr/>
        </p:nvSpPr>
        <p:spPr>
          <a:xfrm>
            <a:off x="1920240" y="2697480"/>
            <a:ext cx="914400" cy="914400"/>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Q1</a:t>
            </a:r>
            <a:endParaRPr lang="en-US" sz="2000" dirty="0"/>
          </a:p>
        </p:txBody>
      </p:sp>
      <p:sp>
        <p:nvSpPr>
          <p:cNvPr id="8" name="Text 6"/>
          <p:cNvSpPr/>
          <p:nvPr/>
        </p:nvSpPr>
        <p:spPr>
          <a:xfrm>
            <a:off x="731520" y="3703320"/>
            <a:ext cx="3291840" cy="365760"/>
          </a:xfrm>
          <a:prstGeom prst="rect">
            <a:avLst/>
          </a:prstGeom>
          <a:noFill/>
          <a:ln/>
        </p:spPr>
        <p:txBody>
          <a:bodyPr wrap="square" lIns="0" tIns="0" rIns="0" bIns="0" rtlCol="0" anchor="ctr"/>
          <a:lstStyle/>
          <a:p>
            <a:pPr marL="0" indent="0" algn="ctr">
              <a:buNone/>
            </a:pPr>
            <a:r>
              <a:rPr lang="en-US" sz="1600" b="1" dirty="0">
                <a:solidFill>
                  <a:srgbClr val="0F3D4C"/>
                </a:solidFill>
                <a:latin typeface="Georgia" pitchFamily="34" charset="0"/>
              </a:rPr>
              <a:t>Death rates</a:t>
            </a:r>
            <a:endParaRPr lang="en-US" sz="1600" dirty="0"/>
          </a:p>
        </p:txBody>
      </p:sp>
      <p:sp>
        <p:nvSpPr>
          <p:cNvPr id="9" name="Text 7"/>
          <p:cNvSpPr/>
          <p:nvPr/>
        </p:nvSpPr>
        <p:spPr>
          <a:xfrm>
            <a:off x="777240" y="4297680"/>
            <a:ext cx="3200400" cy="868680"/>
          </a:xfrm>
          <a:prstGeom prst="rect">
            <a:avLst/>
          </a:prstGeom>
          <a:noFill/>
          <a:ln/>
        </p:spPr>
        <p:txBody>
          <a:bodyPr wrap="square" lIns="0" tIns="0" rIns="0" bIns="0" rtlCol="0" anchor="t"/>
          <a:lstStyle/>
          <a:p>
            <a:pPr marL="0" indent="0" algn="ctr">
              <a:buNone/>
            </a:pPr>
            <a:r>
              <a:rPr lang="en-US" sz="1100" dirty="0">
                <a:solidFill>
                  <a:srgbClr val="1E1E1E"/>
                </a:solidFill>
                <a:latin typeface="Calibri" pitchFamily="34" charset="0"/>
                <a:ea typeface="Calibri" pitchFamily="34" charset="-122"/>
                <a:cs typeface="Calibri" pitchFamily="34" charset="-120"/>
              </a:rPr>
              <a:t>Case fatality rates dropped across all 5 focus countries after vaccine rollout, consistent with the global modeling literature (Watson et al., 2022).</a:t>
            </a:r>
            <a:endParaRPr lang="en-US" sz="1100" dirty="0"/>
          </a:p>
        </p:txBody>
      </p:sp>
      <p:sp>
        <p:nvSpPr>
          <p:cNvPr id="10" name="Shape 8"/>
          <p:cNvSpPr/>
          <p:nvPr/>
        </p:nvSpPr>
        <p:spPr>
          <a:xfrm>
            <a:off x="4343400" y="2468880"/>
            <a:ext cx="3657600" cy="2743200"/>
          </a:xfrm>
          <a:prstGeom prst="rect">
            <a:avLst/>
          </a:prstGeom>
          <a:solidFill>
            <a:srgbClr val="F4F1EA"/>
          </a:solidFill>
          <a:ln w="12700">
            <a:solidFill>
              <a:srgbClr val="F4F1EA"/>
            </a:solidFill>
            <a:prstDash val="solid"/>
          </a:ln>
        </p:spPr>
        <p:txBody>
          <a:bodyPr/>
          <a:lstStyle/>
          <a:p>
            <a:endParaRPr lang="en-US"/>
          </a:p>
        </p:txBody>
      </p:sp>
      <p:sp>
        <p:nvSpPr>
          <p:cNvPr id="11" name="Shape 9"/>
          <p:cNvSpPr/>
          <p:nvPr/>
        </p:nvSpPr>
        <p:spPr>
          <a:xfrm>
            <a:off x="5715000" y="2697480"/>
            <a:ext cx="914400" cy="914400"/>
          </a:xfrm>
          <a:prstGeom prst="ellipse">
            <a:avLst/>
          </a:prstGeom>
          <a:solidFill>
            <a:srgbClr val="0E8388"/>
          </a:solidFill>
          <a:ln w="12700">
            <a:solidFill>
              <a:srgbClr val="0E8388"/>
            </a:solidFill>
            <a:prstDash val="solid"/>
          </a:ln>
        </p:spPr>
        <p:txBody>
          <a:bodyPr/>
          <a:lstStyle/>
          <a:p>
            <a:endParaRPr lang="en-US"/>
          </a:p>
        </p:txBody>
      </p:sp>
      <p:sp>
        <p:nvSpPr>
          <p:cNvPr id="12" name="Text 10"/>
          <p:cNvSpPr/>
          <p:nvPr/>
        </p:nvSpPr>
        <p:spPr>
          <a:xfrm>
            <a:off x="5715000" y="2697480"/>
            <a:ext cx="914400" cy="914400"/>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Q2</a:t>
            </a:r>
            <a:endParaRPr lang="en-US" sz="2000" dirty="0"/>
          </a:p>
        </p:txBody>
      </p:sp>
      <p:sp>
        <p:nvSpPr>
          <p:cNvPr id="13" name="Text 11"/>
          <p:cNvSpPr/>
          <p:nvPr/>
        </p:nvSpPr>
        <p:spPr>
          <a:xfrm>
            <a:off x="4526280" y="3703320"/>
            <a:ext cx="3291840" cy="365760"/>
          </a:xfrm>
          <a:prstGeom prst="rect">
            <a:avLst/>
          </a:prstGeom>
          <a:noFill/>
          <a:ln/>
        </p:spPr>
        <p:txBody>
          <a:bodyPr wrap="square" lIns="0" tIns="0" rIns="0" bIns="0" rtlCol="0" anchor="ctr"/>
          <a:lstStyle/>
          <a:p>
            <a:pPr marL="0" indent="0" algn="ctr">
              <a:buNone/>
            </a:pPr>
            <a:r>
              <a:rPr lang="en-US" sz="1600" b="1" dirty="0">
                <a:solidFill>
                  <a:srgbClr val="0F3D4C"/>
                </a:solidFill>
                <a:latin typeface="+mj-lt"/>
                <a:ea typeface="Georgia" pitchFamily="34" charset="-122"/>
                <a:cs typeface="Georgia" pitchFamily="34" charset="-120"/>
              </a:rPr>
              <a:t>Rollout</a:t>
            </a:r>
            <a:r>
              <a:rPr lang="en-US" sz="1600" b="1" dirty="0">
                <a:solidFill>
                  <a:srgbClr val="0F3D4C"/>
                </a:solidFill>
                <a:latin typeface="Georgia" pitchFamily="34" charset="0"/>
                <a:ea typeface="Georgia" pitchFamily="34" charset="-122"/>
                <a:cs typeface="Georgia" pitchFamily="34" charset="-120"/>
              </a:rPr>
              <a:t> time</a:t>
            </a:r>
            <a:endParaRPr lang="en-US" sz="1600" dirty="0"/>
          </a:p>
        </p:txBody>
      </p:sp>
      <p:sp>
        <p:nvSpPr>
          <p:cNvPr id="14" name="Text 12"/>
          <p:cNvSpPr/>
          <p:nvPr/>
        </p:nvSpPr>
        <p:spPr>
          <a:xfrm>
            <a:off x="4572000" y="4297680"/>
            <a:ext cx="3200400" cy="868680"/>
          </a:xfrm>
          <a:prstGeom prst="rect">
            <a:avLst/>
          </a:prstGeom>
          <a:noFill/>
          <a:ln/>
        </p:spPr>
        <p:txBody>
          <a:bodyPr wrap="square" lIns="0" tIns="0" rIns="0" bIns="0" rtlCol="0" anchor="t"/>
          <a:lstStyle/>
          <a:p>
            <a:pPr marL="0" indent="0" algn="ctr">
              <a:buNone/>
            </a:pPr>
            <a:r>
              <a:rPr lang="en-US" sz="1100" dirty="0">
                <a:solidFill>
                  <a:srgbClr val="1E1E1E"/>
                </a:solidFill>
                <a:latin typeface="Calibri" pitchFamily="34" charset="0"/>
                <a:ea typeface="Calibri" pitchFamily="34" charset="-122"/>
                <a:cs typeface="Calibri" pitchFamily="34" charset="-120"/>
              </a:rPr>
              <a:t>Rollout timing and healthcare capacity both mattered. Mexico had a slower rollout time so they had a higher case fatality rate.</a:t>
            </a:r>
            <a:endParaRPr lang="en-US" sz="1100" dirty="0"/>
          </a:p>
        </p:txBody>
      </p:sp>
      <p:sp>
        <p:nvSpPr>
          <p:cNvPr id="15" name="Shape 13"/>
          <p:cNvSpPr/>
          <p:nvPr/>
        </p:nvSpPr>
        <p:spPr>
          <a:xfrm>
            <a:off x="8138160" y="2468880"/>
            <a:ext cx="3657600" cy="2743200"/>
          </a:xfrm>
          <a:prstGeom prst="rect">
            <a:avLst/>
          </a:prstGeom>
          <a:solidFill>
            <a:srgbClr val="F4F1EA"/>
          </a:solidFill>
          <a:ln w="12700">
            <a:solidFill>
              <a:srgbClr val="F4F1EA"/>
            </a:solidFill>
            <a:prstDash val="solid"/>
          </a:ln>
        </p:spPr>
        <p:txBody>
          <a:bodyPr/>
          <a:lstStyle/>
          <a:p>
            <a:endParaRPr lang="en-US"/>
          </a:p>
        </p:txBody>
      </p:sp>
      <p:sp>
        <p:nvSpPr>
          <p:cNvPr id="16" name="Shape 14"/>
          <p:cNvSpPr/>
          <p:nvPr/>
        </p:nvSpPr>
        <p:spPr>
          <a:xfrm>
            <a:off x="9509760" y="2697480"/>
            <a:ext cx="914400" cy="914400"/>
          </a:xfrm>
          <a:prstGeom prst="ellipse">
            <a:avLst/>
          </a:prstGeom>
          <a:solidFill>
            <a:srgbClr val="0E8388"/>
          </a:solidFill>
          <a:ln w="12700">
            <a:solidFill>
              <a:srgbClr val="0E8388"/>
            </a:solidFill>
            <a:prstDash val="solid"/>
          </a:ln>
        </p:spPr>
        <p:txBody>
          <a:bodyPr/>
          <a:lstStyle/>
          <a:p>
            <a:endParaRPr lang="en-US"/>
          </a:p>
        </p:txBody>
      </p:sp>
      <p:sp>
        <p:nvSpPr>
          <p:cNvPr id="17" name="Text 15"/>
          <p:cNvSpPr/>
          <p:nvPr/>
        </p:nvSpPr>
        <p:spPr>
          <a:xfrm>
            <a:off x="9509760" y="2697480"/>
            <a:ext cx="914400" cy="914400"/>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Q3</a:t>
            </a:r>
            <a:endParaRPr lang="en-US" sz="2000" dirty="0"/>
          </a:p>
        </p:txBody>
      </p:sp>
      <p:sp>
        <p:nvSpPr>
          <p:cNvPr id="18" name="Text 16"/>
          <p:cNvSpPr/>
          <p:nvPr/>
        </p:nvSpPr>
        <p:spPr>
          <a:xfrm>
            <a:off x="8321040" y="3703320"/>
            <a:ext cx="3291840" cy="463566"/>
          </a:xfrm>
          <a:prstGeom prst="rect">
            <a:avLst/>
          </a:prstGeom>
          <a:noFill/>
          <a:ln/>
        </p:spPr>
        <p:txBody>
          <a:bodyPr wrap="square" lIns="0" tIns="0" rIns="0" bIns="0" rtlCol="0" anchor="ctr"/>
          <a:lstStyle/>
          <a:p>
            <a:pPr marL="0" indent="0" algn="ctr">
              <a:buNone/>
            </a:pPr>
            <a:r>
              <a:rPr lang="en-US" sz="1600" b="1" dirty="0">
                <a:solidFill>
                  <a:schemeClr val="tx2"/>
                </a:solidFill>
                <a:latin typeface="Georgia" panose="02040502050405020303" pitchFamily="18" charset="0"/>
              </a:rPr>
              <a:t>Why not or get the Vaccine-What influenced the trend lines??</a:t>
            </a:r>
          </a:p>
        </p:txBody>
      </p:sp>
      <p:sp>
        <p:nvSpPr>
          <p:cNvPr id="19" name="Text 17"/>
          <p:cNvSpPr/>
          <p:nvPr/>
        </p:nvSpPr>
        <p:spPr>
          <a:xfrm>
            <a:off x="8366760" y="4389120"/>
            <a:ext cx="3200400" cy="777240"/>
          </a:xfrm>
          <a:prstGeom prst="rect">
            <a:avLst/>
          </a:prstGeom>
          <a:noFill/>
          <a:ln/>
        </p:spPr>
        <p:txBody>
          <a:bodyPr wrap="square" lIns="0" tIns="0" rIns="0" bIns="0" rtlCol="0" anchor="t"/>
          <a:lstStyle/>
          <a:p>
            <a:pPr marL="0" indent="0" algn="ctr">
              <a:buNone/>
            </a:pPr>
            <a:r>
              <a:rPr lang="en-US" sz="1100" dirty="0">
                <a:solidFill>
                  <a:srgbClr val="1E1E1E"/>
                </a:solidFill>
                <a:latin typeface="Calibri" pitchFamily="34" charset="0"/>
                <a:ea typeface="Calibri" pitchFamily="34" charset="-122"/>
                <a:cs typeface="Calibri" pitchFamily="34" charset="-120"/>
              </a:rPr>
              <a:t>Survey data showed mandates, personal health, and family ties drove decisions far more than media, aligning with Han et al. (2023).</a:t>
            </a:r>
            <a:endParaRPr lang="en-US" sz="1100" dirty="0"/>
          </a:p>
        </p:txBody>
      </p:sp>
      <p:sp>
        <p:nvSpPr>
          <p:cNvPr id="20" name="Text 18"/>
          <p:cNvSpPr/>
          <p:nvPr/>
        </p:nvSpPr>
        <p:spPr>
          <a:xfrm>
            <a:off x="548640" y="5532120"/>
            <a:ext cx="10972800" cy="640080"/>
          </a:xfrm>
          <a:prstGeom prst="rect">
            <a:avLst/>
          </a:prstGeom>
          <a:noFill/>
          <a:ln/>
        </p:spPr>
        <p:txBody>
          <a:bodyPr wrap="square" lIns="0" tIns="0" rIns="0" bIns="0" rtlCol="0" anchor="ctr"/>
          <a:lstStyle/>
          <a:p>
            <a:pPr marL="0" indent="0" algn="ctr">
              <a:buNone/>
            </a:pPr>
            <a:r>
              <a:rPr lang="en-US" sz="3200" b="1" i="1" dirty="0">
                <a:solidFill>
                  <a:srgbClr val="FFFFFF"/>
                </a:solidFill>
                <a:latin typeface="Georgia" pitchFamily="34" charset="0"/>
                <a:ea typeface="Georgia" pitchFamily="34" charset="-122"/>
                <a:cs typeface="Georgia" pitchFamily="34" charset="-120"/>
              </a:rPr>
              <a:t>Questions?</a:t>
            </a:r>
            <a:endParaRPr lang="en-US" sz="3200" dirty="0"/>
          </a:p>
        </p:txBody>
      </p:sp>
      <p:sp>
        <p:nvSpPr>
          <p:cNvPr id="21" name="Text 19"/>
          <p:cNvSpPr/>
          <p:nvPr/>
        </p:nvSpPr>
        <p:spPr>
          <a:xfrm>
            <a:off x="548640" y="6263640"/>
            <a:ext cx="10972800" cy="365760"/>
          </a:xfrm>
          <a:prstGeom prst="rect">
            <a:avLst/>
          </a:prstGeom>
          <a:noFill/>
          <a:ln/>
        </p:spPr>
        <p:txBody>
          <a:bodyPr wrap="square" lIns="0" tIns="0" rIns="0" bIns="0" rtlCol="0" anchor="ctr"/>
          <a:lstStyle/>
          <a:p>
            <a:pPr marL="0" indent="0" algn="ctr">
              <a:buNone/>
            </a:pPr>
            <a:r>
              <a:rPr lang="en-US" sz="1200" dirty="0">
                <a:solidFill>
                  <a:srgbClr val="2E8B7B"/>
                </a:solidFill>
                <a:latin typeface="Calibri" pitchFamily="34" charset="0"/>
                <a:ea typeface="Calibri" pitchFamily="34" charset="-122"/>
                <a:cs typeface="Calibri" pitchFamily="34" charset="-120"/>
              </a:rPr>
              <a:t>Thank you  •  Julia Monson  •  jewlzmonson.github.io</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606</TotalTime>
  <Words>4236</Words>
  <Application>Microsoft Office PowerPoint</Application>
  <PresentationFormat>Widescreen</PresentationFormat>
  <Paragraphs>323</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COVID-19 Vaccination and Mortality</dc:title>
  <dc:subject>PptxGenJS Presentation</dc:subject>
  <dc:creator>Julia Monson</dc:creator>
  <cp:lastModifiedBy>Julia Monson</cp:lastModifiedBy>
  <cp:revision>4</cp:revision>
  <dcterms:created xsi:type="dcterms:W3CDTF">2026-05-04T20:13:31Z</dcterms:created>
  <dcterms:modified xsi:type="dcterms:W3CDTF">2026-05-06T12:51:31Z</dcterms:modified>
</cp:coreProperties>
</file>